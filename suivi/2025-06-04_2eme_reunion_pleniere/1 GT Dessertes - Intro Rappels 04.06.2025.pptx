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9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65" r:id="rId5"/>
    <p:sldMasterId id="2147483690" r:id="rId6"/>
    <p:sldMasterId id="2147483692" r:id="rId7"/>
    <p:sldMasterId id="2147483713" r:id="rId8"/>
    <p:sldMasterId id="2147483721" r:id="rId9"/>
    <p:sldMasterId id="2147483729" r:id="rId10"/>
    <p:sldMasterId id="2147483731" r:id="rId11"/>
    <p:sldMasterId id="2147483742" r:id="rId12"/>
    <p:sldMasterId id="2147483753" r:id="rId13"/>
  </p:sldMasterIdLst>
  <p:notesMasterIdLst>
    <p:notesMasterId r:id="rId35"/>
  </p:notesMasterIdLst>
  <p:handoutMasterIdLst>
    <p:handoutMasterId r:id="rId36"/>
  </p:handoutMasterIdLst>
  <p:sldIdLst>
    <p:sldId id="732" r:id="rId14"/>
    <p:sldId id="772" r:id="rId15"/>
    <p:sldId id="730" r:id="rId16"/>
    <p:sldId id="761" r:id="rId17"/>
    <p:sldId id="774" r:id="rId18"/>
    <p:sldId id="752" r:id="rId19"/>
    <p:sldId id="758" r:id="rId20"/>
    <p:sldId id="762" r:id="rId21"/>
    <p:sldId id="753" r:id="rId22"/>
    <p:sldId id="755" r:id="rId23"/>
    <p:sldId id="763" r:id="rId24"/>
    <p:sldId id="725" r:id="rId25"/>
    <p:sldId id="739" r:id="rId26"/>
    <p:sldId id="775" r:id="rId27"/>
    <p:sldId id="481" r:id="rId28"/>
    <p:sldId id="482" r:id="rId29"/>
    <p:sldId id="427" r:id="rId30"/>
    <p:sldId id="483" r:id="rId31"/>
    <p:sldId id="776" r:id="rId32"/>
    <p:sldId id="777" r:id="rId33"/>
    <p:sldId id="757" r:id="rId34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646F"/>
    <a:srgbClr val="FD8087"/>
    <a:srgbClr val="0563C1"/>
    <a:srgbClr val="3883CE"/>
    <a:srgbClr val="6AA2DA"/>
    <a:srgbClr val="C4C4FD"/>
    <a:srgbClr val="C3C3FC"/>
    <a:srgbClr val="79E9B3"/>
    <a:srgbClr val="8FACFF"/>
    <a:srgbClr val="D4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0E2D6-2477-D25A-EE8D-90E1CC6EED96}" v="2" dt="2025-06-03T07:18:34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viewProps" Target="view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64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592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505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55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403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220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fr-FR"/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E84F5-E102-4049-B206-4567741B159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688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fr-FR"/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E84F5-E102-4049-B206-4567741B159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353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dirty="0"/>
              <a:t>Certains attributs font sens pour un ensemble de données, en particulier de la toponymie. </a:t>
            </a:r>
          </a:p>
          <a:p>
            <a:pPr marL="216925" lvl="3" indent="0">
              <a:buNone/>
            </a:pPr>
            <a:r>
              <a:rPr lang="fr-FR" dirty="0"/>
              <a:t>Par exemple, l’A6, qui est une route nommée, est en réalité constituée d’un ensemble de tronçons de route.</a:t>
            </a:r>
          </a:p>
          <a:p>
            <a:pPr marL="216925" lvl="3" indent="0">
              <a:buNone/>
            </a:pPr>
            <a:r>
              <a:rPr lang="fr-FR" dirty="0"/>
              <a:t>C’est également le cas de la route Napoléon dans les Alpes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053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Autoroutes Paris-Rhin-Rhône</a:t>
            </a:r>
            <a:r>
              <a:rPr lang="fr-FR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 (APRR) 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15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fr-FR"/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E84F5-E102-4049-B206-4567741B159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873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Rectangle 2938"/>
          <p:cNvSpPr/>
          <p:nvPr userDrawn="1"/>
        </p:nvSpPr>
        <p:spPr>
          <a:xfrm>
            <a:off x="0" y="13724"/>
            <a:ext cx="12192000" cy="684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4807527" y="1015813"/>
            <a:ext cx="5221316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PRESENTATION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807527" y="1931396"/>
            <a:ext cx="4495800" cy="28381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 sz="1600" cap="none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fr-FR"/>
              <a:t>Sous-titre sur 1 ou 2 lignes</a:t>
            </a:r>
          </a:p>
          <a:p>
            <a:pPr lvl="0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2" name="ZoneTexte 1061"/>
          <p:cNvSpPr txBox="1"/>
          <p:nvPr userDrawn="1"/>
        </p:nvSpPr>
        <p:spPr>
          <a:xfrm>
            <a:off x="10181277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106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5905482" y="5597609"/>
            <a:ext cx="3750937" cy="283819"/>
          </a:xfrm>
        </p:spPr>
        <p:txBody>
          <a:bodyPr/>
          <a:lstStyle>
            <a:lvl1pPr marL="0" indent="0" algn="ctr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Auteur</a:t>
            </a:r>
          </a:p>
        </p:txBody>
      </p:sp>
      <p:sp>
        <p:nvSpPr>
          <p:cNvPr id="1069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5905482" y="5922729"/>
            <a:ext cx="3750937" cy="283819"/>
          </a:xfrm>
        </p:spPr>
        <p:txBody>
          <a:bodyPr/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70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738411" y="544564"/>
            <a:ext cx="6186617" cy="5191661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3393064" y="938302"/>
            <a:ext cx="3128513" cy="2387043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11806" y="3166133"/>
            <a:ext cx="6019801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5487786" y="4406602"/>
            <a:ext cx="6043823" cy="283819"/>
          </a:xfrm>
        </p:spPr>
        <p:txBody>
          <a:bodyPr>
            <a:noAutofit/>
          </a:bodyPr>
          <a:lstStyle>
            <a:lvl1pPr marL="0" indent="0">
              <a:buNone/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3572253" y="1899835"/>
            <a:ext cx="2517083" cy="690414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3426" name="Espace réservé du pied de page 342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3427" name="Espace réservé du numéro de diapositive 342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5"/>
            <a:ext cx="11111932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26" y="1056445"/>
            <a:ext cx="5133519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/>
          </p:nvPr>
        </p:nvSpPr>
        <p:spPr>
          <a:xfrm>
            <a:off x="6049441" y="1655774"/>
            <a:ext cx="5441951" cy="32527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3"/>
            <a:ext cx="11111932" cy="15248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8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90" y="1056448"/>
            <a:ext cx="11087367" cy="491255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AB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6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64235" y="3301560"/>
            <a:ext cx="11111932" cy="28842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4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5533043" y="1275585"/>
            <a:ext cx="4495800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 de votre attention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33043" y="2101434"/>
            <a:ext cx="4495800" cy="283819"/>
          </a:xfrm>
        </p:spPr>
        <p:txBody>
          <a:bodyPr>
            <a:no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ign.fr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5" name="ZoneTexte 1064"/>
          <p:cNvSpPr txBox="1"/>
          <p:nvPr userDrawn="1"/>
        </p:nvSpPr>
        <p:spPr>
          <a:xfrm>
            <a:off x="10176761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084893"/>
            <a:ext cx="9144000" cy="1185475"/>
          </a:xfrm>
          <a:prstGeom prst="rect">
            <a:avLst/>
          </a:prstGeom>
        </p:spPr>
        <p:txBody>
          <a:bodyPr anchor="ctr"/>
          <a:lstStyle>
            <a:lvl1pPr algn="ctr">
              <a:defRPr sz="4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7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19E0-880E-4295-B65F-49848F6A4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30011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359779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4"/>
          </p:nvPr>
        </p:nvSpPr>
        <p:spPr>
          <a:xfrm>
            <a:off x="6262665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062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04/06/2025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811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58936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55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617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460709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86" y="1517650"/>
            <a:ext cx="9730316" cy="4451351"/>
          </a:xfrm>
        </p:spPr>
        <p:txBody>
          <a:bodyPr rtlCol="0">
            <a:no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5" name="Espace réservé du numéro de diapositiv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1FF7-2BB2-4C58-8A31-213E11C90CED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98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011700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170544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04926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04/06/2025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04/06/2025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0000" y="480000"/>
            <a:ext cx="36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819" y="635059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49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028" y="373144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952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52310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172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6589634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92439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2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8325" y="291750"/>
            <a:ext cx="11074697" cy="362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 sur 1 ou 2 lignes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24" y="1056451"/>
            <a:ext cx="11100097" cy="5054947"/>
          </a:xfrm>
          <a:prstGeom prst="rect">
            <a:avLst/>
          </a:prstGeom>
        </p:spPr>
        <p:txBody>
          <a:bodyPr vert="horz" lIns="10800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646897" y="6210300"/>
            <a:ext cx="108244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5255691" y="2787650"/>
            <a:ext cx="16806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7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0971379" y="6189442"/>
            <a:ext cx="782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lnSpc>
                <a:spcPct val="87000"/>
              </a:lnSpc>
              <a:defRPr lang="fr-FR" sz="105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661559" y="6247705"/>
            <a:ext cx="1177756" cy="232006"/>
          </a:xfrm>
          <a:prstGeom prst="rect">
            <a:avLst/>
          </a:prstGeom>
        </p:spPr>
        <p:txBody>
          <a:bodyPr vert="horz" lIns="108000" tIns="45720" rIns="91440" bIns="45720" rtlCol="0" anchor="ctr">
            <a:noAutofit/>
          </a:bodyPr>
          <a:lstStyle>
            <a:lvl1pPr algn="r">
              <a:lnSpc>
                <a:spcPct val="87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04/06/2025</a:t>
            </a: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85767" y="6247705"/>
            <a:ext cx="4526720" cy="232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87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Institut national de l’information géographique et forestière</a:t>
            </a: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410368" y="6254038"/>
            <a:ext cx="12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72797F"/>
                </a:solidFill>
                <a:cs typeface="Arial" panose="020B0604020202020204" pitchFamily="34" charset="0"/>
              </a:rPr>
              <a:t>SPP/19.xxx</a:t>
            </a:r>
          </a:p>
        </p:txBody>
      </p:sp>
    </p:spTree>
    <p:extLst>
      <p:ext uri="{BB962C8B-B14F-4D97-AF65-F5344CB8AC3E}">
        <p14:creationId xmlns:p14="http://schemas.microsoft.com/office/powerpoint/2010/main" val="72824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/>
  <p:txStyles>
    <p:titleStyle>
      <a:lvl1pPr algn="l" defTabSz="685800" rtl="0" eaLnBrk="1" latinLnBrk="0" hangingPunct="1">
        <a:lnSpc>
          <a:spcPct val="87000"/>
        </a:lnSpc>
        <a:spcBef>
          <a:spcPct val="0"/>
        </a:spcBef>
        <a:buNone/>
        <a:defRPr sz="2400" b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685800" rtl="0" eaLnBrk="1" latinLnBrk="0" hangingPunct="1">
        <a:lnSpc>
          <a:spcPct val="87000"/>
        </a:lnSpc>
        <a:spcBef>
          <a:spcPts val="600"/>
        </a:spcBef>
        <a:spcAft>
          <a:spcPts val="600"/>
        </a:spcAft>
        <a:buSzPct val="120000"/>
        <a:buFontTx/>
        <a:buBlip>
          <a:blip r:embed="rId12"/>
        </a:buBlip>
        <a:defRPr sz="2000" kern="1200" cap="none" baseline="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5600" indent="-177800" algn="l" defTabSz="6858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120000"/>
        <a:buFontTx/>
        <a:buBlip>
          <a:blip r:embed="rId12"/>
        </a:buBlip>
        <a:defRPr lang="fr-FR" sz="1800" b="0" kern="1200" dirty="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1338" indent="-185738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6"/>
        </a:buClr>
        <a:buSzPct val="115000"/>
        <a:buFontTx/>
        <a:buBlip>
          <a:blip r:embed="rId13"/>
        </a:buBlip>
        <a:defRPr sz="1600" b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30238" indent="-185738" algn="l" defTabSz="685800" rtl="0" eaLnBrk="1" latinLnBrk="0" hangingPunct="1">
        <a:lnSpc>
          <a:spcPct val="100000"/>
        </a:lnSpc>
        <a:spcBef>
          <a:spcPts val="300"/>
        </a:spcBef>
        <a:buClr>
          <a:srgbClr val="6D6F71"/>
        </a:buClr>
        <a:buSzPct val="110000"/>
        <a:buFont typeface="Arial" panose="020B0604020202020204" pitchFamily="34" charset="0"/>
        <a:buChar char="•"/>
        <a:defRPr sz="1400" b="0" i="0" kern="120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9138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Calibri" panose="020F0502020204030204" pitchFamily="34" charset="0"/>
        <a:buChar char="–"/>
        <a:defRPr sz="1200" b="0" i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>
          <p15:clr>
            <a:srgbClr val="F26B43"/>
          </p15:clr>
        </p15:guide>
        <p15:guide id="2" pos="107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pos="5653">
          <p15:clr>
            <a:srgbClr val="F26B43"/>
          </p15:clr>
        </p15:guide>
        <p15:guide id="5" pos="165">
          <p15:clr>
            <a:srgbClr val="F26B43"/>
          </p15:clr>
        </p15:guide>
        <p15:guide id="6" pos="560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0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5400000">
            <a:off x="5463021" y="-4691616"/>
            <a:ext cx="111600" cy="11037889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grpSp>
        <p:nvGrpSpPr>
          <p:cNvPr id="12" name="Groupe 69"/>
          <p:cNvGrpSpPr>
            <a:grpSpLocks/>
          </p:cNvGrpSpPr>
          <p:nvPr/>
        </p:nvGrpSpPr>
        <p:grpSpPr bwMode="auto">
          <a:xfrm>
            <a:off x="11641980" y="67810"/>
            <a:ext cx="455613" cy="212725"/>
            <a:chOff x="-102471" y="6111390"/>
            <a:chExt cx="558709" cy="261711"/>
          </a:xfrm>
        </p:grpSpPr>
        <p:sp>
          <p:nvSpPr>
            <p:cNvPr id="13" name="Rectangle 69"/>
            <p:cNvSpPr>
              <a:spLocks noChangeArrowheads="1"/>
            </p:cNvSpPr>
            <p:nvPr userDrawn="1"/>
          </p:nvSpPr>
          <p:spPr bwMode="auto">
            <a:xfrm>
              <a:off x="-102471" y="6119232"/>
              <a:ext cx="48356" cy="245375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alt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4" name="Freeform 70"/>
            <p:cNvSpPr>
              <a:spLocks/>
            </p:cNvSpPr>
            <p:nvPr userDrawn="1"/>
          </p:nvSpPr>
          <p:spPr bwMode="auto">
            <a:xfrm>
              <a:off x="264121" y="6111390"/>
              <a:ext cx="192117" cy="261711"/>
            </a:xfrm>
            <a:custGeom>
              <a:avLst/>
              <a:gdLst>
                <a:gd name="T0" fmla="*/ 147290 w 390"/>
                <a:gd name="T1" fmla="*/ 7886 h 531"/>
                <a:gd name="T2" fmla="*/ 147290 w 390"/>
                <a:gd name="T3" fmla="*/ 154759 h 531"/>
                <a:gd name="T4" fmla="*/ 7389 w 390"/>
                <a:gd name="T5" fmla="*/ 0 h 531"/>
                <a:gd name="T6" fmla="*/ 0 w 390"/>
                <a:gd name="T7" fmla="*/ 0 h 531"/>
                <a:gd name="T8" fmla="*/ 0 w 390"/>
                <a:gd name="T9" fmla="*/ 253332 h 531"/>
                <a:gd name="T10" fmla="*/ 44827 w 390"/>
                <a:gd name="T11" fmla="*/ 253332 h 531"/>
                <a:gd name="T12" fmla="*/ 44827 w 390"/>
                <a:gd name="T13" fmla="*/ 108430 h 531"/>
                <a:gd name="T14" fmla="*/ 184235 w 390"/>
                <a:gd name="T15" fmla="*/ 261711 h 531"/>
                <a:gd name="T16" fmla="*/ 192117 w 390"/>
                <a:gd name="T17" fmla="*/ 261711 h 531"/>
                <a:gd name="T18" fmla="*/ 192117 w 390"/>
                <a:gd name="T19" fmla="*/ 7886 h 531"/>
                <a:gd name="T20" fmla="*/ 147290 w 390"/>
                <a:gd name="T21" fmla="*/ 7886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5" name="Freeform 71"/>
            <p:cNvSpPr>
              <a:spLocks/>
            </p:cNvSpPr>
            <p:nvPr userDrawn="1"/>
          </p:nvSpPr>
          <p:spPr bwMode="auto">
            <a:xfrm>
              <a:off x="-16541" y="6111390"/>
              <a:ext cx="224464" cy="261711"/>
            </a:xfrm>
            <a:custGeom>
              <a:avLst/>
              <a:gdLst>
                <a:gd name="T0" fmla="*/ 179670 w 456"/>
                <a:gd name="T1" fmla="*/ 182360 h 531"/>
                <a:gd name="T2" fmla="*/ 177208 w 456"/>
                <a:gd name="T3" fmla="*/ 182360 h 531"/>
                <a:gd name="T4" fmla="*/ 177208 w 456"/>
                <a:gd name="T5" fmla="*/ 207989 h 531"/>
                <a:gd name="T6" fmla="*/ 133891 w 456"/>
                <a:gd name="T7" fmla="*/ 216367 h 531"/>
                <a:gd name="T8" fmla="*/ 47748 w 456"/>
                <a:gd name="T9" fmla="*/ 126666 h 531"/>
                <a:gd name="T10" fmla="*/ 130937 w 456"/>
                <a:gd name="T11" fmla="*/ 43372 h 531"/>
                <a:gd name="T12" fmla="*/ 202313 w 456"/>
                <a:gd name="T13" fmla="*/ 75408 h 531"/>
                <a:gd name="T14" fmla="*/ 206251 w 456"/>
                <a:gd name="T15" fmla="*/ 79844 h 531"/>
                <a:gd name="T16" fmla="*/ 209697 w 456"/>
                <a:gd name="T17" fmla="*/ 24150 h 531"/>
                <a:gd name="T18" fmla="*/ 208712 w 456"/>
                <a:gd name="T19" fmla="*/ 23165 h 531"/>
                <a:gd name="T20" fmla="*/ 188038 w 456"/>
                <a:gd name="T21" fmla="*/ 11829 h 531"/>
                <a:gd name="T22" fmla="*/ 131922 w 456"/>
                <a:gd name="T23" fmla="*/ 0 h 531"/>
                <a:gd name="T24" fmla="*/ 36918 w 456"/>
                <a:gd name="T25" fmla="*/ 36472 h 531"/>
                <a:gd name="T26" fmla="*/ 0 w 456"/>
                <a:gd name="T27" fmla="*/ 130116 h 531"/>
                <a:gd name="T28" fmla="*/ 128968 w 456"/>
                <a:gd name="T29" fmla="*/ 261711 h 531"/>
                <a:gd name="T30" fmla="*/ 187053 w 456"/>
                <a:gd name="T31" fmla="*/ 252347 h 531"/>
                <a:gd name="T32" fmla="*/ 222987 w 456"/>
                <a:gd name="T33" fmla="*/ 237561 h 531"/>
                <a:gd name="T34" fmla="*/ 224464 w 456"/>
                <a:gd name="T35" fmla="*/ 237068 h 531"/>
                <a:gd name="T36" fmla="*/ 224464 w 456"/>
                <a:gd name="T37" fmla="*/ 174967 h 531"/>
                <a:gd name="T38" fmla="*/ 221511 w 456"/>
                <a:gd name="T39" fmla="*/ 175953 h 531"/>
                <a:gd name="T40" fmla="*/ 179670 w 456"/>
                <a:gd name="T41" fmla="*/ 182360 h 5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6" name="Freeform 72"/>
            <p:cNvSpPr>
              <a:spLocks/>
            </p:cNvSpPr>
            <p:nvPr userDrawn="1"/>
          </p:nvSpPr>
          <p:spPr bwMode="auto">
            <a:xfrm>
              <a:off x="68736" y="6207122"/>
              <a:ext cx="153237" cy="78742"/>
            </a:xfrm>
            <a:custGeom>
              <a:avLst/>
              <a:gdLst>
                <a:gd name="T0" fmla="*/ 85241 w 311"/>
                <a:gd name="T1" fmla="*/ 7874 h 160"/>
                <a:gd name="T2" fmla="*/ 84748 w 311"/>
                <a:gd name="T3" fmla="*/ 7874 h 160"/>
                <a:gd name="T4" fmla="*/ 0 w 311"/>
                <a:gd name="T5" fmla="*/ 19686 h 160"/>
                <a:gd name="T6" fmla="*/ 68489 w 311"/>
                <a:gd name="T7" fmla="*/ 70868 h 160"/>
                <a:gd name="T8" fmla="*/ 68489 w 311"/>
                <a:gd name="T9" fmla="*/ 70868 h 160"/>
                <a:gd name="T10" fmla="*/ 153237 w 311"/>
                <a:gd name="T11" fmla="*/ 59057 h 160"/>
                <a:gd name="T12" fmla="*/ 85241 w 311"/>
                <a:gd name="T13" fmla="*/ 787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</p:grpSp>
      <p:pic>
        <p:nvPicPr>
          <p:cNvPr id="17" name="Picture 2" descr="Accue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3678" y="26610"/>
            <a:ext cx="510777" cy="35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9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545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1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7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nig.gouv.fr/gt-dessertes-pour-les-transports-de-bois-a18535.html" TargetMode="External"/><Relationship Id="rId5" Type="http://schemas.openxmlformats.org/officeDocument/2006/relationships/hyperlink" Target="https://github.com/cnigfr/schema-dessertes-transport-de-bois/tree/master/ressources/tableaux-de-travail" TargetMode="Externa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microsoft.com/office/2007/relationships/hdphoto" Target="../media/hdphoto1.wdp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vincent.morillon@fcba.fr" TargetMode="External"/><Relationship Id="rId3" Type="http://schemas.openxmlformats.org/officeDocument/2006/relationships/customXml" Target="../ink/ink5.xml"/><Relationship Id="rId7" Type="http://schemas.openxmlformats.org/officeDocument/2006/relationships/hyperlink" Target="mailto:thierry.saffroy@ign.f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hyperlink" Target="mailto:xavier.van-elsuwe@interieur.gouv.fr" TargetMode="External"/><Relationship Id="rId11" Type="http://schemas.openxmlformats.org/officeDocument/2006/relationships/image" Target="../media/image31.png"/><Relationship Id="rId5" Type="http://schemas.openxmlformats.org/officeDocument/2006/relationships/hyperlink" Target="mailto:isabelle.bertrand@agriculture.gouv.fr" TargetMode="External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hyperlink" Target="mailto:marion.lacroix@ign.fr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6.xml"/><Relationship Id="rId7" Type="http://schemas.openxmlformats.org/officeDocument/2006/relationships/hyperlink" Target="https://cnig.gouv.fr/gt-dessertes-pour-les-transports-de-bois-a18535.html#H_Reunion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github.com/cnigfr/schema-dessertes-transport-de-bois" TargetMode="External"/><Relationship Id="rId5" Type="http://schemas.openxmlformats.org/officeDocument/2006/relationships/hyperlink" Target="mailto:marion.lacroix@ign.fr?subject=Inscription%20GT%20Dessertes" TargetMode="External"/><Relationship Id="rId4" Type="http://schemas.openxmlformats.org/officeDocument/2006/relationships/image" Target="../media/image25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figeo.asso.fr/wp-content/uploads/2020/12/10/modele-minimal-donnees-pei.pdf" TargetMode="External"/><Relationship Id="rId13" Type="http://schemas.openxmlformats.org/officeDocument/2006/relationships/image" Target="../media/image38.png"/><Relationship Id="rId3" Type="http://schemas.openxmlformats.org/officeDocument/2006/relationships/customXml" Target="../ink/ink7.xml"/><Relationship Id="rId7" Type="http://schemas.openxmlformats.org/officeDocument/2006/relationships/hyperlink" Target="https://geoservices.ign.fr/bd-topor-explorer-descriptif-de-contenu" TargetMode="External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nig.gouv.fr/gt-dessertes-pour-les-transports-de-bois-a18535.html#H_Mandat-du-GT" TargetMode="External"/><Relationship Id="rId11" Type="http://schemas.openxmlformats.org/officeDocument/2006/relationships/image" Target="../media/image36.png"/><Relationship Id="rId5" Type="http://schemas.openxmlformats.org/officeDocument/2006/relationships/hyperlink" Target="https://naviforest.ign.fr/" TargetMode="External"/><Relationship Id="rId10" Type="http://schemas.openxmlformats.org/officeDocument/2006/relationships/image" Target="../media/image35.png"/><Relationship Id="rId4" Type="http://schemas.openxmlformats.org/officeDocument/2006/relationships/image" Target="../media/image25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github.com/cnigfr/schema-dessertes-transport-de-bois/tree/master/ressources/tableaux-de-travai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pomme.ign.fr/SV3D/Documentation-BDUni-v2/route_numerotee_ou_nommee&amp;BDTopo#attribute_value_593" TargetMode="External"/><Relationship Id="rId13" Type="http://schemas.openxmlformats.org/officeDocument/2006/relationships/hyperlink" Target="https://pomme.ign.fr/SV3D/Documentation-BDUni-v2/route_numerotee_ou_nommee&amp;BDTopo#attribute_value_597" TargetMode="External"/><Relationship Id="rId3" Type="http://schemas.openxmlformats.org/officeDocument/2006/relationships/image" Target="../media/image45.png"/><Relationship Id="rId7" Type="http://schemas.openxmlformats.org/officeDocument/2006/relationships/hyperlink" Target="https://pomme.ign.fr/SV3D/Documentation-BDUni-v2/route_numerotee_ou_nommee&amp;BDTopo#attribute_value_592" TargetMode="External"/><Relationship Id="rId12" Type="http://schemas.openxmlformats.org/officeDocument/2006/relationships/hyperlink" Target="https://pomme.ign.fr/SV3D/Documentation-BDUni-v2/route_numerotee_ou_nommee&amp;BDTopo#attribute_value_596" TargetMode="External"/><Relationship Id="rId17" Type="http://schemas.openxmlformats.org/officeDocument/2006/relationships/hyperlink" Target="https://pomme.ign.fr/SV3D/Documentation-BDUni-v2/route_numerotee_ou_nommee&amp;BDTopo" TargetMode="External"/><Relationship Id="rId2" Type="http://schemas.openxmlformats.org/officeDocument/2006/relationships/notesSlide" Target="../notesSlides/notesSlide11.xml"/><Relationship Id="rId16" Type="http://schemas.openxmlformats.org/officeDocument/2006/relationships/hyperlink" Target="https://pomme.ign.fr/SV3D/Documentation-BDUni-v2/route_numerotee_ou_nommee&amp;BDTopo#attribute_value_600" TargetMode="Externa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pomme.ign.fr/SV3D/Documentation-BDUni-v2/route_numerotee_ou_nommee&amp;BDTopo#attribute_value_591" TargetMode="External"/><Relationship Id="rId11" Type="http://schemas.openxmlformats.org/officeDocument/2006/relationships/hyperlink" Target="https://pomme.ign.fr/SV3D/Documentation-BDUni-v2/route_numerotee_ou_nommee&amp;BDTopo#attribute_value_4795" TargetMode="External"/><Relationship Id="rId5" Type="http://schemas.openxmlformats.org/officeDocument/2006/relationships/hyperlink" Target="https://pomme.ign.fr/SV3D/Documentation-BDUni-v2/route_numerotee_ou_nommee&amp;BDTopo#attribute_value_590" TargetMode="External"/><Relationship Id="rId15" Type="http://schemas.openxmlformats.org/officeDocument/2006/relationships/hyperlink" Target="https://pomme.ign.fr/SV3D/Documentation-BDUni-v2/route_numerotee_ou_nommee&amp;BDTopo#attribute_value_599" TargetMode="External"/><Relationship Id="rId10" Type="http://schemas.openxmlformats.org/officeDocument/2006/relationships/hyperlink" Target="https://pomme.ign.fr/SV3D/Documentation-BDUni-v2/route_numerotee_ou_nommee&amp;BDTopo#attribute_value_595" TargetMode="External"/><Relationship Id="rId4" Type="http://schemas.openxmlformats.org/officeDocument/2006/relationships/hyperlink" Target="https://pomme.ign.fr/SV3D/Documentation-BDUni-v2/route_numerotee_ou_nommee&amp;BDTopo#attribute_value_589" TargetMode="External"/><Relationship Id="rId9" Type="http://schemas.openxmlformats.org/officeDocument/2006/relationships/hyperlink" Target="https://pomme.ign.fr/SV3D/Documentation-BDUni-v2/route_numerotee_ou_nommee&amp;BDTopo#attribute_value_594" TargetMode="External"/><Relationship Id="rId14" Type="http://schemas.openxmlformats.org/officeDocument/2006/relationships/hyperlink" Target="https://pomme.ign.fr/SV3D/Documentation-BDUni-v2/route_numerotee_ou_nommee&amp;BDTopo#attribute_value_598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9731162" y="322055"/>
            <a:ext cx="2175029" cy="1669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569647" y="3083858"/>
            <a:ext cx="9880639" cy="274208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solidFill>
                  <a:srgbClr val="55453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GT </a:t>
            </a:r>
            <a:r>
              <a:rPr lang="fr-FR" sz="3200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CNIG</a:t>
            </a:r>
            <a:endParaRPr kumimoji="0" lang="fr-FR" sz="32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32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200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révision</a:t>
            </a: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solidFill>
                  <a:srgbClr val="55453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et Elargissement du standard</a:t>
            </a:r>
            <a:endParaRPr lang="fr-FR" sz="32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solidFill>
                  <a:srgbClr val="55453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"dessertes pour le transport de bois"</a:t>
            </a:r>
            <a:endParaRPr kumimoji="0" lang="fr-FR" sz="5400" b="1" i="0" u="none" strike="noStrike" kern="1200" cap="all" spc="0" normalizeH="0" baseline="0" noProof="0" dirty="0">
              <a:ln>
                <a:noFill/>
              </a:ln>
              <a:solidFill>
                <a:srgbClr val="0E2841">
                  <a:lumMod val="75000"/>
                </a:srgb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200" b="0" i="0" u="none" strike="noStrike" kern="1200" cap="all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8BCD97-9F6D-4AAF-B243-ACDF4EC3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1" y="431424"/>
            <a:ext cx="2520652" cy="1344119"/>
          </a:xfrm>
          <a:prstGeom prst="rect">
            <a:avLst/>
          </a:prstGeom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000" y="306480"/>
            <a:ext cx="1333354" cy="145116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10618237" y="3079880"/>
            <a:ext cx="83585" cy="2092973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30E16-0A21-4825-A5BC-1B8BCAF83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491" y="380833"/>
            <a:ext cx="2336582" cy="1302449"/>
          </a:xfrm>
          <a:prstGeom prst="rect">
            <a:avLst/>
          </a:prstGeom>
          <a:ln>
            <a:noFill/>
          </a:ln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616F4F-D410-46B4-AE5F-B0F0E544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12B435DB-6A97-4A97-8355-B6E695B9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géographique et forestière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6DE96D8-8341-427F-941A-0926E1CF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700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6">
            <a:extLst>
              <a:ext uri="{FF2B5EF4-FFF2-40B4-BE49-F238E27FC236}">
                <a16:creationId xmlns:a16="http://schemas.microsoft.com/office/drawing/2014/main" id="{852BE78D-901C-F949-EE09-515CE0A4DF96}"/>
              </a:ext>
            </a:extLst>
          </p:cNvPr>
          <p:cNvSpPr txBox="1">
            <a:spLocks/>
          </p:cNvSpPr>
          <p:nvPr/>
        </p:nvSpPr>
        <p:spPr>
          <a:xfrm>
            <a:off x="409377" y="1345536"/>
            <a:ext cx="8067909" cy="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b="1">
                <a:solidFill>
                  <a:srgbClr val="C00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Programme de la journée – 10 à 16h</a:t>
            </a:r>
            <a:endParaRPr lang="fr-FR" sz="2800">
              <a:solidFill>
                <a:srgbClr val="C00000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defTabSz="1219170">
              <a:lnSpc>
                <a:spcPct val="90000"/>
              </a:lnSpc>
            </a:pPr>
            <a:endParaRPr lang="fr-FR" sz="2800" b="1" kern="0" spc="-1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1933867"/>
            <a:ext cx="8402113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Présentation - Remise en contexte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Atelier nom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Atelier Tronçons</a:t>
            </a:r>
          </a:p>
          <a:p>
            <a:pPr defTabSz="1219170"/>
            <a:endParaRPr lang="fr-FR" sz="2800" dirty="0">
              <a:solidFill>
                <a:schemeClr val="accent6"/>
              </a:solidFill>
              <a:latin typeface="Calibri"/>
              <a:ea typeface="Calibri"/>
              <a:cs typeface="Calibri"/>
            </a:endParaRP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Déjeuner (12h30 – 13h30 )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Poursuite de l’atelier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Conclusion de la journée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DFC9C8-743F-4707-8D4D-6BEAFA71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771BEE-F722-43F8-AF18-D4716762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3" name="Espace réservé du pied de page 10">
            <a:extLst>
              <a:ext uri="{FF2B5EF4-FFF2-40B4-BE49-F238E27FC236}">
                <a16:creationId xmlns:a16="http://schemas.microsoft.com/office/drawing/2014/main" id="{AA840A36-3F2C-4339-A967-4630CD589576}"/>
              </a:ext>
            </a:extLst>
          </p:cNvPr>
          <p:cNvSpPr txBox="1">
            <a:spLocks/>
          </p:cNvSpPr>
          <p:nvPr/>
        </p:nvSpPr>
        <p:spPr>
          <a:xfrm>
            <a:off x="480000" y="6378000"/>
            <a:ext cx="7872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géographique et forestière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067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Modalités de travail en commun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98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349637" y="1198723"/>
            <a:ext cx="11551698" cy="508927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Règles de vie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Ecoute, partage de la parole</a:t>
            </a:r>
            <a:endParaRPr lang="fr-F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Bienveillance, droit à l’erreur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2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Engagement</a:t>
            </a:r>
            <a:endParaRPr lang="fr-F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Atelier en présentiel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Pas d’enregistrement vidéo</a:t>
            </a: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Poursuite des travaux</a:t>
            </a:r>
            <a:endParaRPr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Envoi des ppt + CR à la liste de mail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Ressources accessibles sur le </a:t>
            </a: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5"/>
              </a:rPr>
              <a:t>GitHub</a:t>
            </a: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et la </a:t>
            </a: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6"/>
              </a:rPr>
              <a:t>page du GT</a:t>
            </a:r>
            <a:endParaRPr lang="fr-FR" sz="20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lang="fr-FR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Clr>
                <a:srgbClr val="554538"/>
              </a:buClr>
              <a:buNone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E6A54F6D-C5A5-4865-B60F-5E25D3CACBBA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numéro de diapositive 11">
            <a:extLst>
              <a:ext uri="{FF2B5EF4-FFF2-40B4-BE49-F238E27FC236}">
                <a16:creationId xmlns:a16="http://schemas.microsoft.com/office/drawing/2014/main" id="{44054F84-C37C-4978-8F6D-455DD1B817A8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501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1908054"/>
            <a:ext cx="84021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fr-FR" sz="4400" b="1">
                <a:solidFill>
                  <a:srgbClr val="554538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1. Contexte et objectifs du GT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4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10E932-5E77-4F75-BF09-95763802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FC22EA5-92EF-4FE5-A330-78081FF1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latin typeface="+mn-lt"/>
                <a:cs typeface="Arial"/>
              </a:rPr>
              <a:t>Contexte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8F01B-8BA8-4E52-9ECA-78FE89B5F248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7D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98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349637" y="1198723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Cadre Législatif 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Loi « Incendie » n° 2023-580 du 10/07/2023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visant à renforcer la prévention et la lutte contre l’intensification et l’extension du risque incendie</a:t>
            </a:r>
            <a:endParaRPr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Art. L. 153-9. – […] II. – Chaque département établit et met à jour, au moins tous les cinq ans, une carte des </a:t>
            </a:r>
            <a:r>
              <a:rPr lang="fr-FR" sz="1300" i="1" dirty="0">
                <a:solidFill>
                  <a:schemeClr val="tx1"/>
                </a:solidFill>
                <a:latin typeface="Calibri"/>
                <a:cs typeface="Arial"/>
              </a:rPr>
              <a:t>voies d’accès aux ressources forestières</a:t>
            </a: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, des </a:t>
            </a:r>
            <a:r>
              <a:rPr lang="fr-FR" sz="1300" i="1" dirty="0">
                <a:solidFill>
                  <a:schemeClr val="tx1"/>
                </a:solidFill>
                <a:latin typeface="Calibri"/>
                <a:cs typeface="Arial"/>
              </a:rPr>
              <a:t>voies de défense des bois et forêts contre l’incendie </a:t>
            </a: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et des </a:t>
            </a:r>
            <a:r>
              <a:rPr lang="fr-FR" sz="1300" i="1" dirty="0">
                <a:solidFill>
                  <a:schemeClr val="tx1"/>
                </a:solidFill>
                <a:latin typeface="Calibri"/>
                <a:cs typeface="Arial"/>
              </a:rPr>
              <a:t>points d’eau</a:t>
            </a: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. Cette carte est mise à disposition gratuitement et librement sous une forme dématérialisée, sur un</a:t>
            </a:r>
            <a:r>
              <a:rPr lang="fr-FR" sz="1300" i="1" dirty="0">
                <a:solidFill>
                  <a:schemeClr val="tx1"/>
                </a:solidFill>
                <a:latin typeface="Calibri"/>
                <a:cs typeface="Arial"/>
              </a:rPr>
              <a:t> portail national commun</a:t>
            </a: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 au plus tard le 1er janvier 2026.</a:t>
            </a:r>
            <a:endParaRPr lang="fr-FR" sz="1300" b="0" i="1" dirty="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Décret d’application n° 2024-284 du 29/03/2024 : </a:t>
            </a:r>
            <a:endParaRPr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742950" marR="0" lvl="1" indent="-285750" algn="just" fontAlgn="auto">
              <a:spcBef>
                <a:spcPts val="300"/>
              </a:spcBef>
              <a:spcAft>
                <a:spcPts val="0"/>
              </a:spcAft>
              <a:buClr>
                <a:srgbClr val="554538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Article 4 : […] « Art. D. 153-26.-La carte prévue par le II de l'article L. 153-9, établie par chaque département, affiche les informations relatives en particulier à la localisation et aux caractéristiques des dessertes forestières, des points d'eau et des pistes utilisables à des fins de défense contre l'incendie.</a:t>
            </a:r>
            <a:endParaRPr lang="fr-FR" sz="1300" b="0" i="1" dirty="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Un </a:t>
            </a:r>
            <a:r>
              <a:rPr lang="fr-FR" sz="1300" i="1" dirty="0">
                <a:solidFill>
                  <a:schemeClr val="tx1"/>
                </a:solidFill>
                <a:latin typeface="Calibri"/>
                <a:cs typeface="Arial"/>
              </a:rPr>
              <a:t>arrêté du ministre </a:t>
            </a: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chargé de l'agriculture définit des </a:t>
            </a:r>
            <a:r>
              <a:rPr lang="fr-FR" sz="1300" i="1" dirty="0">
                <a:solidFill>
                  <a:schemeClr val="tx1"/>
                </a:solidFill>
                <a:latin typeface="Calibri"/>
                <a:cs typeface="Arial"/>
              </a:rPr>
              <a:t>normes cartographiques </a:t>
            </a:r>
            <a:r>
              <a:rPr lang="fr-FR" sz="1300" b="0" i="1" dirty="0">
                <a:solidFill>
                  <a:schemeClr val="tx1"/>
                </a:solidFill>
                <a:latin typeface="Calibri"/>
                <a:cs typeface="Arial"/>
              </a:rPr>
              <a:t>en vue d'assurer l'harmonisation nationale des cartes départementales</a:t>
            </a:r>
            <a:r>
              <a:rPr lang="fr-FR" sz="1300" b="0" dirty="0">
                <a:solidFill>
                  <a:srgbClr val="000000"/>
                </a:solidFill>
                <a:latin typeface="Calibri"/>
                <a:cs typeface="Arial"/>
              </a:rPr>
              <a:t>. »</a:t>
            </a:r>
            <a:endParaRPr lang="fr-FR" sz="13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Clr>
                <a:srgbClr val="554538"/>
              </a:buClr>
              <a:buNone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457200" lvl="1" indent="0" algn="just">
              <a:spcBef>
                <a:spcPts val="300"/>
              </a:spcBef>
              <a:buClr>
                <a:srgbClr val="554538"/>
              </a:buClr>
              <a:buNone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algn="just"/>
            <a:r>
              <a:rPr lang="fr-FR" sz="2000" b="0" dirty="0">
                <a:solidFill>
                  <a:schemeClr val="tx1"/>
                </a:solidFill>
                <a:latin typeface="Calibri"/>
                <a:cs typeface="Arial"/>
              </a:rPr>
              <a:t>3 standards existants pour :</a:t>
            </a:r>
            <a:endParaRPr lang="fr-FR" sz="2000" b="0" dirty="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lvl="1" algn="just"/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</a:rPr>
              <a:t>Les voies d’accès aux ressources forestières </a:t>
            </a:r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  <a:sym typeface="Wingdings" panose="05000000000000000000" pitchFamily="2" charset="2"/>
              </a:rPr>
              <a:t></a:t>
            </a:r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</a:rPr>
              <a:t> Standard CNIG « Dessertes pour le transport de bois »</a:t>
            </a:r>
            <a:endParaRPr lang="fr-FR" sz="1800" b="0" dirty="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lvl="1" algn="just"/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</a:rPr>
              <a:t>Les voies de défense des bois et forêts contre l’incendie  </a:t>
            </a:r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  <a:sym typeface="Wingdings" panose="05000000000000000000" pitchFamily="2" charset="2"/>
              </a:rPr>
              <a:t></a:t>
            </a:r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</a:rPr>
              <a:t> Standard communautaire « Pistes DFCI »</a:t>
            </a:r>
            <a:endParaRPr lang="fr-FR" sz="1800" b="0" dirty="0">
              <a:solidFill>
                <a:schemeClr val="tx1"/>
              </a:solidFill>
              <a:latin typeface="Calibri"/>
              <a:ea typeface="Calibri"/>
              <a:cs typeface="Arial"/>
            </a:endParaRPr>
          </a:p>
          <a:p>
            <a:pPr lvl="1" algn="just"/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</a:rPr>
              <a:t>Les points d’eau </a:t>
            </a:r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  <a:sym typeface="Wingdings" panose="05000000000000000000" pitchFamily="2" charset="2"/>
              </a:rPr>
              <a:t></a:t>
            </a:r>
            <a:r>
              <a:rPr lang="fr-FR" sz="1800" b="0" dirty="0">
                <a:solidFill>
                  <a:schemeClr val="tx1"/>
                </a:solidFill>
                <a:latin typeface="Calibri"/>
                <a:cs typeface="Arial"/>
              </a:rPr>
              <a:t> Standard AFIGEO « Points d’eau », mais ne couvre pas les points d’eau en forêt </a:t>
            </a:r>
            <a:endParaRPr kumimoji="0" lang="fr-FR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A5A45B2-5A27-481A-8916-DE55C598BFBD}"/>
              </a:ext>
            </a:extLst>
          </p:cNvPr>
          <p:cNvSpPr txBox="1"/>
          <p:nvPr/>
        </p:nvSpPr>
        <p:spPr>
          <a:xfrm>
            <a:off x="4204451" y="6085551"/>
            <a:ext cx="3308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fr-FR" sz="2000" b="1">
                <a:solidFill>
                  <a:srgbClr val="00B050"/>
                </a:solidFill>
              </a:rPr>
              <a:t>Bases de travail pour le GT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DC62134-DF5D-4B79-864F-2ED9AFCDF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8266">
            <a:off x="10187892" y="4649144"/>
            <a:ext cx="2934472" cy="2934472"/>
          </a:xfrm>
          <a:prstGeom prst="rect">
            <a:avLst/>
          </a:prstGeom>
          <a:ln>
            <a:noFill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BADADC7-353C-435D-A90A-2D49800F3746}"/>
              </a:ext>
            </a:extLst>
          </p:cNvPr>
          <p:cNvSpPr txBox="1"/>
          <p:nvPr/>
        </p:nvSpPr>
        <p:spPr>
          <a:xfrm>
            <a:off x="1423605" y="3636677"/>
            <a:ext cx="9526390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000" b="1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fr-FR" sz="2000" b="1">
                <a:solidFill>
                  <a:srgbClr val="00B050"/>
                </a:solidFill>
              </a:rPr>
              <a:t>Besoin d'un standard pour la mise en œuvre de la loi et l'interopérabilité des outils </a:t>
            </a:r>
            <a:endParaRPr lang="fr-FR"/>
          </a:p>
          <a:p>
            <a:r>
              <a:rPr lang="fr-FR" sz="2000" b="1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fr-FR" sz="2000" b="1">
                <a:solidFill>
                  <a:srgbClr val="00B050"/>
                </a:solidFill>
              </a:rPr>
              <a:t>BD TOPO retenue comme étant la base dans laquelle ces données seront intégrées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43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latin typeface="+mn-lt"/>
                <a:cs typeface="Arial"/>
              </a:rPr>
              <a:t>Objectifs du GT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8F01B-8BA8-4E52-9ECA-78FE89B5F248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7D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98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52BCEDE-BEFB-408F-83EC-FA5DB734C9FF}"/>
              </a:ext>
            </a:extLst>
          </p:cNvPr>
          <p:cNvSpPr>
            <a:spLocks noGrp="1"/>
          </p:cNvSpPr>
          <p:nvPr/>
        </p:nvSpPr>
        <p:spPr>
          <a:xfrm>
            <a:off x="359779" y="1421275"/>
            <a:ext cx="10665273" cy="492593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Mettre à jour et élargir le standard CNIG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pour :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Aligner les attributs du standard Dessertes avec la BD TOPO (déjà compatible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NexSIS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)​​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Voir si certains attributs ont besoin de maj avec le RETEX de la V1 du standard​​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Intégrer les besoins DFCI​​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Intégrer les objets Points d’eau​ 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endParaRPr lang="fr-FR" sz="1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r>
              <a:rPr lang="fr-FR" sz="1800" dirty="0">
                <a:solidFill>
                  <a:srgbClr val="00B050"/>
                </a:solidFill>
                <a:latin typeface="Calibri"/>
                <a:ea typeface="Calibri"/>
                <a:cs typeface="Arial"/>
                <a:sym typeface="Wingdings" panose="05000000000000000000" pitchFamily="2" charset="2"/>
              </a:rPr>
              <a:t> </a:t>
            </a:r>
            <a:r>
              <a:rPr lang="fr-FR" sz="1800" dirty="0">
                <a:solidFill>
                  <a:srgbClr val="00B050"/>
                </a:solidFill>
                <a:latin typeface="Calibri"/>
                <a:ea typeface="Calibri"/>
                <a:cs typeface="Arial"/>
              </a:rPr>
              <a:t>Changement de nom à prévoir</a:t>
            </a:r>
            <a:endParaRPr lang="fr-FR" sz="1800" dirty="0">
              <a:solidFill>
                <a:srgbClr val="00B050"/>
              </a:solidFill>
              <a:latin typeface="Calibri"/>
              <a:cs typeface="Arial"/>
            </a:endParaRPr>
          </a:p>
          <a:p>
            <a:pPr marL="628650" lvl="1" indent="-285750" algn="just">
              <a:buClr>
                <a:srgbClr val="554538"/>
              </a:buClr>
              <a:buFont typeface="Wingdings" panose="05000000000000000000" pitchFamily="2" charset="2"/>
              <a:buChar char="à"/>
              <a:defRPr/>
            </a:pPr>
            <a:endParaRPr lang="fr-FR" sz="1800" dirty="0">
              <a:solidFill>
                <a:srgbClr val="00B050"/>
              </a:solidFill>
              <a:latin typeface="Calibri"/>
              <a:cs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Assurer une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concertation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entre les divers </a:t>
            </a:r>
            <a:r>
              <a:rPr kumimoji="0" lang="fr-FR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acteurs impliqués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afin de garantir la pertinence et l’interopérabilité du standard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EB7E30C-CCEA-421D-B83B-962381130C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823" y="2051442"/>
            <a:ext cx="1720598" cy="1720598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BF69614-76BB-4790-834D-166AE26A90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337" y="3550797"/>
            <a:ext cx="410242" cy="41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7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BD TOPO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8F01B-8BA8-4E52-9ECA-78FE89B5F248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7D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98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52BCEDE-BEFB-408F-83EC-FA5DB734C9FF}"/>
              </a:ext>
            </a:extLst>
          </p:cNvPr>
          <p:cNvSpPr>
            <a:spLocks noGrp="1"/>
          </p:cNvSpPr>
          <p:nvPr/>
        </p:nvSpPr>
        <p:spPr>
          <a:xfrm>
            <a:off x="220092" y="1021316"/>
            <a:ext cx="11035314" cy="492593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Décision MASA / MI </a:t>
            </a:r>
          </a:p>
          <a:p>
            <a:pPr lvl="1" indent="-342900" algn="just"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BD TOPO comme </a:t>
            </a:r>
            <a:r>
              <a:rPr lang="fr-FR" sz="180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réceptacle national de recueil 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des informations</a:t>
            </a:r>
          </a:p>
          <a:p>
            <a:pPr marL="342900" lvl="1" indent="0" algn="just">
              <a:buClr>
                <a:srgbClr val="554538"/>
              </a:buClr>
              <a:buNone/>
              <a:defRPr/>
            </a:pPr>
            <a:endParaRPr lang="fr-FR" sz="18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fr-FR" sz="2000" b="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Nécessité de </a:t>
            </a:r>
            <a:r>
              <a:rPr lang="fr-FR" sz="200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mutualiser</a:t>
            </a:r>
            <a:r>
              <a:rPr lang="fr-FR" sz="2000" b="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 </a:t>
            </a:r>
            <a:r>
              <a:rPr lang="fr-FR" sz="200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les attributs proches</a:t>
            </a:r>
            <a:r>
              <a:rPr lang="fr-FR" sz="2000" b="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 ou similaires entre BD TOPO, standard dessertes et voies DFCI</a:t>
            </a:r>
          </a:p>
          <a:p>
            <a:pPr marL="0" indent="0" algn="just">
              <a:spcBef>
                <a:spcPts val="200"/>
              </a:spcBef>
              <a:spcAft>
                <a:spcPts val="200"/>
              </a:spcAft>
              <a:buNone/>
            </a:pPr>
            <a:endParaRPr lang="fr-FR" sz="2000" b="0" dirty="0">
              <a:solidFill>
                <a:srgbClr val="333333"/>
              </a:solidFill>
              <a:latin typeface="Calibri"/>
              <a:ea typeface="Calibri"/>
              <a:cs typeface="Arial"/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fr-FR" sz="2000" b="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Les attributs "socle" de la BD TOPO ne peuvent pas être modifiés sans conséquences importantes pour les </a:t>
            </a:r>
            <a:r>
              <a:rPr lang="fr-FR" sz="2000" dirty="0">
                <a:solidFill>
                  <a:srgbClr val="333333"/>
                </a:solidFill>
                <a:latin typeface="Calibri"/>
                <a:ea typeface="Calibri"/>
                <a:cs typeface="Arial"/>
              </a:rPr>
              <a:t>autres utilisateurs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fr-FR" sz="2000" b="0" dirty="0">
              <a:solidFill>
                <a:srgbClr val="333333"/>
              </a:solidFill>
              <a:latin typeface="Calibri"/>
              <a:ea typeface="Calibri"/>
              <a:cs typeface="Arial"/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fr-FR" sz="2000" dirty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Rétro-ingénierie</a:t>
            </a:r>
          </a:p>
          <a:p>
            <a:pPr lvl="1" algn="just">
              <a:spcBef>
                <a:spcPts val="200"/>
              </a:spcBef>
              <a:spcAft>
                <a:spcPts val="200"/>
              </a:spcAft>
            </a:pPr>
            <a:r>
              <a:rPr lang="fr-FR" sz="1800" b="0" dirty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On part des changements possibles dans la BD TOPO pour créer </a:t>
            </a:r>
          </a:p>
          <a:p>
            <a:pPr marL="457200" lvl="1" indent="0" algn="just"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1800" b="0" dirty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    un modèle de données intermédiaire</a:t>
            </a:r>
            <a:endParaRPr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18EC223-EC51-41EA-ABED-91885F2471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47" y="4102924"/>
            <a:ext cx="1662067" cy="1594190"/>
          </a:xfrm>
          <a:prstGeom prst="rect">
            <a:avLst/>
          </a:prstGeom>
          <a:ln>
            <a:noFill/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CF15EF2-C356-4E93-B0BB-847709C73662}"/>
              </a:ext>
            </a:extLst>
          </p:cNvPr>
          <p:cNvSpPr txBox="1"/>
          <p:nvPr/>
        </p:nvSpPr>
        <p:spPr>
          <a:xfrm>
            <a:off x="142509" y="5516217"/>
            <a:ext cx="94265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400" b="1" dirty="0">
                <a:sym typeface="Wingdings" panose="05000000000000000000" pitchFamily="2" charset="2"/>
              </a:rPr>
              <a:t> Définir un socle de données commun : </a:t>
            </a:r>
            <a:endParaRPr lang="fr-FR" dirty="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fr-FR" sz="2400" b="1" dirty="0">
                <a:sym typeface="Wingdings" panose="05000000000000000000" pitchFamily="2" charset="2"/>
              </a:rPr>
              <a:t> o</a:t>
            </a:r>
            <a:r>
              <a:rPr lang="fr-FR" sz="2400" b="1" dirty="0"/>
              <a:t>n ne redéfinit pas les </a:t>
            </a:r>
            <a:r>
              <a:rPr lang="fr-FR" sz="2400" b="1" dirty="0" err="1"/>
              <a:t>BDs</a:t>
            </a:r>
            <a:r>
              <a:rPr lang="fr-FR" sz="2400" b="1" dirty="0"/>
              <a:t> métier ni les cartographies !</a:t>
            </a:r>
            <a:endParaRPr lang="fr-FR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523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1908054"/>
            <a:ext cx="84021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fr-FR" sz="4400" b="1">
                <a:solidFill>
                  <a:srgbClr val="554538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2. Organisation du GT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8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79885F3-D5AA-498A-BA47-32132CC0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1F28E68-13B6-4B93-8B89-48E73F8D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58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Organisation et fonctionnement du GT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8F01B-8BA8-4E52-9ECA-78FE89B5F248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7D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98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5370540-318C-47AE-80D2-D1CD1538BFCC}"/>
              </a:ext>
            </a:extLst>
          </p:cNvPr>
          <p:cNvSpPr>
            <a:spLocks noGrp="1"/>
          </p:cNvSpPr>
          <p:nvPr/>
        </p:nvSpPr>
        <p:spPr>
          <a:xfrm>
            <a:off x="191036" y="880767"/>
            <a:ext cx="9424651" cy="541105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Pilotage 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cs typeface="Arial"/>
              </a:rPr>
              <a:t>Isabelle Bertrand (MASA) </a:t>
            </a:r>
            <a:r>
              <a:rPr lang="fr-FR" sz="1800" b="0" dirty="0">
                <a:solidFill>
                  <a:srgbClr val="000000"/>
                </a:solidFill>
                <a:latin typeface="Calibri"/>
                <a:cs typeface="Arial"/>
                <a:hlinkClick r:id="rId5"/>
              </a:rPr>
              <a:t>isabelle.bertrand@agriculture.gouv.fr</a:t>
            </a:r>
            <a:r>
              <a:rPr lang="fr-FR" sz="1800" b="0" dirty="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endParaRPr lang="fr-FR" sz="18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LC Xavier Van </a:t>
            </a:r>
            <a:r>
              <a:rPr lang="fr-FR" sz="1800" b="0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Elsuwe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 (MI) 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6"/>
              </a:rPr>
              <a:t>xavier.van-elsuwe@interieur.gouv.fr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</a:p>
          <a:p>
            <a:pPr algn="just">
              <a:defRPr/>
            </a:pPr>
            <a:endParaRPr lang="fr-FR" sz="20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Co-animation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</a:t>
            </a:r>
            <a:endParaRPr 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Thierry Saffroy (IGN)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hlinkClick r:id="rId7"/>
              </a:rPr>
              <a:t>thierry.saffroy@ign.fr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Vincent Morillon (FCBA) 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8"/>
              </a:rPr>
              <a:t>vincent.morillon@fcba.fr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  <a:endParaRPr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Marion Lacroix (IGN) 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9"/>
              </a:rPr>
              <a:t>marion.lacroix@ign.fr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</a:t>
            </a:r>
          </a:p>
          <a:p>
            <a:pPr marL="342900" lvl="1" indent="0" algn="just">
              <a:buNone/>
              <a:defRPr/>
            </a:pPr>
            <a:endParaRPr lang="fr-FR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algn="just">
              <a:buFont typeface="Webdings,Sans-Serif"/>
              <a:buChar char="a"/>
              <a:defRPr/>
            </a:pP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Rythme </a:t>
            </a:r>
            <a:endParaRPr lang="en-US"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71550" lvl="1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Session préparatoire en 2024 (côté acteurs DFCI)</a:t>
            </a:r>
          </a:p>
          <a:p>
            <a:pPr marL="971550" lvl="1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Session plénière en présentiel (IGN – Saint mandé)</a:t>
            </a:r>
          </a:p>
          <a:p>
            <a:pPr marL="1271588" lvl="2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 février 2025 </a:t>
            </a:r>
          </a:p>
          <a:p>
            <a:pPr marL="1271588" lvl="2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 juin 2025</a:t>
            </a:r>
          </a:p>
          <a:p>
            <a:pPr marL="1271588" lvl="2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Septembre/octobre 2025?</a:t>
            </a:r>
            <a:endParaRPr lang="fr-FR" sz="16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71550" lvl="1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Sous-groupe Points d’eau (visio – à venir)</a:t>
            </a:r>
            <a:endParaRPr lang="fr-FR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1588" lvl="2" indent="-342900" algn="just">
              <a:buClr>
                <a:srgbClr val="554538"/>
              </a:buClr>
              <a:buFont typeface="Webdings,Sans-Serif"/>
              <a:buChar char="a"/>
              <a:defRPr/>
            </a:pPr>
            <a:r>
              <a:rPr lang="fr-FR" sz="16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Rapportage des travaux en plénière</a:t>
            </a:r>
            <a:endParaRPr lang="fr-FR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37C86E3-9C05-43B1-9A83-FA10798929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639" y="2517527"/>
            <a:ext cx="2815631" cy="2845752"/>
          </a:xfrm>
          <a:prstGeom prst="rect">
            <a:avLst/>
          </a:prstGeom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E8F1B04-583F-4ED2-B527-F0156B70A3F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3767" y="3530357"/>
            <a:ext cx="1850819" cy="185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259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latin typeface="+mn-lt"/>
                <a:cs typeface="Arial"/>
              </a:rPr>
              <a:t>Livrables attendus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88F01B-8BA8-4E52-9ECA-78FE89B5F248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7D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rgbClr val="7D7D6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987D6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79"/>
            <a:ext cx="11551698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4F4E282-E21A-4B6D-8BB3-75E01B4B4470}"/>
              </a:ext>
            </a:extLst>
          </p:cNvPr>
          <p:cNvSpPr>
            <a:spLocks noGrp="1"/>
          </p:cNvSpPr>
          <p:nvPr/>
        </p:nvSpPr>
        <p:spPr>
          <a:xfrm>
            <a:off x="362967" y="1216479"/>
            <a:ext cx="9453226" cy="317454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Documents  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Une </a:t>
            </a:r>
            <a:r>
              <a:rPr kumimoji="0" lang="fr-F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V2 du standard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« Dessertes pour le transport de bois » (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à renommer)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</a:t>
            </a:r>
            <a:endParaRPr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Un </a:t>
            </a:r>
            <a:r>
              <a:rPr kumimoji="0" lang="fr-F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modèle conceptuel de données  </a:t>
            </a:r>
            <a:endParaRPr lang="fr-FR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Un </a:t>
            </a:r>
            <a:r>
              <a:rPr kumimoji="0" lang="fr-FR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schéma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(compatible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schema.data.gouv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)</a:t>
            </a:r>
            <a:endParaRPr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algn="just">
              <a:defRPr/>
            </a:pP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Organisation, suivi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du </a:t>
            </a:r>
            <a:r>
              <a:rPr lang="fr-FR" sz="20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GT et communication</a:t>
            </a:r>
            <a:endParaRPr 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Liste de diffusion par mail (inscription auprès de </a:t>
            </a:r>
            <a:r>
              <a:rPr lang="fr-FR" sz="1800" b="0" dirty="0">
                <a:solidFill>
                  <a:srgbClr val="0563C1"/>
                </a:solidFill>
                <a:latin typeface="Calibri"/>
                <a:ea typeface="Calibri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)</a:t>
            </a:r>
          </a:p>
          <a:p>
            <a:pPr lvl="1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18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Espace de travail commun</a:t>
            </a:r>
          </a:p>
          <a:p>
            <a:pPr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/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kumimoji="0" lang="fr-F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 (maj et dépôt de documents + rapide)</a:t>
            </a:r>
          </a:p>
          <a:p>
            <a:pPr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Arial"/>
                <a:hlinkClick r:id="rId7"/>
              </a:rPr>
              <a:t>Page de GT</a:t>
            </a:r>
            <a:endParaRPr lang="fr-FR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lvl="3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Espace Réunions (ODJ, CR, autres infos)</a:t>
            </a:r>
          </a:p>
          <a:p>
            <a:pPr lvl="3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Espace Ressources (ppt, documents servant </a:t>
            </a:r>
          </a:p>
          <a:p>
            <a:pPr marL="1257300" lvl="3" indent="0" algn="just">
              <a:buClr>
                <a:srgbClr val="554538"/>
              </a:buClr>
              <a:buNone/>
              <a:defRPr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       de base de travail)</a:t>
            </a:r>
          </a:p>
          <a:p>
            <a:pPr lvl="2" indent="-342900" algn="just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Drive ou </a:t>
            </a:r>
            <a:r>
              <a:rPr lang="fr-FR" dirty="0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frama</a:t>
            </a: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* si nécessaire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723AFFA-055B-4A94-99B7-AEAFC1CDC22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907" y="1660542"/>
            <a:ext cx="1371324" cy="1371324"/>
          </a:xfrm>
          <a:prstGeom prst="rect">
            <a:avLst/>
          </a:prstGeom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40A4911-3CD0-4A03-AF7D-B5A3D910B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2695" y="4238469"/>
            <a:ext cx="4939095" cy="21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7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1908054"/>
            <a:ext cx="8402113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1219170"/>
            <a:r>
              <a:rPr lang="fr-FR" sz="4400" b="1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3. Processus de travail</a:t>
            </a:r>
            <a:endParaRPr lang="fr-FR" sz="4400" b="1">
              <a:solidFill>
                <a:srgbClr val="554538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11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32430C-3A36-451C-A13D-FC93282D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9DC30F4-E909-4893-93D7-AA32F9A4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104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3 standards existants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ln>
            <a:noFill/>
          </a:ln>
        </p:spPr>
        <p:txBody>
          <a:bodyPr/>
          <a:lstStyle/>
          <a:p>
            <a:fld id="{5588F01B-8BA8-4E52-9ECA-78FE89B5F248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28" y="-5020"/>
              <a:ext cx="8262" cy="826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28" y="-418120"/>
                <a:ext cx="826200" cy="826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366553" y="1229483"/>
            <a:ext cx="11289293" cy="52117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Les voies d’accès aux ressources forestières </a:t>
            </a:r>
            <a:r>
              <a:rPr lang="fr-FR" sz="2000" b="1" dirty="0">
                <a:solidFill>
                  <a:schemeClr val="tx1"/>
                </a:solidFill>
                <a:cs typeface="Arial"/>
                <a:sym typeface="Wingdings" panose="05000000000000000000" pitchFamily="2" charset="2"/>
              </a:rPr>
              <a:t></a:t>
            </a:r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 Standard CNIG « Dessertes pour le transport de bois »</a:t>
            </a:r>
          </a:p>
          <a:p>
            <a:pPr lvl="1"/>
            <a:r>
              <a:rPr lang="fr-FR" sz="18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Réalisé dans projet </a:t>
            </a:r>
            <a:r>
              <a:rPr lang="fr-FR" sz="1800" dirty="0">
                <a:solidFill>
                  <a:srgbClr val="0563C1"/>
                </a:solidFill>
                <a:latin typeface="+mn-lt"/>
                <a:ea typeface="Calibri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NaviForest</a:t>
            </a:r>
            <a:r>
              <a:rPr lang="fr-FR" sz="1800" dirty="0">
                <a:solidFill>
                  <a:srgbClr val="0070C0"/>
                </a:solidFill>
                <a:latin typeface="+mn-lt"/>
                <a:ea typeface="Calibri"/>
                <a:cs typeface="Arial"/>
              </a:rPr>
              <a:t>  </a:t>
            </a:r>
          </a:p>
          <a:p>
            <a:pPr lvl="1"/>
            <a:r>
              <a:rPr lang="fr-FR" sz="18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Récupérer les données dessertes </a:t>
            </a:r>
            <a:r>
              <a:rPr lang="fr-FR" sz="1800" b="0" dirty="0">
                <a:solidFill>
                  <a:srgbClr val="000000"/>
                </a:solidFill>
                <a:latin typeface="+mn-lt"/>
                <a:cs typeface="Arial"/>
              </a:rPr>
              <a:t>dans une base nationale unique via un outil collaboratif en ligne </a:t>
            </a:r>
          </a:p>
          <a:p>
            <a:pPr lvl="1"/>
            <a:r>
              <a:rPr lang="fr-FR" sz="1800" b="0" dirty="0">
                <a:solidFill>
                  <a:srgbClr val="0563C1"/>
                </a:solidFill>
                <a:latin typeface="+mn-lt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V1.0 du Standard </a:t>
            </a:r>
            <a:r>
              <a:rPr lang="fr-FR" sz="1800" b="0" dirty="0">
                <a:solidFill>
                  <a:srgbClr val="000000"/>
                </a:solidFill>
                <a:latin typeface="+mn-lt"/>
                <a:cs typeface="Arial"/>
              </a:rPr>
              <a:t>validé et diffusé par le CNIG depuis 2019</a:t>
            </a:r>
          </a:p>
          <a:p>
            <a:pPr lvl="1"/>
            <a:endParaRPr lang="fr-FR" sz="18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457200" lvl="1" indent="0">
              <a:buNone/>
            </a:pPr>
            <a:endParaRPr lang="fr-FR" sz="1800" b="0" dirty="0">
              <a:solidFill>
                <a:schemeClr val="tx1"/>
              </a:solidFill>
              <a:latin typeface="+mn-lt"/>
              <a:cs typeface="Arial"/>
            </a:endParaRPr>
          </a:p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Les voies de défense des bois et forêts contre l’incendie </a:t>
            </a:r>
            <a:r>
              <a:rPr lang="fr-FR" sz="2000" b="1" dirty="0">
                <a:solidFill>
                  <a:schemeClr val="tx1"/>
                </a:solidFill>
                <a:cs typeface="Arial"/>
                <a:sym typeface="Wingdings" panose="05000000000000000000" pitchFamily="2" charset="2"/>
              </a:rPr>
              <a:t></a:t>
            </a:r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 Standard communautaire « Pistes DFCI »</a:t>
            </a:r>
          </a:p>
          <a:p>
            <a:pPr lvl="1" algn="just"/>
            <a:r>
              <a:rPr lang="fr-FR" sz="1800" b="0" dirty="0">
                <a:solidFill>
                  <a:srgbClr val="000000"/>
                </a:solidFill>
                <a:latin typeface="+mn-lt"/>
                <a:cs typeface="Arial"/>
              </a:rPr>
              <a:t>Intégration des voies DFCI dans la BD TOPO </a:t>
            </a:r>
            <a:r>
              <a:rPr lang="fr-FR" sz="1800" b="0" dirty="0">
                <a:solidFill>
                  <a:schemeClr val="tx1"/>
                </a:solidFill>
                <a:latin typeface="+mn-lt"/>
                <a:cs typeface="+mn-cs"/>
              </a:rPr>
              <a:t>(voir </a:t>
            </a:r>
            <a:r>
              <a:rPr lang="fr-FR" sz="1800" b="0" dirty="0">
                <a:solidFill>
                  <a:srgbClr val="0563C1"/>
                </a:solidFill>
                <a:latin typeface="+mn-lt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spécifications de la BD TOPO </a:t>
            </a:r>
            <a:r>
              <a:rPr lang="fr-FR" sz="1800" b="0" dirty="0">
                <a:solidFill>
                  <a:schemeClr val="tx1"/>
                </a:solidFill>
                <a:latin typeface="+mn-lt"/>
                <a:cs typeface="+mn-cs"/>
              </a:rPr>
              <a:t>)</a:t>
            </a:r>
            <a:endParaRPr lang="fr-FR" sz="18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algn="just"/>
            <a:r>
              <a:rPr lang="fr-FR" sz="1800" b="0" dirty="0">
                <a:solidFill>
                  <a:srgbClr val="000000"/>
                </a:solidFill>
                <a:latin typeface="+mn-lt"/>
                <a:cs typeface="Arial"/>
              </a:rPr>
              <a:t>Utilisé dans </a:t>
            </a:r>
            <a:r>
              <a:rPr lang="fr-FR" sz="1800" dirty="0">
                <a:solidFill>
                  <a:srgbClr val="000000"/>
                </a:solidFill>
                <a:latin typeface="+mn-lt"/>
                <a:cs typeface="Arial"/>
              </a:rPr>
              <a:t>NexSIS</a:t>
            </a:r>
            <a:r>
              <a:rPr lang="fr-FR" sz="1800" b="0" dirty="0">
                <a:solidFill>
                  <a:srgbClr val="000000"/>
                </a:solidFill>
                <a:latin typeface="+mn-lt"/>
                <a:cs typeface="Arial"/>
              </a:rPr>
              <a:t> (outil national SGA/SGO SDIS)</a:t>
            </a:r>
          </a:p>
          <a:p>
            <a:pPr lvl="1" algn="just"/>
            <a:endParaRPr lang="fr-FR" sz="1800" b="0" dirty="0">
              <a:solidFill>
                <a:schemeClr val="tx1"/>
              </a:solidFill>
              <a:latin typeface="+mn-lt"/>
              <a:cs typeface="Arial"/>
            </a:endParaRP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Les points d’eau </a:t>
            </a:r>
            <a:r>
              <a:rPr lang="fr-FR" sz="2000" b="1" dirty="0">
                <a:solidFill>
                  <a:schemeClr val="tx1"/>
                </a:solidFill>
                <a:cs typeface="Arial"/>
                <a:sym typeface="Wingdings" panose="05000000000000000000" pitchFamily="2" charset="2"/>
              </a:rPr>
              <a:t></a:t>
            </a:r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 Standard AFIGEO « Points d’eau », mais ne couvre pas les points d’eau en forêt</a:t>
            </a:r>
          </a:p>
          <a:p>
            <a:pPr lvl="1" algn="just">
              <a:spcBef>
                <a:spcPts val="200"/>
              </a:spcBef>
              <a:spcAft>
                <a:spcPts val="200"/>
              </a:spcAft>
            </a:pPr>
            <a:r>
              <a:rPr lang="fr-FR" sz="1800" dirty="0">
                <a:solidFill>
                  <a:srgbClr val="333333"/>
                </a:solidFill>
                <a:latin typeface="+mn-lt"/>
                <a:cs typeface="Arial"/>
              </a:rPr>
              <a:t>Modèle de données </a:t>
            </a:r>
            <a:r>
              <a:rPr lang="fr-FR" sz="1800" b="0" dirty="0">
                <a:solidFill>
                  <a:srgbClr val="333333"/>
                </a:solidFill>
                <a:latin typeface="+mn-lt"/>
                <a:cs typeface="Arial"/>
              </a:rPr>
              <a:t>conçu pour les PEI </a:t>
            </a:r>
            <a:r>
              <a:rPr lang="fr-FR" sz="1800" dirty="0">
                <a:solidFill>
                  <a:srgbClr val="333333"/>
                </a:solidFill>
                <a:latin typeface="+mn-lt"/>
                <a:cs typeface="Arial"/>
              </a:rPr>
              <a:t>(</a:t>
            </a:r>
            <a:r>
              <a:rPr lang="fr-FR" sz="1800" dirty="0">
                <a:solidFill>
                  <a:srgbClr val="0563C1"/>
                </a:solidFill>
                <a:latin typeface="+mn-lt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AFIGEO</a:t>
            </a:r>
            <a:r>
              <a:rPr lang="fr-FR" sz="1800" dirty="0">
                <a:solidFill>
                  <a:srgbClr val="333333"/>
                </a:solidFill>
                <a:latin typeface="+mn-lt"/>
                <a:cs typeface="Arial"/>
              </a:rPr>
              <a:t>)</a:t>
            </a:r>
            <a:endParaRPr lang="fr-FR" sz="18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algn="just">
              <a:spcBef>
                <a:spcPts val="200"/>
              </a:spcBef>
              <a:spcAft>
                <a:spcPts val="200"/>
              </a:spcAft>
            </a:pPr>
            <a:r>
              <a:rPr lang="fr-FR" sz="1800" b="0" dirty="0">
                <a:solidFill>
                  <a:srgbClr val="333333"/>
                </a:solidFill>
                <a:latin typeface="+mn-lt"/>
                <a:cs typeface="Arial"/>
              </a:rPr>
              <a:t>Utilisé dans </a:t>
            </a:r>
            <a:r>
              <a:rPr lang="fr-FR" sz="1800" dirty="0">
                <a:solidFill>
                  <a:srgbClr val="333333"/>
                </a:solidFill>
                <a:latin typeface="+mn-lt"/>
                <a:cs typeface="Arial"/>
              </a:rPr>
              <a:t>NexSIS</a:t>
            </a:r>
            <a:r>
              <a:rPr lang="fr-FR" sz="1800" b="0" dirty="0">
                <a:solidFill>
                  <a:srgbClr val="333333"/>
                </a:solidFill>
                <a:latin typeface="+mn-lt"/>
                <a:cs typeface="Arial"/>
              </a:rPr>
              <a:t> </a:t>
            </a:r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0" indent="0">
              <a:buNone/>
            </a:pPr>
            <a:endParaRPr lang="en-US" sz="1600" b="0" i="1" dirty="0">
              <a:ea typeface="Calibri"/>
              <a:cs typeface="Calibri"/>
            </a:endParaRPr>
          </a:p>
          <a:p>
            <a:pPr lvl="1"/>
            <a:endParaRPr lang="fr-FR" sz="1800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/>
            <a:endParaRPr lang="fr-FR" sz="1800" b="0" dirty="0">
              <a:latin typeface="+mn-lt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effectLst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6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FR" sz="16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0940BB1-80F0-44C8-955E-7D81716EFFB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61091" y="2077713"/>
            <a:ext cx="899387" cy="899387"/>
          </a:xfrm>
          <a:prstGeom prst="rect">
            <a:avLst/>
          </a:prstGeom>
          <a:ln>
            <a:noFill/>
          </a:ln>
        </p:spPr>
      </p:pic>
      <p:pic>
        <p:nvPicPr>
          <p:cNvPr id="7" name="Image 6" descr="Une image contenant cercle, symbole, conception&#10;&#10;Description générée automatiquement">
            <a:extLst>
              <a:ext uri="{FF2B5EF4-FFF2-40B4-BE49-F238E27FC236}">
                <a16:creationId xmlns:a16="http://schemas.microsoft.com/office/drawing/2014/main" id="{2D6545E2-CD05-7568-A4EB-1970226E0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1541" y="1851195"/>
            <a:ext cx="609026" cy="579676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10C3011-ACDA-476F-9B7A-F28417772F7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766" y="3880901"/>
            <a:ext cx="628712" cy="628712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60DCC61-6601-4C69-A732-91097B3ED1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0280" y="4347023"/>
            <a:ext cx="1405604" cy="356594"/>
          </a:xfrm>
          <a:prstGeom prst="rect">
            <a:avLst/>
          </a:prstGeom>
          <a:ln>
            <a:noFill/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ECC5BCA-1E47-4359-B9D3-15BAD133118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423" y="5692697"/>
            <a:ext cx="563911" cy="563911"/>
          </a:xfrm>
          <a:prstGeom prst="rect">
            <a:avLst/>
          </a:prstGeom>
          <a:ln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234FF0A-0CE1-4215-94D2-55131179A86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376" y="5991093"/>
            <a:ext cx="637499" cy="637499"/>
          </a:xfrm>
          <a:prstGeom prst="rect">
            <a:avLst/>
          </a:prstGeom>
          <a:ln>
            <a:noFill/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660D9FD8-FE62-4399-A9CF-70AC431197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3216" y="5812796"/>
            <a:ext cx="1405604" cy="3565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279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864" y="348630"/>
            <a:ext cx="11662887" cy="151121"/>
          </a:xfrm>
        </p:spPr>
        <p:txBody>
          <a:bodyPr lIns="91440" tIns="45720" rIns="91440" bIns="45720"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Procédure de travail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690F5F7-3DCE-4B5B-812C-0636CF2AC060}"/>
              </a:ext>
            </a:extLst>
          </p:cNvPr>
          <p:cNvSpPr>
            <a:spLocks noGrp="1"/>
          </p:cNvSpPr>
          <p:nvPr/>
        </p:nvSpPr>
        <p:spPr>
          <a:xfrm>
            <a:off x="237047" y="1044299"/>
            <a:ext cx="11289293" cy="52117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Tableau excel de travail (disponible sur </a:t>
            </a:r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  <a:hlinkClick r:id="rId3"/>
              </a:rPr>
              <a:t>GitHub</a:t>
            </a:r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) ​</a:t>
            </a: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On part du standard V1​</a:t>
            </a:r>
          </a:p>
          <a:p>
            <a:pPr lvl="1"/>
            <a:r>
              <a:rPr lang="fr-FR" b="0" dirty="0">
                <a:solidFill>
                  <a:schemeClr val="tx1"/>
                </a:solidFill>
                <a:latin typeface="+mn-lt"/>
                <a:cs typeface="Arial"/>
              </a:rPr>
              <a:t>Voit si un alignement est possible avec un élément BD TOPO​</a:t>
            </a:r>
          </a:p>
          <a:p>
            <a:pPr lvl="1"/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Discute des besoins Transport de bois + DFCI​</a:t>
            </a:r>
          </a:p>
          <a:p>
            <a:pPr lvl="1"/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Voit quelle évolution technique est possible avec les experts BD TOPO​</a:t>
            </a:r>
          </a:p>
          <a:p>
            <a:pPr marL="0" indent="0">
              <a:buNone/>
            </a:pPr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Ateliers de travail par type​</a:t>
            </a:r>
          </a:p>
          <a:p>
            <a:pPr lvl="1"/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Linéaires Tronçons​</a:t>
            </a:r>
          </a:p>
          <a:p>
            <a:pPr lvl="1"/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Ponctuels​</a:t>
            </a:r>
          </a:p>
          <a:p>
            <a:pPr lvl="2"/>
            <a:r>
              <a:rPr lang="fr-FR" b="0" dirty="0">
                <a:solidFill>
                  <a:schemeClr val="tx1"/>
                </a:solidFill>
                <a:latin typeface="+mn-lt"/>
                <a:cs typeface="Arial"/>
              </a:rPr>
              <a:t>Équipements​</a:t>
            </a:r>
          </a:p>
          <a:p>
            <a:pPr lvl="2"/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Contraintes​</a:t>
            </a:r>
          </a:p>
          <a:p>
            <a:pPr lvl="2"/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Points d’eau (sous-groupe DFCI)​</a:t>
            </a: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985520" lvl="2" indent="-175895"/>
            <a:endParaRPr lang="fr-FR" sz="2000" dirty="0">
              <a:latin typeface="+mn-lt"/>
              <a:cs typeface="Arial"/>
            </a:endParaRP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0" indent="0">
              <a:buNone/>
            </a:pPr>
            <a:endParaRPr lang="en-US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/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/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FR" sz="16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13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9A435F5-6259-4FEB-9994-7EFF284895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323" y="4218821"/>
            <a:ext cx="2037214" cy="2037214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76ECA6-8F3B-40B8-A3AA-DB02961347EA}"/>
              </a:ext>
            </a:extLst>
          </p:cNvPr>
          <p:cNvSpPr/>
          <p:nvPr/>
        </p:nvSpPr>
        <p:spPr>
          <a:xfrm>
            <a:off x="6237826" y="4371281"/>
            <a:ext cx="2593910" cy="1129004"/>
          </a:xfrm>
          <a:prstGeom prst="rect">
            <a:avLst/>
          </a:prstGeom>
          <a:solidFill>
            <a:srgbClr val="FE64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Aujourd’hui :</a:t>
            </a:r>
          </a:p>
          <a:p>
            <a:pPr algn="ctr"/>
            <a:r>
              <a:rPr lang="fr-FR" dirty="0"/>
              <a:t>Finalisation des linéaires tronçons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59EA86-DDDA-4958-9E75-9B2DCB91B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781" y="1143067"/>
            <a:ext cx="4288970" cy="149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6FD159-CAD9-46E8-A2CA-1AD407A29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119609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8" y="1908054"/>
            <a:ext cx="6560590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1219170"/>
            <a:r>
              <a:rPr lang="fr-FR" sz="4400" b="1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3. Rappel et mise à niveau -Complexes</a:t>
            </a:r>
            <a:endParaRPr lang="fr-FR" sz="4400" b="1" dirty="0">
              <a:solidFill>
                <a:srgbClr val="554538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14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93D72F-4250-4D23-879E-8297E259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FFA339-0DFB-47E8-99EC-295B8CD4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638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BA2E1-ECF3-43B0-AD8D-9F261012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Classe : Tronçon de route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0C4EC-7917-4A22-B5E5-AC945552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57F19B-66F1-486A-B4EA-C824898B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6A4BEF-B32D-4713-A389-F142BA95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0A5BC72-5905-46C6-B1E9-93A28E471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4BB48D5-2B94-4569-A1B0-2F119EFC6D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63" t="32673" r="21177" b="1711"/>
          <a:stretch/>
        </p:blipFill>
        <p:spPr>
          <a:xfrm>
            <a:off x="479999" y="1680001"/>
            <a:ext cx="9389371" cy="454895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172A5C1-5FA6-4F0D-8E64-918EAD661346}"/>
              </a:ext>
            </a:extLst>
          </p:cNvPr>
          <p:cNvSpPr txBox="1"/>
          <p:nvPr/>
        </p:nvSpPr>
        <p:spPr>
          <a:xfrm>
            <a:off x="9770685" y="1756019"/>
            <a:ext cx="2322631" cy="3518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Liste des attributs BDTOPO de la classe tronçon de route</a:t>
            </a:r>
          </a:p>
          <a:p>
            <a:endParaRPr lang="fr-FR" sz="1600" dirty="0"/>
          </a:p>
          <a:p>
            <a:pPr marL="228594" indent="-228594">
              <a:buFont typeface="Symbol" panose="05050102010706020507" pitchFamily="18" charset="2"/>
              <a:buChar char="Þ"/>
            </a:pPr>
            <a:r>
              <a:rPr lang="fr-FR" sz="1600" dirty="0"/>
              <a:t>Table volumineuse</a:t>
            </a:r>
          </a:p>
          <a:p>
            <a:endParaRPr lang="fr-FR" sz="1467" dirty="0"/>
          </a:p>
          <a:p>
            <a:r>
              <a:rPr lang="fr-FR" sz="1600" dirty="0"/>
              <a:t>Double enjeu :</a:t>
            </a:r>
          </a:p>
          <a:p>
            <a:pPr marL="304792" indent="-304792">
              <a:buAutoNum type="arabicParenR"/>
            </a:pPr>
            <a:r>
              <a:rPr lang="fr-FR" sz="1600" dirty="0"/>
              <a:t>Minimiser l’ajout de nouveaux champs</a:t>
            </a:r>
          </a:p>
          <a:p>
            <a:pPr marL="304792" indent="-304792">
              <a:buAutoNum type="arabicParenR"/>
            </a:pPr>
            <a:r>
              <a:rPr lang="fr-FR" sz="1600" dirty="0"/>
              <a:t>Trouver des champs communs pour rationaliser l’info.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507FC25-AFF2-4325-9B32-4A5D8D013321}"/>
              </a:ext>
            </a:extLst>
          </p:cNvPr>
          <p:cNvSpPr/>
          <p:nvPr/>
        </p:nvSpPr>
        <p:spPr>
          <a:xfrm>
            <a:off x="6096001" y="6066075"/>
            <a:ext cx="6096000" cy="791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67" dirty="0"/>
              <a:t>Un graphe géométrique unique qui doit être le socle commun où se repose les informations métiers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C1E88F1-212C-4798-837E-6B653FF32457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565393" y="4149379"/>
            <a:ext cx="2530608" cy="23126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382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BA2E1-ECF3-43B0-AD8D-9F261012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Classe : Tronçon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57F19B-66F1-486A-B4EA-C824898B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0A5BC72-5905-46C6-B1E9-93A28E471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4BB48D5-2B94-4569-A1B0-2F119EFC6D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63" t="32673" r="21177" b="1711"/>
          <a:stretch/>
        </p:blipFill>
        <p:spPr>
          <a:xfrm>
            <a:off x="479999" y="1680001"/>
            <a:ext cx="9389371" cy="454895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D0ABFC9-B079-48A7-B472-A37FA90103F7}"/>
              </a:ext>
            </a:extLst>
          </p:cNvPr>
          <p:cNvSpPr txBox="1"/>
          <p:nvPr/>
        </p:nvSpPr>
        <p:spPr>
          <a:xfrm>
            <a:off x="721532" y="2006319"/>
            <a:ext cx="10748933" cy="33348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/>
              <a:t>Quelques chiffres : 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 b="1"/>
              <a:t>128	</a:t>
            </a:r>
            <a:r>
              <a:rPr lang="fr-FR" sz="1867"/>
              <a:t>attributs dans la BDUni (interne)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 b="1"/>
              <a:t>84</a:t>
            </a:r>
            <a:r>
              <a:rPr lang="fr-FR" sz="1867"/>
              <a:t> 	attributs diffusés dans la BDTOPO 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18 	attributs principaux : nature, importance, nb de voies, largeur,…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13 	attributs CPX faisant le lien avec l’objet complexe RNN (dont 4 non diffusé)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10 	attributs sur les adresses et les voies BAN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14 	attributs métiers DFCI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3 	attributs métiers Transport Exceptionnel (TE) &gt; non diffusé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8 	attributs sur les restrictions et accès restreint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Quelques attributs sur les aménagements cyclables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fr-FR" sz="1867"/>
              <a:t>Quelques attributs systèmes (cleabs, création, modif…)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15AE46DE-7169-4EFC-9407-43DAE7D80291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defPPr>
              <a:defRPr lang="fr-FR"/>
            </a:defPPr>
            <a:lvl1pPr marL="0" algn="r" defTabSz="914400" rtl="0" eaLnBrk="1" latinLnBrk="0" hangingPunct="1">
              <a:defRPr sz="1100" kern="1200">
                <a:solidFill>
                  <a:srgbClr val="7D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88F01B-8BA8-4E52-9ECA-78FE89B5F248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F159338-8183-43F4-90E2-65C21DF9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FC2C96-DAA9-441D-84F6-CBB05265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714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416000" y="240000"/>
            <a:ext cx="7296000" cy="48000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4. Les données : consultation et documentation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 flipH="1">
            <a:off x="5046099" y="4601748"/>
            <a:ext cx="2112235" cy="528059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 flipH="1">
            <a:off x="4950088" y="4601483"/>
            <a:ext cx="2208245" cy="360172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géographique et forestière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30" t="1663" r="12274" b="5878"/>
          <a:stretch/>
        </p:blipFill>
        <p:spPr bwMode="auto">
          <a:xfrm>
            <a:off x="1" y="17342"/>
            <a:ext cx="3311692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31"/>
          <p:cNvSpPr/>
          <p:nvPr/>
        </p:nvSpPr>
        <p:spPr>
          <a:xfrm rot="10800000">
            <a:off x="1014610" y="-27384"/>
            <a:ext cx="2298041" cy="685799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objets complexes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" t="2621" r="31680" b="5406"/>
          <a:stretch/>
        </p:blipFill>
        <p:spPr bwMode="auto">
          <a:xfrm>
            <a:off x="8403141" y="17343"/>
            <a:ext cx="37888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8310461" y="-27384"/>
            <a:ext cx="2298041" cy="685799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4"/>
          </p:nvPr>
        </p:nvSpPr>
        <p:spPr>
          <a:xfrm>
            <a:off x="2118395" y="2084851"/>
            <a:ext cx="8016269" cy="3603128"/>
          </a:xfrm>
        </p:spPr>
        <p:txBody>
          <a:bodyPr/>
          <a:lstStyle/>
          <a:p>
            <a:r>
              <a:rPr lang="fr-FR" sz="1867" dirty="0"/>
              <a:t>-&gt; Regroupement de géométries simples via des tables de liens</a:t>
            </a:r>
          </a:p>
        </p:txBody>
      </p: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1877747" y="2633529"/>
          <a:ext cx="3072341" cy="2804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072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Tronçon de route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Id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Nature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Largeur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Liens_vers_route_numérotée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Liens_vers</a:t>
                      </a:r>
                      <a:r>
                        <a:rPr lang="fr-FR" sz="1500" baseline="0" err="1"/>
                        <a:t>_itinéraire_xx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Cpx_numero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géométrie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7158333" y="3726225"/>
          <a:ext cx="2976331" cy="29108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97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Route </a:t>
                      </a:r>
                      <a:r>
                        <a:rPr lang="fr-FR" sz="1500" dirty="0" err="1"/>
                        <a:t>numerotée</a:t>
                      </a:r>
                      <a:r>
                        <a:rPr lang="fr-FR" sz="1500" baseline="0" dirty="0"/>
                        <a:t> ou nommée</a:t>
                      </a:r>
                      <a:endParaRPr lang="fr-FR" sz="15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Id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Numéro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i="1" err="1"/>
                        <a:t>Classement_administratif</a:t>
                      </a:r>
                      <a:endParaRPr lang="fr-FR" sz="1500" i="1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i="1" dirty="0"/>
                        <a:t>Gestionnaire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Géométrie (point 2D)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 err="1"/>
                        <a:t>Géométrie_ge</a:t>
                      </a:r>
                      <a:r>
                        <a:rPr lang="fr-FR" sz="1500" dirty="0"/>
                        <a:t> (</a:t>
                      </a:r>
                      <a:r>
                        <a:rPr lang="fr-FR" sz="1500" dirty="0" err="1"/>
                        <a:t>Multi-ligne</a:t>
                      </a:r>
                      <a:r>
                        <a:rPr lang="fr-FR" sz="1500" dirty="0"/>
                        <a:t> 2D)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2080947" y="2836729"/>
          <a:ext cx="3072341" cy="2804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072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Tronçon de route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Id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Nature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Largeur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Liens_vers_route_numérotée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Liens_vers</a:t>
                      </a:r>
                      <a:r>
                        <a:rPr lang="fr-FR" sz="1500" baseline="0" err="1"/>
                        <a:t>_itinéraire_xx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Cpx_numero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géométrie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7" name="Connecteur droit avec flèche 36"/>
          <p:cNvCxnSpPr/>
          <p:nvPr/>
        </p:nvCxnSpPr>
        <p:spPr>
          <a:xfrm flipV="1">
            <a:off x="5046099" y="4265712"/>
            <a:ext cx="2208245" cy="2880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 flipV="1">
            <a:off x="5142109" y="4265712"/>
            <a:ext cx="2112235" cy="14401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5046099" y="5417839"/>
            <a:ext cx="2208245" cy="5760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5142109" y="5609861"/>
            <a:ext cx="2016224" cy="3589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2284147" y="3039929"/>
          <a:ext cx="3072341" cy="2804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072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Tronçon de route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Id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i="1" dirty="0"/>
                        <a:t>Nature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i="1" dirty="0"/>
                        <a:t>Largeur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Liens_vers_route_numérotée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i="1" err="1"/>
                        <a:t>Liens_vers</a:t>
                      </a:r>
                      <a:r>
                        <a:rPr lang="fr-FR" sz="1500" i="1" baseline="0" err="1"/>
                        <a:t>_itinéraire_xx</a:t>
                      </a:r>
                      <a:endParaRPr lang="fr-FR" sz="1500" i="1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err="1"/>
                        <a:t>Cpx_numero</a:t>
                      </a:r>
                      <a:endParaRPr lang="fr-FR" sz="15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fr-FR" sz="1500" dirty="0"/>
                        <a:t>Géométrie (Ligne</a:t>
                      </a:r>
                      <a:r>
                        <a:rPr lang="fr-FR" sz="1500" baseline="0" dirty="0"/>
                        <a:t> 3D)</a:t>
                      </a:r>
                      <a:endParaRPr lang="fr-FR" sz="15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2" name="Connecteur droit avec flèche 11"/>
          <p:cNvCxnSpPr/>
          <p:nvPr/>
        </p:nvCxnSpPr>
        <p:spPr>
          <a:xfrm flipV="1">
            <a:off x="5046099" y="4265183"/>
            <a:ext cx="2208245" cy="3845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5046099" y="5705871"/>
            <a:ext cx="2208245" cy="2880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 flipH="1">
            <a:off x="4950088" y="4601484"/>
            <a:ext cx="2208245" cy="720345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5718174" y="3722167"/>
            <a:ext cx="1369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Lien vers le complexe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5814184" y="4745765"/>
            <a:ext cx="1344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/>
              <a:t>Copie d’attributs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544466" y="5865759"/>
            <a:ext cx="2517857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67" dirty="0"/>
              <a:t>Reconstruction de la géométrie de l’ensemble</a:t>
            </a:r>
          </a:p>
        </p:txBody>
      </p:sp>
    </p:spTree>
    <p:extLst>
      <p:ext uri="{BB962C8B-B14F-4D97-AF65-F5344CB8AC3E}">
        <p14:creationId xmlns:p14="http://schemas.microsoft.com/office/powerpoint/2010/main" val="134426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BA2E1-ECF3-43B0-AD8D-9F261012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Classe : Route numérotée ou nommée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57F19B-66F1-486A-B4EA-C824898B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géographique et forestière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0A5BC72-5905-46C6-B1E9-93A28E471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B9E67E7-873D-4CCF-800B-10C9FC504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2" t="19796" r="21009" b="55227"/>
          <a:stretch/>
        </p:blipFill>
        <p:spPr>
          <a:xfrm>
            <a:off x="479999" y="1895395"/>
            <a:ext cx="9015933" cy="164950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04911DB-4119-4AD9-AC66-F454A6AAE197}"/>
              </a:ext>
            </a:extLst>
          </p:cNvPr>
          <p:cNvSpPr txBox="1"/>
          <p:nvPr/>
        </p:nvSpPr>
        <p:spPr>
          <a:xfrm>
            <a:off x="479999" y="3514902"/>
            <a:ext cx="10993292" cy="28630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1867" b="1" dirty="0"/>
              <a:t>Les complexes existants : </a:t>
            </a:r>
          </a:p>
          <a:p>
            <a:r>
              <a:rPr lang="fr-FR" sz="1467" dirty="0"/>
              <a:t>1 géométrie assemblée (ensemble de tronçons) pour :</a:t>
            </a:r>
          </a:p>
          <a:p>
            <a:pPr marL="380990" indent="-380990">
              <a:buFont typeface="Wingdings" panose="05000000000000000000" pitchFamily="2" charset="2"/>
              <a:buChar char="q"/>
            </a:pPr>
            <a:r>
              <a:rPr lang="fr-FR" sz="1467" b="1" dirty="0"/>
              <a:t>Type de route </a:t>
            </a:r>
            <a:r>
              <a:rPr lang="fr-FR" sz="1467" dirty="0"/>
              <a:t>: 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Autoroute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Chemin rural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Départementale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Itinéraire cyclable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Liaison maritime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Piste DFCI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 européenne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 intercommunale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 nommée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Voie communale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 | 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Voie verte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 </a:t>
            </a:r>
          </a:p>
          <a:p>
            <a:pPr marL="380990" indent="-380990">
              <a:buFont typeface="Wingdings" panose="05000000000000000000" pitchFamily="2" charset="2"/>
              <a:buChar char="q"/>
            </a:pPr>
            <a:r>
              <a:rPr lang="fr-FR" sz="1467" b="1" dirty="0"/>
              <a:t>Numéro</a:t>
            </a:r>
            <a:r>
              <a:rPr lang="fr-FR" sz="1467" dirty="0"/>
              <a:t> : 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Désigne le classement administratif d’un tronçon routier, le numéro de route européenne ou le numéro.</a:t>
            </a:r>
            <a:endParaRPr lang="fr-FR" sz="1467" dirty="0"/>
          </a:p>
          <a:p>
            <a:pPr marL="380990" indent="-380990">
              <a:buFont typeface="Wingdings" panose="05000000000000000000" pitchFamily="2" charset="2"/>
              <a:buChar char="q"/>
            </a:pPr>
            <a:r>
              <a:rPr lang="fr-FR" sz="1467" b="1" dirty="0"/>
              <a:t>Toponyme</a:t>
            </a:r>
            <a:r>
              <a:rPr lang="fr-FR" sz="1467" dirty="0"/>
              <a:t> : exemple-&gt; « Route du soleil », « Route Napoléon »</a:t>
            </a:r>
          </a:p>
          <a:p>
            <a:pPr marL="380990" indent="-380990">
              <a:buFont typeface="Wingdings" panose="05000000000000000000" pitchFamily="2" charset="2"/>
              <a:buChar char="q"/>
            </a:pPr>
            <a:r>
              <a:rPr lang="fr-FR" sz="1467" b="1" dirty="0"/>
              <a:t>Gestionnaire</a:t>
            </a:r>
            <a:r>
              <a:rPr lang="fr-FR" sz="1467" dirty="0"/>
              <a:t> : 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définit le gestionnaire administratif d’une route (quelques exemples : APRR, SANEF, </a:t>
            </a:r>
            <a:r>
              <a:rPr lang="fr-FR" sz="1467" dirty="0"/>
              <a:t>Ain, Aisne, ATMB, </a:t>
            </a:r>
            <a:r>
              <a:rPr lang="fr-FR" sz="1467" dirty="0" err="1"/>
              <a:t>Genoble</a:t>
            </a:r>
            <a:r>
              <a:rPr lang="fr-FR" sz="1467" dirty="0"/>
              <a:t> Alpes Métropole, DFCI_04, DFCI_06,…</a:t>
            </a:r>
          </a:p>
          <a:p>
            <a:endParaRPr lang="fr-FR" sz="1467" dirty="0">
              <a:solidFill>
                <a:srgbClr val="333333"/>
              </a:solidFill>
              <a:latin typeface="marianne" panose="02000000000000000000" pitchFamily="50" charset="0"/>
            </a:endParaRPr>
          </a:p>
          <a:p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Si la route comporte un numéro de route et un numéro de route européenne, il existe 2 objets complexes </a:t>
            </a:r>
            <a:r>
              <a:rPr lang="fr-FR" sz="1467" dirty="0">
                <a:solidFill>
                  <a:srgbClr val="888888"/>
                </a:solidFill>
                <a:latin typeface="marianne" panose="02000000000000000000" pitchFamily="50" charset="0"/>
                <a:hlinkClick r:id="rId17"/>
              </a:rPr>
              <a:t>Route numérotée ou nommée</a:t>
            </a:r>
            <a:r>
              <a:rPr lang="fr-FR" sz="1467" dirty="0">
                <a:solidFill>
                  <a:srgbClr val="333333"/>
                </a:solidFill>
                <a:latin typeface="marianne" panose="02000000000000000000" pitchFamily="50" charset="0"/>
              </a:rPr>
              <a:t>.</a:t>
            </a:r>
            <a:endParaRPr lang="fr-FR" sz="1467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B0C04B2-F55D-48CF-A943-17D0AB9D4587}"/>
              </a:ext>
            </a:extLst>
          </p:cNvPr>
          <p:cNvSpPr txBox="1"/>
          <p:nvPr/>
        </p:nvSpPr>
        <p:spPr>
          <a:xfrm>
            <a:off x="9733109" y="787400"/>
            <a:ext cx="26246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/>
              <a:t>32 </a:t>
            </a:r>
            <a:r>
              <a:rPr lang="fr-FR" sz="1600"/>
              <a:t>attributs dans la BDUni (interne)</a:t>
            </a:r>
          </a:p>
          <a:p>
            <a:r>
              <a:rPr lang="fr-FR" sz="1600" b="1"/>
              <a:t>13</a:t>
            </a:r>
            <a:r>
              <a:rPr lang="fr-FR" sz="1600"/>
              <a:t> attributs diffusés dans la BDTOPO 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D0D57557-1B5D-44BC-9529-9FC5A6CC33EA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defPPr>
              <a:defRPr lang="fr-FR"/>
            </a:defPPr>
            <a:lvl1pPr marL="0" algn="r" defTabSz="914400" rtl="0" eaLnBrk="1" latinLnBrk="0" hangingPunct="1">
              <a:defRPr sz="1100" kern="1200">
                <a:solidFill>
                  <a:srgbClr val="7D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88F01B-8BA8-4E52-9ECA-78FE89B5F248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619BB2F-7D10-4777-8CCB-9F4C6058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DA88ED-280E-40BF-B9FF-A8F6BE5B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195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8" y="1908054"/>
            <a:ext cx="6560590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1219170"/>
            <a:r>
              <a:rPr lang="fr-FR" sz="4400" b="1" dirty="0">
                <a:solidFill>
                  <a:srgbClr val="554538"/>
                </a:solidFill>
                <a:latin typeface="Calibri"/>
                <a:ea typeface="Calibri"/>
                <a:cs typeface="Calibri"/>
              </a:rPr>
              <a:t>3. Nom du GT</a:t>
            </a:r>
            <a:endParaRPr lang="fr-FR" sz="4400" b="1" dirty="0">
              <a:solidFill>
                <a:srgbClr val="554538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5588F01B-8BA8-4E52-9ECA-78FE89B5F248}" type="slidenum">
              <a:rPr lang="fr-FR" sz="1100" smtClean="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19</a:t>
            </a:fld>
            <a:endParaRPr lang="fr-FR" sz="110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93D72F-4250-4D23-879E-8297E259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04/06/2025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FFA339-0DFB-47E8-99EC-295B8CD4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454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864" y="348630"/>
            <a:ext cx="11662887" cy="151121"/>
          </a:xfrm>
        </p:spPr>
        <p:txBody>
          <a:bodyPr lIns="91440" tIns="45720" rIns="91440" bIns="45720" anchor="ctr"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Activité – Nouveau nom du GT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690F5F7-3DCE-4B5B-812C-0636CF2AC060}"/>
              </a:ext>
            </a:extLst>
          </p:cNvPr>
          <p:cNvSpPr>
            <a:spLocks noGrp="1"/>
          </p:cNvSpPr>
          <p:nvPr/>
        </p:nvSpPr>
        <p:spPr>
          <a:xfrm>
            <a:off x="237047" y="1044299"/>
            <a:ext cx="11289293" cy="52117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Nouveau standard englobera une autre thématique : </a:t>
            </a:r>
            <a:r>
              <a:rPr lang="fr-FR" sz="2000" dirty="0">
                <a:solidFill>
                  <a:schemeClr val="tx1"/>
                </a:solidFill>
                <a:latin typeface="+mn-lt"/>
                <a:cs typeface="Arial"/>
              </a:rPr>
              <a:t>DFCI</a:t>
            </a:r>
          </a:p>
          <a:p>
            <a:pPr lvl="1"/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Besoin que le nom reflète les thématiques Transport de bois + Transport DFCI en forêt</a:t>
            </a: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CNIG</a:t>
            </a:r>
          </a:p>
          <a:p>
            <a:pPr lvl="1"/>
            <a:r>
              <a:rPr lang="fr-FR" b="0" dirty="0">
                <a:solidFill>
                  <a:schemeClr val="tx1"/>
                </a:solidFill>
                <a:latin typeface="+mn-lt"/>
                <a:cs typeface="Arial"/>
              </a:rPr>
              <a:t>Unique exigence :  standard CNIG &lt;nom de la thématique&gt;​ </a:t>
            </a:r>
          </a:p>
          <a:p>
            <a:pPr lvl="1"/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Recommandations</a:t>
            </a:r>
          </a:p>
          <a:p>
            <a:pPr lvl="2"/>
            <a:r>
              <a:rPr lang="fr-FR" b="1" dirty="0">
                <a:solidFill>
                  <a:schemeClr val="tx1"/>
                </a:solidFill>
                <a:latin typeface="+mn-lt"/>
                <a:cs typeface="Arial"/>
              </a:rPr>
              <a:t>Nom évocateur mais pas trop long</a:t>
            </a:r>
          </a:p>
          <a:p>
            <a:pPr lvl="2"/>
            <a:r>
              <a:rPr lang="fr-FR" dirty="0">
                <a:latin typeface="+mn-lt"/>
                <a:cs typeface="Arial"/>
              </a:rPr>
              <a:t>Présences des t</a:t>
            </a:r>
            <a:r>
              <a:rPr lang="fr-FR" b="0" dirty="0">
                <a:solidFill>
                  <a:schemeClr val="tx1"/>
                </a:solidFill>
                <a:latin typeface="+mn-lt"/>
                <a:cs typeface="Arial"/>
              </a:rPr>
              <a:t>hèmes communs pour faciliter la </a:t>
            </a:r>
            <a:r>
              <a:rPr lang="fr-FR" b="1" dirty="0">
                <a:solidFill>
                  <a:schemeClr val="tx1"/>
                </a:solidFill>
                <a:latin typeface="+mn-lt"/>
                <a:cs typeface="Arial"/>
              </a:rPr>
              <a:t>découvrabilité</a:t>
            </a:r>
          </a:p>
          <a:p>
            <a:pPr lvl="2"/>
            <a:r>
              <a:rPr lang="fr-FR" b="0" dirty="0">
                <a:solidFill>
                  <a:schemeClr val="tx1"/>
                </a:solidFill>
                <a:latin typeface="+mn-lt"/>
                <a:cs typeface="Arial"/>
              </a:rPr>
              <a:t>Être </a:t>
            </a:r>
            <a:r>
              <a:rPr lang="fr-FR" b="1" dirty="0">
                <a:solidFill>
                  <a:schemeClr val="tx1"/>
                </a:solidFill>
                <a:latin typeface="+mn-lt"/>
                <a:cs typeface="Arial"/>
              </a:rPr>
              <a:t>clair</a:t>
            </a:r>
            <a:r>
              <a:rPr lang="fr-FR" b="0" dirty="0">
                <a:solidFill>
                  <a:schemeClr val="tx1"/>
                </a:solidFill>
                <a:latin typeface="+mn-lt"/>
                <a:cs typeface="Arial"/>
              </a:rPr>
              <a:t> (pas que des acronymes)</a:t>
            </a: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r>
              <a:rPr lang="fr-FR" sz="2000" b="0" dirty="0">
                <a:solidFill>
                  <a:schemeClr val="tx1"/>
                </a:solidFill>
                <a:latin typeface="+mn-lt"/>
                <a:cs typeface="Arial"/>
              </a:rPr>
              <a:t>Activité </a:t>
            </a:r>
            <a:r>
              <a:rPr lang="fr-FR" sz="2000" dirty="0">
                <a:solidFill>
                  <a:schemeClr val="tx1"/>
                </a:solidFill>
                <a:latin typeface="+mn-lt"/>
                <a:cs typeface="Arial"/>
              </a:rPr>
              <a:t>brainstorming - 15min</a:t>
            </a:r>
          </a:p>
          <a:p>
            <a:pPr lvl="1"/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2 groupes</a:t>
            </a:r>
          </a:p>
          <a:p>
            <a:pPr lvl="1"/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Chaque groupe note des propositions sur les tableaux</a:t>
            </a:r>
          </a:p>
          <a:p>
            <a:pPr lvl="1"/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Chacun vote au cours de la journée sur les post-it sur ses préférés</a:t>
            </a:r>
          </a:p>
          <a:p>
            <a:pPr lvl="1"/>
            <a:r>
              <a:rPr lang="fr-FR" sz="1800" b="0" dirty="0">
                <a:solidFill>
                  <a:schemeClr val="tx1"/>
                </a:solidFill>
                <a:latin typeface="+mn-lt"/>
                <a:cs typeface="Arial"/>
              </a:rPr>
              <a:t>Débrief en fin de journée</a:t>
            </a:r>
          </a:p>
          <a:p>
            <a:pPr marL="809625" lvl="2" indent="0">
              <a:buNone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985520" lvl="2" indent="-175895"/>
            <a:endParaRPr lang="fr-FR" sz="2000" dirty="0">
              <a:latin typeface="+mn-lt"/>
              <a:cs typeface="Arial"/>
            </a:endParaRPr>
          </a:p>
          <a:p>
            <a:endParaRPr lang="fr-FR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0" indent="0">
              <a:buNone/>
            </a:pPr>
            <a:endParaRPr lang="en-US" sz="20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/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lvl="1"/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b="0" dirty="0">
              <a:solidFill>
                <a:schemeClr val="tx1"/>
              </a:solidFill>
              <a:latin typeface="+mn-lt"/>
              <a:cs typeface="Arial"/>
            </a:endParaRPr>
          </a:p>
          <a:p>
            <a:endParaRPr lang="fr-FR" sz="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fr-FR" sz="16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FR" sz="1600" b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6FD159-CAD9-46E8-A2CA-1AD407A29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6B1C751-8025-4A1B-AAA3-2415F55EDB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110" y="4361929"/>
            <a:ext cx="1894105" cy="1894105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DBAF0580-FB8A-4119-AC51-5887B47D4E32}"/>
              </a:ext>
            </a:extLst>
          </p:cNvPr>
          <p:cNvGrpSpPr/>
          <p:nvPr/>
        </p:nvGrpSpPr>
        <p:grpSpPr>
          <a:xfrm>
            <a:off x="9766680" y="1380929"/>
            <a:ext cx="1896585" cy="1894100"/>
            <a:chOff x="9766680" y="1380929"/>
            <a:chExt cx="1896585" cy="189410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8F23891D-E9F7-4D93-8CEE-65B64C760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5486" y="1380929"/>
              <a:ext cx="1779596" cy="184568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A620E9AC-67C5-4B62-8198-A65FB874B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6680" y="2551347"/>
              <a:ext cx="697768" cy="72368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3E9BE577-BB95-4672-BA7B-B9214F759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817040" y="2348965"/>
              <a:ext cx="846225" cy="87765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CBFA0EDC-6688-4525-8221-5A483F990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9247" y="2091500"/>
              <a:ext cx="206340" cy="214003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CA9A1192-2386-4C86-99CE-C29D3836AFD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910" y="2198501"/>
            <a:ext cx="512930" cy="5319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0459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66138" y="1567834"/>
            <a:ext cx="9144000" cy="1126068"/>
          </a:xfrm>
        </p:spPr>
        <p:txBody>
          <a:bodyPr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C’est parti!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defPPr>
              <a:defRPr lang="fr-FR"/>
            </a:defPPr>
            <a:lvl1pPr marL="0" algn="r" defTabSz="914400" rtl="0" eaLnBrk="1" latinLnBrk="0" hangingPunct="1">
              <a:defRPr sz="1100" kern="1200">
                <a:solidFill>
                  <a:srgbClr val="7D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88F01B-8BA8-4E52-9ECA-78FE89B5F248}" type="slidenum">
              <a:rPr lang="fr-FR" smtClean="0"/>
              <a:pPr/>
              <a:t>21</a:t>
            </a:fld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DA300A6-1214-4CE5-B62F-7960BD8F275F}"/>
              </a:ext>
            </a:extLst>
          </p:cNvPr>
          <p:cNvGrpSpPr/>
          <p:nvPr/>
        </p:nvGrpSpPr>
        <p:grpSpPr>
          <a:xfrm>
            <a:off x="4413437" y="2992946"/>
            <a:ext cx="3365125" cy="3005044"/>
            <a:chOff x="7896924" y="2442440"/>
            <a:chExt cx="3365125" cy="3005044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9E818032-8A8C-4471-9AF6-2C8BAF2E2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4977" y="244244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4320359-7032-410E-8C3E-DC03D9B43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006" y="4159742"/>
              <a:ext cx="1287742" cy="12877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E7357206-B173-4249-AA16-63D9466EF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974308" y="386279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451B231-91F8-440B-A448-022BC1D68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317" y="348502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2DC852A-1338-4787-BDF3-14F0AC698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924" y="3642027"/>
              <a:ext cx="780550" cy="78055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644828-DF59-476B-AD8D-414DAEDA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396888268"/>
      </p:ext>
    </p:extLst>
  </p:cSld>
  <p:clrMapOvr>
    <a:masterClrMapping/>
  </p:clrMapOvr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3.xml><?xml version="1.0" encoding="utf-8"?>
<a:theme xmlns:a="http://schemas.openxmlformats.org/drawingml/2006/main" name="1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4.xml><?xml version="1.0" encoding="utf-8"?>
<a:theme xmlns:a="http://schemas.openxmlformats.org/drawingml/2006/main" name="SPP-19.078-1.0 - pres VERT">
  <a:themeElements>
    <a:clrScheme name="Personnalisé 2">
      <a:dk1>
        <a:srgbClr val="231F20"/>
      </a:dk1>
      <a:lt1>
        <a:sysClr val="window" lastClr="FFFFFF"/>
      </a:lt1>
      <a:dk2>
        <a:srgbClr val="0AB99B"/>
      </a:dk2>
      <a:lt2>
        <a:srgbClr val="00BEF0"/>
      </a:lt2>
      <a:accent1>
        <a:srgbClr val="96C31E"/>
      </a:accent1>
      <a:accent2>
        <a:srgbClr val="009146"/>
      </a:accent2>
      <a:accent3>
        <a:srgbClr val="FA9B1E"/>
      </a:accent3>
      <a:accent4>
        <a:srgbClr val="C83728"/>
      </a:accent4>
      <a:accent5>
        <a:srgbClr val="D71478"/>
      </a:accent5>
      <a:accent6>
        <a:srgbClr val="5A287D"/>
      </a:accent6>
      <a:hlink>
        <a:srgbClr val="0000FF"/>
      </a:hlink>
      <a:folHlink>
        <a:srgbClr val="7030A0"/>
      </a:folHlink>
    </a:clrScheme>
    <a:fontScheme name="AUSTRALIE - 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T_AUSTRALIE_MASQUE_IGN_V06.pptx" id="{D5DE042C-D723-44E0-AFEA-3E6B437F267A}" vid="{9A020044-FC93-4823-A3EC-FC852C8DBF5B}"/>
    </a:ext>
  </a:extLst>
</a:theme>
</file>

<file path=ppt/theme/theme5.xml><?xml version="1.0" encoding="utf-8"?>
<a:theme xmlns:a="http://schemas.openxmlformats.org/drawingml/2006/main" name="2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6.xml><?xml version="1.0" encoding="utf-8"?>
<a:theme xmlns:a="http://schemas.openxmlformats.org/drawingml/2006/main" name="5_2-Texte-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9C20BCE1-7628-425E-9B34-E384463175B8}"/>
    </a:ext>
  </a:extLst>
</a:theme>
</file>

<file path=ppt/theme/theme7.xml><?xml version="1.0" encoding="utf-8"?>
<a:theme xmlns:a="http://schemas.openxmlformats.org/drawingml/2006/main" name="3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8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0" ma:contentTypeDescription="Crée un document." ma:contentTypeScope="" ma:versionID="f3108455c181cfe97f8bcaca529baa4b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b0d91f42a17a717c0951ffb4a6166412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DD4696-884E-4199-AB2F-0FA1DFAA521D}">
  <ds:schemaRefs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a486f84b-88b9-4459-bbe1-3ce207c7425f"/>
    <ds:schemaRef ds:uri="4d568f87-b25f-475a-a26b-5a1bcde8677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379DE5-2520-4BE3-96F5-3F60B3DA37E3}">
  <ds:schemaRefs>
    <ds:schemaRef ds:uri="4d568f87-b25f-475a-a26b-5a1bcde8677b"/>
    <ds:schemaRef ds:uri="a486f84b-88b9-4459-bbe1-3ce207c742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83</TotalTime>
  <Words>1883</Words>
  <Application>Microsoft Office PowerPoint</Application>
  <PresentationFormat>Grand écran</PresentationFormat>
  <Paragraphs>365</Paragraphs>
  <Slides>21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21</vt:i4>
      </vt:variant>
    </vt:vector>
  </HeadingPairs>
  <TitlesOfParts>
    <vt:vector size="42" baseType="lpstr">
      <vt:lpstr>Aptos</vt:lpstr>
      <vt:lpstr>Arial</vt:lpstr>
      <vt:lpstr>Calibri</vt:lpstr>
      <vt:lpstr>Courier New</vt:lpstr>
      <vt:lpstr>marianne</vt:lpstr>
      <vt:lpstr>marianne</vt:lpstr>
      <vt:lpstr>Roboto</vt:lpstr>
      <vt:lpstr>Symbol</vt:lpstr>
      <vt:lpstr>Webdings</vt:lpstr>
      <vt:lpstr>Webdings,Sans-Serif</vt:lpstr>
      <vt:lpstr>Wingdings</vt:lpstr>
      <vt:lpstr>1-Titre-Texte</vt:lpstr>
      <vt:lpstr>Conclusion</vt:lpstr>
      <vt:lpstr>1_Conclusion</vt:lpstr>
      <vt:lpstr>SPP-19.078-1.0 - pres VERT</vt:lpstr>
      <vt:lpstr>2_Conclusion</vt:lpstr>
      <vt:lpstr>5_2-Texte-Image</vt:lpstr>
      <vt:lpstr>3_Conclusion</vt:lpstr>
      <vt:lpstr>ppt_operateurs_marianne</vt:lpstr>
      <vt:lpstr>1_ppt_operateurs_marianne</vt:lpstr>
      <vt:lpstr>2_ppt_operateurs_marianne</vt:lpstr>
      <vt:lpstr>Présentation PowerPoint</vt:lpstr>
      <vt:lpstr>Présentation PowerPoint</vt:lpstr>
      <vt:lpstr>Modalités de travail en commun</vt:lpstr>
      <vt:lpstr>Présentation PowerPoint</vt:lpstr>
      <vt:lpstr>Contexte</vt:lpstr>
      <vt:lpstr>Objectifs du GT</vt:lpstr>
      <vt:lpstr>BD TOPO</vt:lpstr>
      <vt:lpstr>Présentation PowerPoint</vt:lpstr>
      <vt:lpstr>Organisation et fonctionnement du GT</vt:lpstr>
      <vt:lpstr>Livrables attendus</vt:lpstr>
      <vt:lpstr>Présentation PowerPoint</vt:lpstr>
      <vt:lpstr>3 standards existants</vt:lpstr>
      <vt:lpstr>Procédure de travail</vt:lpstr>
      <vt:lpstr>Présentation PowerPoint</vt:lpstr>
      <vt:lpstr>Classe : Tronçon de route</vt:lpstr>
      <vt:lpstr>Classe : Tronçon de route</vt:lpstr>
      <vt:lpstr>Les objets complexes</vt:lpstr>
      <vt:lpstr>Classe : Route numérotée ou nommée</vt:lpstr>
      <vt:lpstr>Présentation PowerPoint</vt:lpstr>
      <vt:lpstr>Activité – Nouveau nom du GT</vt:lpstr>
      <vt:lpstr>C’est parti!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123</cp:revision>
  <cp:lastPrinted>2023-06-26T09:08:24Z</cp:lastPrinted>
  <dcterms:created xsi:type="dcterms:W3CDTF">2017-08-17T05:12:22Z</dcterms:created>
  <dcterms:modified xsi:type="dcterms:W3CDTF">2025-06-03T15:35:18Z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