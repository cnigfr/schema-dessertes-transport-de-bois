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6"/>
  </p:notesMasterIdLst>
  <p:handoutMasterIdLst>
    <p:handoutMasterId r:id="rId27"/>
  </p:handoutMasterIdLst>
  <p:sldIdLst>
    <p:sldId id="732" r:id="rId5"/>
    <p:sldId id="504" r:id="rId6"/>
    <p:sldId id="772" r:id="rId7"/>
    <p:sldId id="486" r:id="rId8"/>
    <p:sldId id="775" r:id="rId9"/>
    <p:sldId id="776" r:id="rId10"/>
    <p:sldId id="773" r:id="rId11"/>
    <p:sldId id="777" r:id="rId12"/>
    <p:sldId id="791" r:id="rId13"/>
    <p:sldId id="778" r:id="rId14"/>
    <p:sldId id="779" r:id="rId15"/>
    <p:sldId id="788" r:id="rId16"/>
    <p:sldId id="785" r:id="rId17"/>
    <p:sldId id="789" r:id="rId18"/>
    <p:sldId id="792" r:id="rId19"/>
    <p:sldId id="790" r:id="rId20"/>
    <p:sldId id="780" r:id="rId21"/>
    <p:sldId id="781" r:id="rId22"/>
    <p:sldId id="782" r:id="rId23"/>
    <p:sldId id="783" r:id="rId24"/>
    <p:sldId id="784" r:id="rId25"/>
  </p:sldIdLst>
  <p:sldSz cx="9144000" cy="5143500" type="screen16x9"/>
  <p:notesSz cx="6797675" cy="9929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ÉRATEURS" id="{0B896E98-F45E-4768-8620-EDDF394BE181}">
          <p14:sldIdLst>
            <p14:sldId id="732"/>
            <p14:sldId id="504"/>
            <p14:sldId id="772"/>
            <p14:sldId id="486"/>
            <p14:sldId id="775"/>
            <p14:sldId id="776"/>
            <p14:sldId id="773"/>
            <p14:sldId id="777"/>
            <p14:sldId id="791"/>
            <p14:sldId id="778"/>
            <p14:sldId id="779"/>
            <p14:sldId id="788"/>
            <p14:sldId id="785"/>
            <p14:sldId id="789"/>
            <p14:sldId id="792"/>
            <p14:sldId id="790"/>
            <p14:sldId id="780"/>
            <p14:sldId id="781"/>
            <p14:sldId id="782"/>
            <p14:sldId id="783"/>
            <p14:sldId id="784"/>
          </p14:sldIdLst>
        </p14:section>
        <p14:section name="MÉTHODOLOGIE" id="{EB03BDE6-D677-4574-A7BF-9721F91BDEB8}">
          <p14:sldIdLst/>
        </p14:section>
      </p14:sectionLst>
    </p:ex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99"/>
    <a:srgbClr val="99FF99"/>
    <a:srgbClr val="CCECFF"/>
    <a:srgbClr val="FF0000"/>
    <a:srgbClr val="0000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2279" autoAdjust="0"/>
  </p:normalViewPr>
  <p:slideViewPr>
    <p:cSldViewPr snapToGrid="0">
      <p:cViewPr varScale="1">
        <p:scale>
          <a:sx n="133" d="100"/>
          <a:sy n="133" d="100"/>
        </p:scale>
        <p:origin x="1122" y="120"/>
      </p:cViewPr>
      <p:guideLst>
        <p:guide orient="horz" pos="1620"/>
        <p:guide orient="horz" pos="191"/>
        <p:guide orient="horz" pos="854"/>
        <p:guide orient="horz" pos="821"/>
        <p:guide orient="horz" pos="3049"/>
        <p:guide orient="horz" pos="3151"/>
        <p:guide pos="2880"/>
        <p:guide pos="476"/>
        <p:guide pos="5193"/>
        <p:guide pos="546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50443" y="0"/>
            <a:ext cx="2945659" cy="496491"/>
          </a:xfrm>
          <a:prstGeom prst="rect">
            <a:avLst/>
          </a:prstGeom>
        </p:spPr>
        <p:txBody>
          <a:bodyPr vert="horz" lIns="91440" tIns="45720" rIns="91440" bIns="45720" rtlCol="0"/>
          <a:lstStyle>
            <a:lvl1pPr algn="r">
              <a:defRPr sz="1200"/>
            </a:lvl1pPr>
          </a:lstStyle>
          <a:p>
            <a:fld id="{716EEE2E-9DC0-42CD-92F3-7496B4F28FDE}" type="datetimeFigureOut">
              <a:rPr lang="fr-FR" smtClean="0"/>
              <a:t>04/06/2025</a:t>
            </a:fld>
            <a:endParaRPr lang="fr-FR"/>
          </a:p>
        </p:txBody>
      </p:sp>
      <p:sp>
        <p:nvSpPr>
          <p:cNvPr id="4" name="Espace réservé du pied de page 3"/>
          <p:cNvSpPr>
            <a:spLocks noGrp="1"/>
          </p:cNvSpPr>
          <p:nvPr>
            <p:ph type="ftr" sz="quarter" idx="2"/>
          </p:nvPr>
        </p:nvSpPr>
        <p:spPr>
          <a:xfrm>
            <a:off x="0" y="9431599"/>
            <a:ext cx="2945659" cy="496491"/>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50443" y="9431599"/>
            <a:ext cx="2945659" cy="496491"/>
          </a:xfrm>
          <a:prstGeom prst="rect">
            <a:avLst/>
          </a:prstGeom>
        </p:spPr>
        <p:txBody>
          <a:bodyPr vert="horz" lIns="91440" tIns="45720" rIns="91440" bIns="45720" rtlCol="0" anchor="b"/>
          <a:lstStyle>
            <a:lvl1pPr algn="r">
              <a:defRPr sz="1200"/>
            </a:lvl1pPr>
          </a:lstStyle>
          <a:p>
            <a:fld id="{D486B835-EEA5-4E85-85A7-2F7DE571224D}" type="slidenum">
              <a:rPr lang="fr-FR" smtClean="0"/>
              <a:t>‹N°›</a:t>
            </a:fld>
            <a:endParaRPr lang="fr-FR"/>
          </a:p>
        </p:txBody>
      </p:sp>
    </p:spTree>
    <p:extLst>
      <p:ext uri="{BB962C8B-B14F-4D97-AF65-F5344CB8AC3E}">
        <p14:creationId xmlns:p14="http://schemas.microsoft.com/office/powerpoint/2010/main" val="2867914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atin typeface="Arial" pitchFamily="34" charset="0"/>
              </a:defRPr>
            </a:lvl1pPr>
          </a:lstStyle>
          <a:p>
            <a:endParaRPr lang="fr-FR"/>
          </a:p>
        </p:txBody>
      </p:sp>
      <p:sp>
        <p:nvSpPr>
          <p:cNvPr id="3" name="Espace réservé de la date 2"/>
          <p:cNvSpPr>
            <a:spLocks noGrp="1"/>
          </p:cNvSpPr>
          <p:nvPr>
            <p:ph type="dt" idx="1"/>
          </p:nvPr>
        </p:nvSpPr>
        <p:spPr>
          <a:xfrm>
            <a:off x="3850443" y="0"/>
            <a:ext cx="2945659" cy="496491"/>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04/06/2025</a:t>
            </a:fld>
            <a:endParaRPr lang="fr-FR"/>
          </a:p>
        </p:txBody>
      </p:sp>
      <p:sp>
        <p:nvSpPr>
          <p:cNvPr id="4" name="Espace réservé de l'image des diapositives 3"/>
          <p:cNvSpPr>
            <a:spLocks noGrp="1" noRot="1" noChangeAspect="1"/>
          </p:cNvSpPr>
          <p:nvPr>
            <p:ph type="sldImg" idx="2"/>
          </p:nvPr>
        </p:nvSpPr>
        <p:spPr>
          <a:xfrm>
            <a:off x="88900" y="744538"/>
            <a:ext cx="6619875" cy="37242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9768" y="4716661"/>
            <a:ext cx="5438140" cy="446841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31599"/>
            <a:ext cx="2945659" cy="496491"/>
          </a:xfrm>
          <a:prstGeom prst="rect">
            <a:avLst/>
          </a:prstGeom>
        </p:spPr>
        <p:txBody>
          <a:bodyPr vert="horz" lIns="91440" tIns="45720" rIns="91440" bIns="45720" rtlCol="0" anchor="b"/>
          <a:lstStyle>
            <a:lvl1pPr algn="l">
              <a:defRPr sz="1200">
                <a:latin typeface="Arial" pitchFamily="34" charset="0"/>
              </a:defRPr>
            </a:lvl1pPr>
          </a:lstStyle>
          <a:p>
            <a:endParaRPr lang="fr-FR"/>
          </a:p>
        </p:txBody>
      </p:sp>
      <p:sp>
        <p:nvSpPr>
          <p:cNvPr id="7" name="Espace réservé du numéro de diapositive 6"/>
          <p:cNvSpPr>
            <a:spLocks noGrp="1"/>
          </p:cNvSpPr>
          <p:nvPr>
            <p:ph type="sldNum" sz="quarter" idx="5"/>
          </p:nvPr>
        </p:nvSpPr>
        <p:spPr>
          <a:xfrm>
            <a:off x="3850443" y="9431599"/>
            <a:ext cx="2945659" cy="496491"/>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6CD8F-B7ED-4A05-9FB1-A01CC0EF02CC}" type="slidenum">
              <a:rPr kumimoji="0" lang="fr-FR"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868915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B06CD8F-B7ED-4A05-9FB1-A01CC0EF02CC}" type="slidenum">
              <a:rPr lang="fr-FR" smtClean="0"/>
              <a:pPr/>
              <a:t>2</a:t>
            </a:fld>
            <a:endParaRPr lang="fr-FR"/>
          </a:p>
        </p:txBody>
      </p:sp>
    </p:spTree>
    <p:extLst>
      <p:ext uri="{BB962C8B-B14F-4D97-AF65-F5344CB8AC3E}">
        <p14:creationId xmlns:p14="http://schemas.microsoft.com/office/powerpoint/2010/main" val="1126846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4963500"/>
            <a:ext cx="180000" cy="180000"/>
          </a:xfrm>
          <a:ln>
            <a:solidFill>
              <a:schemeClr val="tx1">
                <a:alpha val="0"/>
              </a:schemeClr>
            </a:solidFill>
          </a:ln>
        </p:spPr>
        <p:txBody>
          <a:bodyPr/>
          <a:lstStyle>
            <a:lvl1pPr>
              <a:defRPr sz="100">
                <a:solidFill>
                  <a:schemeClr val="tx1">
                    <a:alpha val="0"/>
                  </a:schemeClr>
                </a:solidFill>
              </a:defRPr>
            </a:lvl1pPr>
          </a:lstStyle>
          <a:p>
            <a:r>
              <a:rPr lang="fr-FR"/>
              <a:t>04/06/2025</a:t>
            </a:r>
          </a:p>
        </p:txBody>
      </p:sp>
      <p:sp>
        <p:nvSpPr>
          <p:cNvPr id="5" name="Espace réservé du pied de page 4"/>
          <p:cNvSpPr>
            <a:spLocks noGrp="1"/>
          </p:cNvSpPr>
          <p:nvPr>
            <p:ph type="ftr" sz="quarter" idx="11"/>
          </p:nvPr>
        </p:nvSpPr>
        <p:spPr bwMode="gray">
          <a:xfrm>
            <a:off x="720000" y="3919897"/>
            <a:ext cx="3240000" cy="900000"/>
          </a:xfrm>
        </p:spPr>
        <p:txBody>
          <a:bodyPr anchor="b" anchorCtr="0"/>
          <a:lstStyle>
            <a:lvl1pPr>
              <a:defRPr sz="1150"/>
            </a:lvl1pPr>
          </a:lstStyle>
          <a:p>
            <a:r>
              <a:rPr lang="fr-FR"/>
              <a:t>Institut national de l’information  géographique et forestière</a:t>
            </a:r>
          </a:p>
        </p:txBody>
      </p:sp>
      <p:sp>
        <p:nvSpPr>
          <p:cNvPr id="6" name="Espace réservé du numéro de diapositive 5"/>
          <p:cNvSpPr>
            <a:spLocks noGrp="1"/>
          </p:cNvSpPr>
          <p:nvPr>
            <p:ph type="sldNum" sz="quarter" idx="12"/>
          </p:nvPr>
        </p:nvSpPr>
        <p:spPr bwMode="gray">
          <a:xfrm>
            <a:off x="0" y="4963500"/>
            <a:ext cx="180000" cy="180000"/>
          </a:xfr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pic>
        <p:nvPicPr>
          <p:cNvPr id="2" name="Imag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540000" y="360000"/>
            <a:ext cx="2700000" cy="2700000"/>
          </a:xfrm>
          <a:prstGeom prst="rect">
            <a:avLst/>
          </a:prstGeom>
        </p:spPr>
      </p:pic>
      <p:grpSp>
        <p:nvGrpSpPr>
          <p:cNvPr id="8" name="Group 13"/>
          <p:cNvGrpSpPr>
            <a:grpSpLocks noChangeAspect="1"/>
          </p:cNvGrpSpPr>
          <p:nvPr userDrawn="1"/>
        </p:nvGrpSpPr>
        <p:grpSpPr bwMode="auto">
          <a:xfrm>
            <a:off x="7190931" y="540000"/>
            <a:ext cx="1208660" cy="1240800"/>
            <a:chOff x="2023" y="1221"/>
            <a:chExt cx="1710" cy="1878"/>
          </a:xfrm>
        </p:grpSpPr>
        <p:sp>
          <p:nvSpPr>
            <p:cNvPr id="9" name="Rectangle 14"/>
            <p:cNvSpPr>
              <a:spLocks noChangeArrowheads="1"/>
            </p:cNvSpPr>
            <p:nvPr userDrawn="1"/>
          </p:nvSpPr>
          <p:spPr bwMode="auto">
            <a:xfrm>
              <a:off x="2023"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1" name="Freeform 15"/>
            <p:cNvSpPr>
              <a:spLocks/>
            </p:cNvSpPr>
            <p:nvPr userDrawn="1"/>
          </p:nvSpPr>
          <p:spPr bwMode="auto">
            <a:xfrm>
              <a:off x="2073"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5" y="0"/>
                    <a:pt x="17" y="1"/>
                    <a:pt x="19" y="3"/>
                  </a:cubicBezTo>
                  <a:cubicBezTo>
                    <a:pt x="20"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2" name="Freeform 16"/>
            <p:cNvSpPr>
              <a:spLocks/>
            </p:cNvSpPr>
            <p:nvPr userDrawn="1"/>
          </p:nvSpPr>
          <p:spPr bwMode="auto">
            <a:xfrm>
              <a:off x="2201" y="2206"/>
              <a:ext cx="88" cy="112"/>
            </a:xfrm>
            <a:custGeom>
              <a:avLst/>
              <a:gdLst>
                <a:gd name="T0" fmla="*/ 58 w 58"/>
                <a:gd name="T1" fmla="*/ 11 h 74"/>
                <a:gd name="T2" fmla="*/ 24 w 58"/>
                <a:gd name="T3" fmla="*/ 11 h 74"/>
                <a:gd name="T4" fmla="*/ 14 w 58"/>
                <a:gd name="T5" fmla="*/ 14 h 74"/>
                <a:gd name="T6" fmla="*/ 13 w 58"/>
                <a:gd name="T7" fmla="*/ 24 h 74"/>
                <a:gd name="T8" fmla="*/ 16 w 58"/>
                <a:gd name="T9" fmla="*/ 30 h 74"/>
                <a:gd name="T10" fmla="*/ 24 w 58"/>
                <a:gd name="T11" fmla="*/ 32 h 74"/>
                <a:gd name="T12" fmla="*/ 38 w 58"/>
                <a:gd name="T13" fmla="*/ 32 h 74"/>
                <a:gd name="T14" fmla="*/ 53 w 58"/>
                <a:gd name="T15" fmla="*/ 36 h 74"/>
                <a:gd name="T16" fmla="*/ 58 w 58"/>
                <a:gd name="T17" fmla="*/ 47 h 74"/>
                <a:gd name="T18" fmla="*/ 58 w 58"/>
                <a:gd name="T19" fmla="*/ 58 h 74"/>
                <a:gd name="T20" fmla="*/ 53 w 58"/>
                <a:gd name="T21" fmla="*/ 70 h 74"/>
                <a:gd name="T22" fmla="*/ 38 w 58"/>
                <a:gd name="T23" fmla="*/ 74 h 74"/>
                <a:gd name="T24" fmla="*/ 0 w 58"/>
                <a:gd name="T25" fmla="*/ 74 h 74"/>
                <a:gd name="T26" fmla="*/ 0 w 58"/>
                <a:gd name="T27" fmla="*/ 63 h 74"/>
                <a:gd name="T28" fmla="*/ 34 w 58"/>
                <a:gd name="T29" fmla="*/ 63 h 74"/>
                <a:gd name="T30" fmla="*/ 44 w 58"/>
                <a:gd name="T31" fmla="*/ 60 h 74"/>
                <a:gd name="T32" fmla="*/ 45 w 58"/>
                <a:gd name="T33" fmla="*/ 50 h 74"/>
                <a:gd name="T34" fmla="*/ 34 w 58"/>
                <a:gd name="T35" fmla="*/ 42 h 74"/>
                <a:gd name="T36" fmla="*/ 20 w 58"/>
                <a:gd name="T37" fmla="*/ 42 h 74"/>
                <a:gd name="T38" fmla="*/ 6 w 58"/>
                <a:gd name="T39" fmla="*/ 38 h 74"/>
                <a:gd name="T40" fmla="*/ 0 w 58"/>
                <a:gd name="T41" fmla="*/ 27 h 74"/>
                <a:gd name="T42" fmla="*/ 0 w 58"/>
                <a:gd name="T43" fmla="*/ 16 h 74"/>
                <a:gd name="T44" fmla="*/ 6 w 58"/>
                <a:gd name="T45" fmla="*/ 3 h 74"/>
                <a:gd name="T46" fmla="*/ 20 w 58"/>
                <a:gd name="T47" fmla="*/ 0 h 74"/>
                <a:gd name="T48" fmla="*/ 58 w 58"/>
                <a:gd name="T49" fmla="*/ 0 h 74"/>
                <a:gd name="T50" fmla="*/ 58 w 58"/>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8" h="74">
                  <a:moveTo>
                    <a:pt x="58" y="11"/>
                  </a:moveTo>
                  <a:cubicBezTo>
                    <a:pt x="24" y="11"/>
                    <a:pt x="24" y="11"/>
                    <a:pt x="24" y="11"/>
                  </a:cubicBezTo>
                  <a:cubicBezTo>
                    <a:pt x="19" y="11"/>
                    <a:pt x="15" y="12"/>
                    <a:pt x="14" y="14"/>
                  </a:cubicBezTo>
                  <a:cubicBezTo>
                    <a:pt x="13" y="16"/>
                    <a:pt x="13" y="19"/>
                    <a:pt x="13" y="24"/>
                  </a:cubicBezTo>
                  <a:cubicBezTo>
                    <a:pt x="13" y="26"/>
                    <a:pt x="14" y="28"/>
                    <a:pt x="16" y="30"/>
                  </a:cubicBezTo>
                  <a:cubicBezTo>
                    <a:pt x="18" y="31"/>
                    <a:pt x="21" y="32"/>
                    <a:pt x="24" y="32"/>
                  </a:cubicBezTo>
                  <a:cubicBezTo>
                    <a:pt x="38" y="32"/>
                    <a:pt x="38" y="32"/>
                    <a:pt x="38" y="32"/>
                  </a:cubicBezTo>
                  <a:cubicBezTo>
                    <a:pt x="44" y="32"/>
                    <a:pt x="49" y="33"/>
                    <a:pt x="53" y="36"/>
                  </a:cubicBezTo>
                  <a:cubicBezTo>
                    <a:pt x="56" y="38"/>
                    <a:pt x="58" y="42"/>
                    <a:pt x="58" y="47"/>
                  </a:cubicBezTo>
                  <a:cubicBezTo>
                    <a:pt x="58" y="58"/>
                    <a:pt x="58" y="58"/>
                    <a:pt x="58" y="58"/>
                  </a:cubicBezTo>
                  <a:cubicBezTo>
                    <a:pt x="58" y="64"/>
                    <a:pt x="56"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1" y="42"/>
                    <a:pt x="34" y="42"/>
                  </a:cubicBezTo>
                  <a:cubicBezTo>
                    <a:pt x="20" y="42"/>
                    <a:pt x="20" y="42"/>
                    <a:pt x="20" y="42"/>
                  </a:cubicBezTo>
                  <a:cubicBezTo>
                    <a:pt x="14" y="42"/>
                    <a:pt x="9" y="41"/>
                    <a:pt x="6" y="38"/>
                  </a:cubicBezTo>
                  <a:cubicBezTo>
                    <a:pt x="2" y="36"/>
                    <a:pt x="0" y="32"/>
                    <a:pt x="0" y="27"/>
                  </a:cubicBezTo>
                  <a:cubicBezTo>
                    <a:pt x="0" y="16"/>
                    <a:pt x="0" y="16"/>
                    <a:pt x="0" y="16"/>
                  </a:cubicBezTo>
                  <a:cubicBezTo>
                    <a:pt x="0" y="11"/>
                    <a:pt x="2" y="7"/>
                    <a:pt x="6" y="3"/>
                  </a:cubicBezTo>
                  <a:cubicBezTo>
                    <a:pt x="9" y="1"/>
                    <a:pt x="14" y="0"/>
                    <a:pt x="20" y="0"/>
                  </a:cubicBezTo>
                  <a:cubicBezTo>
                    <a:pt x="58" y="0"/>
                    <a:pt x="58" y="0"/>
                    <a:pt x="58" y="0"/>
                  </a:cubicBezTo>
                  <a:lnTo>
                    <a:pt x="58"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3" name="Freeform 17"/>
            <p:cNvSpPr>
              <a:spLocks/>
            </p:cNvSpPr>
            <p:nvPr userDrawn="1"/>
          </p:nvSpPr>
          <p:spPr bwMode="auto">
            <a:xfrm>
              <a:off x="231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 name="Rectangle 18"/>
            <p:cNvSpPr>
              <a:spLocks noChangeArrowheads="1"/>
            </p:cNvSpPr>
            <p:nvPr userDrawn="1"/>
          </p:nvSpPr>
          <p:spPr bwMode="auto">
            <a:xfrm>
              <a:off x="2422" y="2206"/>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 name="Freeform 19"/>
            <p:cNvSpPr>
              <a:spLocks/>
            </p:cNvSpPr>
            <p:nvPr userDrawn="1"/>
          </p:nvSpPr>
          <p:spPr bwMode="auto">
            <a:xfrm>
              <a:off x="2464" y="2206"/>
              <a:ext cx="87" cy="112"/>
            </a:xfrm>
            <a:custGeom>
              <a:avLst/>
              <a:gdLst>
                <a:gd name="T0" fmla="*/ 87 w 87"/>
                <a:gd name="T1" fmla="*/ 17 h 112"/>
                <a:gd name="T2" fmla="*/ 53 w 87"/>
                <a:gd name="T3" fmla="*/ 17 h 112"/>
                <a:gd name="T4" fmla="*/ 53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3" y="17"/>
                  </a:lnTo>
                  <a:lnTo>
                    <a:pt x="53"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 name="Freeform 20"/>
            <p:cNvSpPr>
              <a:spLocks/>
            </p:cNvSpPr>
            <p:nvPr userDrawn="1"/>
          </p:nvSpPr>
          <p:spPr bwMode="auto">
            <a:xfrm>
              <a:off x="2572" y="2206"/>
              <a:ext cx="100" cy="112"/>
            </a:xfrm>
            <a:custGeom>
              <a:avLst/>
              <a:gdLst>
                <a:gd name="T0" fmla="*/ 66 w 66"/>
                <a:gd name="T1" fmla="*/ 56 h 74"/>
                <a:gd name="T2" fmla="*/ 65 w 66"/>
                <a:gd name="T3" fmla="*/ 63 h 74"/>
                <a:gd name="T4" fmla="*/ 60 w 66"/>
                <a:gd name="T5" fmla="*/ 70 h 74"/>
                <a:gd name="T6" fmla="*/ 52 w 66"/>
                <a:gd name="T7" fmla="*/ 74 h 74"/>
                <a:gd name="T8" fmla="*/ 43 w 66"/>
                <a:gd name="T9" fmla="*/ 74 h 74"/>
                <a:gd name="T10" fmla="*/ 23 w 66"/>
                <a:gd name="T11" fmla="*/ 74 h 74"/>
                <a:gd name="T12" fmla="*/ 14 w 66"/>
                <a:gd name="T13" fmla="*/ 74 h 74"/>
                <a:gd name="T14" fmla="*/ 6 w 66"/>
                <a:gd name="T15" fmla="*/ 70 h 74"/>
                <a:gd name="T16" fmla="*/ 1 w 66"/>
                <a:gd name="T17" fmla="*/ 63 h 74"/>
                <a:gd name="T18" fmla="*/ 0 w 66"/>
                <a:gd name="T19" fmla="*/ 56 h 74"/>
                <a:gd name="T20" fmla="*/ 0 w 66"/>
                <a:gd name="T21" fmla="*/ 0 h 74"/>
                <a:gd name="T22" fmla="*/ 14 w 66"/>
                <a:gd name="T23" fmla="*/ 0 h 74"/>
                <a:gd name="T24" fmla="*/ 14 w 66"/>
                <a:gd name="T25" fmla="*/ 54 h 74"/>
                <a:gd name="T26" fmla="*/ 16 w 66"/>
                <a:gd name="T27" fmla="*/ 61 h 74"/>
                <a:gd name="T28" fmla="*/ 26 w 66"/>
                <a:gd name="T29" fmla="*/ 63 h 74"/>
                <a:gd name="T30" fmla="*/ 40 w 66"/>
                <a:gd name="T31" fmla="*/ 63 h 74"/>
                <a:gd name="T32" fmla="*/ 50 w 66"/>
                <a:gd name="T33" fmla="*/ 61 h 74"/>
                <a:gd name="T34" fmla="*/ 53 w 66"/>
                <a:gd name="T35" fmla="*/ 54 h 74"/>
                <a:gd name="T36" fmla="*/ 53 w 66"/>
                <a:gd name="T37" fmla="*/ 0 h 74"/>
                <a:gd name="T38" fmla="*/ 66 w 66"/>
                <a:gd name="T39" fmla="*/ 0 h 74"/>
                <a:gd name="T40" fmla="*/ 66 w 66"/>
                <a:gd name="T41" fmla="*/ 5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74">
                  <a:moveTo>
                    <a:pt x="66" y="56"/>
                  </a:moveTo>
                  <a:cubicBezTo>
                    <a:pt x="66" y="59"/>
                    <a:pt x="65" y="62"/>
                    <a:pt x="65" y="63"/>
                  </a:cubicBezTo>
                  <a:cubicBezTo>
                    <a:pt x="64" y="66"/>
                    <a:pt x="62" y="68"/>
                    <a:pt x="60" y="70"/>
                  </a:cubicBezTo>
                  <a:cubicBezTo>
                    <a:pt x="58" y="72"/>
                    <a:pt x="55" y="73"/>
                    <a:pt x="52" y="74"/>
                  </a:cubicBezTo>
                  <a:cubicBezTo>
                    <a:pt x="51" y="74"/>
                    <a:pt x="48" y="74"/>
                    <a:pt x="43" y="74"/>
                  </a:cubicBezTo>
                  <a:cubicBezTo>
                    <a:pt x="23" y="74"/>
                    <a:pt x="23" y="74"/>
                    <a:pt x="23" y="74"/>
                  </a:cubicBezTo>
                  <a:cubicBezTo>
                    <a:pt x="19" y="74"/>
                    <a:pt x="16" y="74"/>
                    <a:pt x="14" y="74"/>
                  </a:cubicBezTo>
                  <a:cubicBezTo>
                    <a:pt x="11" y="73"/>
                    <a:pt x="8" y="72"/>
                    <a:pt x="6" y="70"/>
                  </a:cubicBezTo>
                  <a:cubicBezTo>
                    <a:pt x="4" y="68"/>
                    <a:pt x="2" y="66"/>
                    <a:pt x="1" y="63"/>
                  </a:cubicBezTo>
                  <a:cubicBezTo>
                    <a:pt x="1" y="62"/>
                    <a:pt x="0" y="59"/>
                    <a:pt x="0" y="56"/>
                  </a:cubicBezTo>
                  <a:cubicBezTo>
                    <a:pt x="0" y="0"/>
                    <a:pt x="0" y="0"/>
                    <a:pt x="0" y="0"/>
                  </a:cubicBezTo>
                  <a:cubicBezTo>
                    <a:pt x="14" y="0"/>
                    <a:pt x="14" y="0"/>
                    <a:pt x="14" y="0"/>
                  </a:cubicBezTo>
                  <a:cubicBezTo>
                    <a:pt x="14" y="54"/>
                    <a:pt x="14" y="54"/>
                    <a:pt x="14" y="54"/>
                  </a:cubicBezTo>
                  <a:cubicBezTo>
                    <a:pt x="14" y="57"/>
                    <a:pt x="14" y="60"/>
                    <a:pt x="16" y="61"/>
                  </a:cubicBezTo>
                  <a:cubicBezTo>
                    <a:pt x="18" y="63"/>
                    <a:pt x="21" y="63"/>
                    <a:pt x="26" y="63"/>
                  </a:cubicBezTo>
                  <a:cubicBezTo>
                    <a:pt x="40" y="63"/>
                    <a:pt x="40" y="63"/>
                    <a:pt x="40" y="63"/>
                  </a:cubicBezTo>
                  <a:cubicBezTo>
                    <a:pt x="45" y="63"/>
                    <a:pt x="48" y="63"/>
                    <a:pt x="50" y="61"/>
                  </a:cubicBezTo>
                  <a:cubicBezTo>
                    <a:pt x="52" y="60"/>
                    <a:pt x="53" y="58"/>
                    <a:pt x="53" y="54"/>
                  </a:cubicBezTo>
                  <a:cubicBezTo>
                    <a:pt x="53" y="0"/>
                    <a:pt x="53" y="0"/>
                    <a:pt x="53" y="0"/>
                  </a:cubicBezTo>
                  <a:cubicBezTo>
                    <a:pt x="66" y="0"/>
                    <a:pt x="66" y="0"/>
                    <a:pt x="66" y="0"/>
                  </a:cubicBezTo>
                  <a:lnTo>
                    <a:pt x="66"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 name="Freeform 21"/>
            <p:cNvSpPr>
              <a:spLocks/>
            </p:cNvSpPr>
            <p:nvPr userDrawn="1"/>
          </p:nvSpPr>
          <p:spPr bwMode="auto">
            <a:xfrm>
              <a:off x="269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 name="Freeform 22"/>
            <p:cNvSpPr>
              <a:spLocks/>
            </p:cNvSpPr>
            <p:nvPr userDrawn="1"/>
          </p:nvSpPr>
          <p:spPr bwMode="auto">
            <a:xfrm>
              <a:off x="2851"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7" y="1"/>
                    <a:pt x="18" y="3"/>
                  </a:cubicBezTo>
                  <a:cubicBezTo>
                    <a:pt x="19"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 name="Freeform 23"/>
            <p:cNvSpPr>
              <a:spLocks noEditPoints="1"/>
            </p:cNvSpPr>
            <p:nvPr userDrawn="1"/>
          </p:nvSpPr>
          <p:spPr bwMode="auto">
            <a:xfrm>
              <a:off x="2970"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3"/>
                    <a:pt x="35" y="0"/>
                    <a:pt x="40" y="0"/>
                  </a:cubicBezTo>
                  <a:cubicBezTo>
                    <a:pt x="45" y="0"/>
                    <a:pt x="49" y="3"/>
                    <a:pt x="51"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 name="Freeform 24"/>
            <p:cNvSpPr>
              <a:spLocks/>
            </p:cNvSpPr>
            <p:nvPr userDrawn="1"/>
          </p:nvSpPr>
          <p:spPr bwMode="auto">
            <a:xfrm>
              <a:off x="3091" y="2206"/>
              <a:ext cx="88" cy="112"/>
            </a:xfrm>
            <a:custGeom>
              <a:avLst/>
              <a:gdLst>
                <a:gd name="T0" fmla="*/ 88 w 88"/>
                <a:gd name="T1" fmla="*/ 17 h 112"/>
                <a:gd name="T2" fmla="*/ 54 w 88"/>
                <a:gd name="T3" fmla="*/ 17 h 112"/>
                <a:gd name="T4" fmla="*/ 54 w 88"/>
                <a:gd name="T5" fmla="*/ 112 h 112"/>
                <a:gd name="T6" fmla="*/ 35 w 88"/>
                <a:gd name="T7" fmla="*/ 112 h 112"/>
                <a:gd name="T8" fmla="*/ 35 w 88"/>
                <a:gd name="T9" fmla="*/ 17 h 112"/>
                <a:gd name="T10" fmla="*/ 0 w 88"/>
                <a:gd name="T11" fmla="*/ 17 h 112"/>
                <a:gd name="T12" fmla="*/ 0 w 88"/>
                <a:gd name="T13" fmla="*/ 0 h 112"/>
                <a:gd name="T14" fmla="*/ 88 w 88"/>
                <a:gd name="T15" fmla="*/ 0 h 112"/>
                <a:gd name="T16" fmla="*/ 88 w 88"/>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7"/>
                  </a:moveTo>
                  <a:lnTo>
                    <a:pt x="54" y="17"/>
                  </a:lnTo>
                  <a:lnTo>
                    <a:pt x="54" y="112"/>
                  </a:lnTo>
                  <a:lnTo>
                    <a:pt x="35" y="112"/>
                  </a:lnTo>
                  <a:lnTo>
                    <a:pt x="35" y="17"/>
                  </a:lnTo>
                  <a:lnTo>
                    <a:pt x="0" y="17"/>
                  </a:lnTo>
                  <a:lnTo>
                    <a:pt x="0" y="0"/>
                  </a:lnTo>
                  <a:lnTo>
                    <a:pt x="88" y="0"/>
                  </a:lnTo>
                  <a:lnTo>
                    <a:pt x="88"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 name="Rectangle 25"/>
            <p:cNvSpPr>
              <a:spLocks noChangeArrowheads="1"/>
            </p:cNvSpPr>
            <p:nvPr userDrawn="1"/>
          </p:nvSpPr>
          <p:spPr bwMode="auto">
            <a:xfrm>
              <a:off x="3201"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 name="Freeform 26"/>
            <p:cNvSpPr>
              <a:spLocks noEditPoints="1"/>
            </p:cNvSpPr>
            <p:nvPr userDrawn="1"/>
          </p:nvSpPr>
          <p:spPr bwMode="auto">
            <a:xfrm>
              <a:off x="3251" y="2206"/>
              <a:ext cx="96" cy="112"/>
            </a:xfrm>
            <a:custGeom>
              <a:avLst/>
              <a:gdLst>
                <a:gd name="T0" fmla="*/ 64 w 64"/>
                <a:gd name="T1" fmla="*/ 57 h 74"/>
                <a:gd name="T2" fmla="*/ 42 w 64"/>
                <a:gd name="T3" fmla="*/ 74 h 74"/>
                <a:gd name="T4" fmla="*/ 22 w 64"/>
                <a:gd name="T5" fmla="*/ 74 h 74"/>
                <a:gd name="T6" fmla="*/ 7 w 64"/>
                <a:gd name="T7" fmla="*/ 71 h 74"/>
                <a:gd name="T8" fmla="*/ 0 w 64"/>
                <a:gd name="T9" fmla="*/ 58 h 74"/>
                <a:gd name="T10" fmla="*/ 0 w 64"/>
                <a:gd name="T11" fmla="*/ 17 h 74"/>
                <a:gd name="T12" fmla="*/ 7 w 64"/>
                <a:gd name="T13" fmla="*/ 4 h 74"/>
                <a:gd name="T14" fmla="*/ 22 w 64"/>
                <a:gd name="T15" fmla="*/ 0 h 74"/>
                <a:gd name="T16" fmla="*/ 43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6 w 64"/>
                <a:gd name="T31" fmla="*/ 11 h 74"/>
                <a:gd name="T32" fmla="*/ 16 w 64"/>
                <a:gd name="T33" fmla="*/ 13 h 74"/>
                <a:gd name="T34" fmla="*/ 14 w 64"/>
                <a:gd name="T35" fmla="*/ 20 h 74"/>
                <a:gd name="T36" fmla="*/ 14 w 64"/>
                <a:gd name="T37" fmla="*/ 54 h 74"/>
                <a:gd name="T38" fmla="*/ 17 w 64"/>
                <a:gd name="T39" fmla="*/ 62 h 74"/>
                <a:gd name="T40" fmla="*/ 26 w 64"/>
                <a:gd name="T41" fmla="*/ 63 h 74"/>
                <a:gd name="T42" fmla="*/ 39 w 64"/>
                <a:gd name="T43" fmla="*/ 63 h 74"/>
                <a:gd name="T44" fmla="*/ 48 w 64"/>
                <a:gd name="T45" fmla="*/ 62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1"/>
                  </a:cubicBezTo>
                  <a:cubicBezTo>
                    <a:pt x="2" y="68"/>
                    <a:pt x="0" y="63"/>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7"/>
                  </a:lnTo>
                  <a:close/>
                  <a:moveTo>
                    <a:pt x="51" y="55"/>
                  </a:moveTo>
                  <a:cubicBezTo>
                    <a:pt x="51" y="20"/>
                    <a:pt x="51" y="20"/>
                    <a:pt x="51" y="20"/>
                  </a:cubicBezTo>
                  <a:cubicBezTo>
                    <a:pt x="51" y="17"/>
                    <a:pt x="50" y="14"/>
                    <a:pt x="48" y="13"/>
                  </a:cubicBezTo>
                  <a:cubicBezTo>
                    <a:pt x="47" y="12"/>
                    <a:pt x="44" y="11"/>
                    <a:pt x="39" y="11"/>
                  </a:cubicBezTo>
                  <a:cubicBezTo>
                    <a:pt x="26" y="11"/>
                    <a:pt x="26" y="11"/>
                    <a:pt x="26" y="11"/>
                  </a:cubicBezTo>
                  <a:cubicBezTo>
                    <a:pt x="21" y="11"/>
                    <a:pt x="18" y="12"/>
                    <a:pt x="16" y="13"/>
                  </a:cubicBezTo>
                  <a:cubicBezTo>
                    <a:pt x="15" y="14"/>
                    <a:pt x="14" y="17"/>
                    <a:pt x="14" y="20"/>
                  </a:cubicBezTo>
                  <a:cubicBezTo>
                    <a:pt x="14" y="54"/>
                    <a:pt x="14" y="54"/>
                    <a:pt x="14" y="54"/>
                  </a:cubicBezTo>
                  <a:cubicBezTo>
                    <a:pt x="14" y="58"/>
                    <a:pt x="15" y="60"/>
                    <a:pt x="17" y="62"/>
                  </a:cubicBezTo>
                  <a:cubicBezTo>
                    <a:pt x="18" y="63"/>
                    <a:pt x="21" y="63"/>
                    <a:pt x="26" y="63"/>
                  </a:cubicBezTo>
                  <a:cubicBezTo>
                    <a:pt x="39" y="63"/>
                    <a:pt x="39" y="63"/>
                    <a:pt x="39" y="63"/>
                  </a:cubicBezTo>
                  <a:cubicBezTo>
                    <a:pt x="44" y="63"/>
                    <a:pt x="46"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 name="Freeform 27"/>
            <p:cNvSpPr>
              <a:spLocks/>
            </p:cNvSpPr>
            <p:nvPr userDrawn="1"/>
          </p:nvSpPr>
          <p:spPr bwMode="auto">
            <a:xfrm>
              <a:off x="3379" y="2206"/>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2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6" y="1"/>
                    <a:pt x="18" y="3"/>
                  </a:cubicBezTo>
                  <a:cubicBezTo>
                    <a:pt x="19" y="3"/>
                    <a:pt x="20" y="5"/>
                    <a:pt x="22"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 name="Freeform 28"/>
            <p:cNvSpPr>
              <a:spLocks noEditPoints="1"/>
            </p:cNvSpPr>
            <p:nvPr userDrawn="1"/>
          </p:nvSpPr>
          <p:spPr bwMode="auto">
            <a:xfrm>
              <a:off x="3498"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29 w 80"/>
                <a:gd name="T13" fmla="*/ 7 h 74"/>
                <a:gd name="T14" fmla="*/ 40 w 80"/>
                <a:gd name="T15" fmla="*/ 0 h 74"/>
                <a:gd name="T16" fmla="*/ 50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29" y="7"/>
                    <a:pt x="29" y="7"/>
                    <a:pt x="29" y="7"/>
                  </a:cubicBezTo>
                  <a:cubicBezTo>
                    <a:pt x="31" y="3"/>
                    <a:pt x="35" y="0"/>
                    <a:pt x="40" y="0"/>
                  </a:cubicBezTo>
                  <a:cubicBezTo>
                    <a:pt x="45" y="0"/>
                    <a:pt x="48" y="3"/>
                    <a:pt x="50"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 name="Freeform 29"/>
            <p:cNvSpPr>
              <a:spLocks/>
            </p:cNvSpPr>
            <p:nvPr userDrawn="1"/>
          </p:nvSpPr>
          <p:spPr bwMode="auto">
            <a:xfrm>
              <a:off x="3638" y="2206"/>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6 w 59"/>
                <a:gd name="T15" fmla="*/ 62 h 74"/>
                <a:gd name="T16" fmla="*/ 27 w 59"/>
                <a:gd name="T17" fmla="*/ 64 h 74"/>
                <a:gd name="T18" fmla="*/ 59 w 59"/>
                <a:gd name="T19" fmla="*/ 64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8"/>
                    <a:pt x="0" y="63"/>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2" y="64"/>
                    <a:pt x="27" y="64"/>
                  </a:cubicBezTo>
                  <a:cubicBezTo>
                    <a:pt x="59" y="64"/>
                    <a:pt x="59" y="64"/>
                    <a:pt x="59" y="64"/>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 name="Freeform 30"/>
            <p:cNvSpPr>
              <a:spLocks noEditPoints="1"/>
            </p:cNvSpPr>
            <p:nvPr userDrawn="1"/>
          </p:nvSpPr>
          <p:spPr bwMode="auto">
            <a:xfrm>
              <a:off x="2023" y="2467"/>
              <a:ext cx="100" cy="112"/>
            </a:xfrm>
            <a:custGeom>
              <a:avLst/>
              <a:gdLst>
                <a:gd name="T0" fmla="*/ 66 w 66"/>
                <a:gd name="T1" fmla="*/ 57 h 74"/>
                <a:gd name="T2" fmla="*/ 60 w 66"/>
                <a:gd name="T3" fmla="*/ 69 h 74"/>
                <a:gd name="T4" fmla="*/ 46 w 66"/>
                <a:gd name="T5" fmla="*/ 74 h 74"/>
                <a:gd name="T6" fmla="*/ 0 w 66"/>
                <a:gd name="T7" fmla="*/ 74 h 74"/>
                <a:gd name="T8" fmla="*/ 0 w 66"/>
                <a:gd name="T9" fmla="*/ 0 h 74"/>
                <a:gd name="T10" fmla="*/ 46 w 66"/>
                <a:gd name="T11" fmla="*/ 0 h 74"/>
                <a:gd name="T12" fmla="*/ 66 w 66"/>
                <a:gd name="T13" fmla="*/ 16 h 74"/>
                <a:gd name="T14" fmla="*/ 66 w 66"/>
                <a:gd name="T15" fmla="*/ 57 h 74"/>
                <a:gd name="T16" fmla="*/ 52 w 66"/>
                <a:gd name="T17" fmla="*/ 53 h 74"/>
                <a:gd name="T18" fmla="*/ 52 w 66"/>
                <a:gd name="T19" fmla="*/ 19 h 74"/>
                <a:gd name="T20" fmla="*/ 42 w 66"/>
                <a:gd name="T21" fmla="*/ 10 h 74"/>
                <a:gd name="T22" fmla="*/ 13 w 66"/>
                <a:gd name="T23" fmla="*/ 10 h 74"/>
                <a:gd name="T24" fmla="*/ 13 w 66"/>
                <a:gd name="T25" fmla="*/ 63 h 74"/>
                <a:gd name="T26" fmla="*/ 42 w 66"/>
                <a:gd name="T27" fmla="*/ 63 h 74"/>
                <a:gd name="T28" fmla="*/ 52 w 66"/>
                <a:gd name="T29" fmla="*/ 5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74">
                  <a:moveTo>
                    <a:pt x="66" y="57"/>
                  </a:moveTo>
                  <a:cubicBezTo>
                    <a:pt x="66" y="62"/>
                    <a:pt x="64" y="66"/>
                    <a:pt x="60" y="69"/>
                  </a:cubicBezTo>
                  <a:cubicBezTo>
                    <a:pt x="57" y="72"/>
                    <a:pt x="52" y="74"/>
                    <a:pt x="46" y="74"/>
                  </a:cubicBezTo>
                  <a:cubicBezTo>
                    <a:pt x="0" y="74"/>
                    <a:pt x="0" y="74"/>
                    <a:pt x="0" y="74"/>
                  </a:cubicBezTo>
                  <a:cubicBezTo>
                    <a:pt x="0" y="0"/>
                    <a:pt x="0" y="0"/>
                    <a:pt x="0" y="0"/>
                  </a:cubicBezTo>
                  <a:cubicBezTo>
                    <a:pt x="46" y="0"/>
                    <a:pt x="46" y="0"/>
                    <a:pt x="46" y="0"/>
                  </a:cubicBezTo>
                  <a:cubicBezTo>
                    <a:pt x="59" y="0"/>
                    <a:pt x="66" y="5"/>
                    <a:pt x="66" y="16"/>
                  </a:cubicBezTo>
                  <a:lnTo>
                    <a:pt x="66" y="57"/>
                  </a:lnTo>
                  <a:close/>
                  <a:moveTo>
                    <a:pt x="52" y="53"/>
                  </a:moveTo>
                  <a:cubicBezTo>
                    <a:pt x="52" y="19"/>
                    <a:pt x="52" y="19"/>
                    <a:pt x="52" y="19"/>
                  </a:cubicBezTo>
                  <a:cubicBezTo>
                    <a:pt x="52" y="13"/>
                    <a:pt x="49" y="10"/>
                    <a:pt x="42" y="10"/>
                  </a:cubicBezTo>
                  <a:cubicBezTo>
                    <a:pt x="13" y="10"/>
                    <a:pt x="13" y="10"/>
                    <a:pt x="13" y="10"/>
                  </a:cubicBezTo>
                  <a:cubicBezTo>
                    <a:pt x="13" y="63"/>
                    <a:pt x="13" y="63"/>
                    <a:pt x="13" y="63"/>
                  </a:cubicBezTo>
                  <a:cubicBezTo>
                    <a:pt x="42" y="63"/>
                    <a:pt x="42" y="63"/>
                    <a:pt x="42" y="63"/>
                  </a:cubicBezTo>
                  <a:cubicBezTo>
                    <a:pt x="49" y="63"/>
                    <a:pt x="52" y="60"/>
                    <a:pt x="52" y="53"/>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 name="Freeform 31"/>
            <p:cNvSpPr>
              <a:spLocks/>
            </p:cNvSpPr>
            <p:nvPr userDrawn="1"/>
          </p:nvSpPr>
          <p:spPr bwMode="auto">
            <a:xfrm>
              <a:off x="2155" y="2467"/>
              <a:ext cx="89" cy="112"/>
            </a:xfrm>
            <a:custGeom>
              <a:avLst/>
              <a:gdLst>
                <a:gd name="T0" fmla="*/ 56 w 59"/>
                <a:gd name="T1" fmla="*/ 42 h 74"/>
                <a:gd name="T2" fmla="*/ 13 w 59"/>
                <a:gd name="T3" fmla="*/ 42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4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2"/>
                  </a:moveTo>
                  <a:cubicBezTo>
                    <a:pt x="13" y="42"/>
                    <a:pt x="13" y="42"/>
                    <a:pt x="13" y="42"/>
                  </a:cubicBezTo>
                  <a:cubicBezTo>
                    <a:pt x="13" y="55"/>
                    <a:pt x="13" y="55"/>
                    <a:pt x="13" y="55"/>
                  </a:cubicBezTo>
                  <a:cubicBezTo>
                    <a:pt x="13" y="60"/>
                    <a:pt x="17" y="63"/>
                    <a:pt x="25" y="63"/>
                  </a:cubicBezTo>
                  <a:cubicBezTo>
                    <a:pt x="59" y="63"/>
                    <a:pt x="59" y="63"/>
                    <a:pt x="59" y="63"/>
                  </a:cubicBezTo>
                  <a:cubicBezTo>
                    <a:pt x="59" y="74"/>
                    <a:pt x="59" y="74"/>
                    <a:pt x="59" y="74"/>
                  </a:cubicBezTo>
                  <a:cubicBezTo>
                    <a:pt x="21" y="74"/>
                    <a:pt x="21" y="74"/>
                    <a:pt x="21" y="74"/>
                  </a:cubicBezTo>
                  <a:cubicBezTo>
                    <a:pt x="15" y="74"/>
                    <a:pt x="9" y="73"/>
                    <a:pt x="6" y="70"/>
                  </a:cubicBezTo>
                  <a:cubicBezTo>
                    <a:pt x="2" y="67"/>
                    <a:pt x="0" y="63"/>
                    <a:pt x="0" y="58"/>
                  </a:cubicBezTo>
                  <a:cubicBezTo>
                    <a:pt x="0" y="17"/>
                    <a:pt x="0" y="17"/>
                    <a:pt x="0" y="17"/>
                  </a:cubicBezTo>
                  <a:cubicBezTo>
                    <a:pt x="0" y="11"/>
                    <a:pt x="2" y="7"/>
                    <a:pt x="5" y="4"/>
                  </a:cubicBezTo>
                  <a:cubicBezTo>
                    <a:pt x="9" y="1"/>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 name="Freeform 32"/>
            <p:cNvSpPr>
              <a:spLocks/>
            </p:cNvSpPr>
            <p:nvPr userDrawn="1"/>
          </p:nvSpPr>
          <p:spPr bwMode="auto">
            <a:xfrm>
              <a:off x="2351" y="2467"/>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7 w 59"/>
                <a:gd name="T15" fmla="*/ 61 h 74"/>
                <a:gd name="T16" fmla="*/ 27 w 59"/>
                <a:gd name="T17" fmla="*/ 63 h 74"/>
                <a:gd name="T18" fmla="*/ 59 w 59"/>
                <a:gd name="T19" fmla="*/ 63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7"/>
                    <a:pt x="0" y="63"/>
                    <a:pt x="0" y="56"/>
                  </a:cubicBezTo>
                  <a:cubicBezTo>
                    <a:pt x="0" y="0"/>
                    <a:pt x="0" y="0"/>
                    <a:pt x="0" y="0"/>
                  </a:cubicBezTo>
                  <a:cubicBezTo>
                    <a:pt x="13" y="0"/>
                    <a:pt x="13" y="0"/>
                    <a:pt x="13" y="0"/>
                  </a:cubicBezTo>
                  <a:cubicBezTo>
                    <a:pt x="13" y="54"/>
                    <a:pt x="13" y="54"/>
                    <a:pt x="13" y="54"/>
                  </a:cubicBezTo>
                  <a:cubicBezTo>
                    <a:pt x="13" y="57"/>
                    <a:pt x="14" y="60"/>
                    <a:pt x="17" y="61"/>
                  </a:cubicBezTo>
                  <a:cubicBezTo>
                    <a:pt x="18" y="63"/>
                    <a:pt x="22" y="63"/>
                    <a:pt x="27" y="63"/>
                  </a:cubicBezTo>
                  <a:cubicBezTo>
                    <a:pt x="59" y="63"/>
                    <a:pt x="59" y="63"/>
                    <a:pt x="59" y="63"/>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 name="Freeform 33"/>
            <p:cNvSpPr>
              <a:spLocks/>
            </p:cNvSpPr>
            <p:nvPr userDrawn="1"/>
          </p:nvSpPr>
          <p:spPr bwMode="auto">
            <a:xfrm>
              <a:off x="2438" y="2450"/>
              <a:ext cx="20" cy="40"/>
            </a:xfrm>
            <a:custGeom>
              <a:avLst/>
              <a:gdLst>
                <a:gd name="T0" fmla="*/ 13 w 13"/>
                <a:gd name="T1" fmla="*/ 8 h 26"/>
                <a:gd name="T2" fmla="*/ 13 w 13"/>
                <a:gd name="T3" fmla="*/ 12 h 26"/>
                <a:gd name="T4" fmla="*/ 7 w 13"/>
                <a:gd name="T5" fmla="*/ 26 h 26"/>
                <a:gd name="T6" fmla="*/ 0 w 13"/>
                <a:gd name="T7" fmla="*/ 26 h 26"/>
                <a:gd name="T8" fmla="*/ 5 w 13"/>
                <a:gd name="T9" fmla="*/ 14 h 26"/>
                <a:gd name="T10" fmla="*/ 1 w 13"/>
                <a:gd name="T11" fmla="*/ 7 h 26"/>
                <a:gd name="T12" fmla="*/ 3 w 13"/>
                <a:gd name="T13" fmla="*/ 2 h 26"/>
                <a:gd name="T14" fmla="*/ 7 w 13"/>
                <a:gd name="T15" fmla="*/ 0 h 26"/>
                <a:gd name="T16" fmla="*/ 12 w 13"/>
                <a:gd name="T17" fmla="*/ 2 h 26"/>
                <a:gd name="T18" fmla="*/ 13 w 13"/>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26">
                  <a:moveTo>
                    <a:pt x="13" y="8"/>
                  </a:moveTo>
                  <a:cubicBezTo>
                    <a:pt x="13" y="9"/>
                    <a:pt x="13" y="11"/>
                    <a:pt x="13" y="12"/>
                  </a:cubicBezTo>
                  <a:cubicBezTo>
                    <a:pt x="7" y="26"/>
                    <a:pt x="7" y="26"/>
                    <a:pt x="7" y="26"/>
                  </a:cubicBezTo>
                  <a:cubicBezTo>
                    <a:pt x="0" y="26"/>
                    <a:pt x="0" y="26"/>
                    <a:pt x="0" y="26"/>
                  </a:cubicBezTo>
                  <a:cubicBezTo>
                    <a:pt x="5" y="14"/>
                    <a:pt x="5" y="14"/>
                    <a:pt x="5" y="14"/>
                  </a:cubicBezTo>
                  <a:cubicBezTo>
                    <a:pt x="2" y="11"/>
                    <a:pt x="1" y="9"/>
                    <a:pt x="1" y="7"/>
                  </a:cubicBezTo>
                  <a:cubicBezTo>
                    <a:pt x="1" y="5"/>
                    <a:pt x="1" y="3"/>
                    <a:pt x="3" y="2"/>
                  </a:cubicBezTo>
                  <a:cubicBezTo>
                    <a:pt x="4" y="1"/>
                    <a:pt x="5" y="0"/>
                    <a:pt x="7" y="0"/>
                  </a:cubicBezTo>
                  <a:cubicBezTo>
                    <a:pt x="9" y="0"/>
                    <a:pt x="10" y="1"/>
                    <a:pt x="12" y="2"/>
                  </a:cubicBezTo>
                  <a:cubicBezTo>
                    <a:pt x="13" y="4"/>
                    <a:pt x="13" y="6"/>
                    <a:pt x="13" y="8"/>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 name="Rectangle 34"/>
            <p:cNvSpPr>
              <a:spLocks noChangeArrowheads="1"/>
            </p:cNvSpPr>
            <p:nvPr userDrawn="1"/>
          </p:nvSpPr>
          <p:spPr bwMode="auto">
            <a:xfrm>
              <a:off x="2495" y="2467"/>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 name="Freeform 35"/>
            <p:cNvSpPr>
              <a:spLocks/>
            </p:cNvSpPr>
            <p:nvPr userDrawn="1"/>
          </p:nvSpPr>
          <p:spPr bwMode="auto">
            <a:xfrm>
              <a:off x="2547" y="2467"/>
              <a:ext cx="99"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2 h 75"/>
                <a:gd name="T22" fmla="*/ 23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4"/>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5" y="0"/>
                    <a:pt x="17" y="1"/>
                    <a:pt x="19" y="2"/>
                  </a:cubicBezTo>
                  <a:cubicBezTo>
                    <a:pt x="20" y="3"/>
                    <a:pt x="21" y="5"/>
                    <a:pt x="23"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 name="Freeform 36"/>
            <p:cNvSpPr>
              <a:spLocks/>
            </p:cNvSpPr>
            <p:nvPr userDrawn="1"/>
          </p:nvSpPr>
          <p:spPr bwMode="auto">
            <a:xfrm>
              <a:off x="2678" y="2467"/>
              <a:ext cx="90" cy="112"/>
            </a:xfrm>
            <a:custGeom>
              <a:avLst/>
              <a:gdLst>
                <a:gd name="T0" fmla="*/ 60 w 60"/>
                <a:gd name="T1" fmla="*/ 42 h 74"/>
                <a:gd name="T2" fmla="*/ 14 w 60"/>
                <a:gd name="T3" fmla="*/ 42 h 74"/>
                <a:gd name="T4" fmla="*/ 14 w 60"/>
                <a:gd name="T5" fmla="*/ 74 h 74"/>
                <a:gd name="T6" fmla="*/ 0 w 60"/>
                <a:gd name="T7" fmla="*/ 74 h 74"/>
                <a:gd name="T8" fmla="*/ 0 w 60"/>
                <a:gd name="T9" fmla="*/ 15 h 74"/>
                <a:gd name="T10" fmla="*/ 6 w 60"/>
                <a:gd name="T11" fmla="*/ 3 h 74"/>
                <a:gd name="T12" fmla="*/ 21 w 60"/>
                <a:gd name="T13" fmla="*/ 0 h 74"/>
                <a:gd name="T14" fmla="*/ 60 w 60"/>
                <a:gd name="T15" fmla="*/ 0 h 74"/>
                <a:gd name="T16" fmla="*/ 60 w 60"/>
                <a:gd name="T17" fmla="*/ 11 h 74"/>
                <a:gd name="T18" fmla="*/ 25 w 60"/>
                <a:gd name="T19" fmla="*/ 11 h 74"/>
                <a:gd name="T20" fmla="*/ 14 w 60"/>
                <a:gd name="T21" fmla="*/ 18 h 74"/>
                <a:gd name="T22" fmla="*/ 14 w 60"/>
                <a:gd name="T23" fmla="*/ 32 h 74"/>
                <a:gd name="T24" fmla="*/ 60 w 60"/>
                <a:gd name="T25" fmla="*/ 32 h 74"/>
                <a:gd name="T26" fmla="*/ 60 w 60"/>
                <a:gd name="T2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74">
                  <a:moveTo>
                    <a:pt x="60" y="42"/>
                  </a:moveTo>
                  <a:cubicBezTo>
                    <a:pt x="14" y="42"/>
                    <a:pt x="14" y="42"/>
                    <a:pt x="14" y="42"/>
                  </a:cubicBezTo>
                  <a:cubicBezTo>
                    <a:pt x="14" y="74"/>
                    <a:pt x="14" y="74"/>
                    <a:pt x="14" y="74"/>
                  </a:cubicBezTo>
                  <a:cubicBezTo>
                    <a:pt x="0" y="74"/>
                    <a:pt x="0" y="74"/>
                    <a:pt x="0" y="74"/>
                  </a:cubicBezTo>
                  <a:cubicBezTo>
                    <a:pt x="0" y="15"/>
                    <a:pt x="0" y="15"/>
                    <a:pt x="0" y="15"/>
                  </a:cubicBezTo>
                  <a:cubicBezTo>
                    <a:pt x="0" y="10"/>
                    <a:pt x="2" y="6"/>
                    <a:pt x="6" y="3"/>
                  </a:cubicBezTo>
                  <a:cubicBezTo>
                    <a:pt x="10" y="1"/>
                    <a:pt x="15" y="0"/>
                    <a:pt x="21" y="0"/>
                  </a:cubicBezTo>
                  <a:cubicBezTo>
                    <a:pt x="60" y="0"/>
                    <a:pt x="60" y="0"/>
                    <a:pt x="60" y="0"/>
                  </a:cubicBezTo>
                  <a:cubicBezTo>
                    <a:pt x="60" y="11"/>
                    <a:pt x="60" y="11"/>
                    <a:pt x="60" y="11"/>
                  </a:cubicBezTo>
                  <a:cubicBezTo>
                    <a:pt x="25" y="11"/>
                    <a:pt x="25" y="11"/>
                    <a:pt x="25" y="11"/>
                  </a:cubicBezTo>
                  <a:cubicBezTo>
                    <a:pt x="17" y="11"/>
                    <a:pt x="14" y="13"/>
                    <a:pt x="14" y="18"/>
                  </a:cubicBezTo>
                  <a:cubicBezTo>
                    <a:pt x="14" y="32"/>
                    <a:pt x="14" y="32"/>
                    <a:pt x="14" y="32"/>
                  </a:cubicBezTo>
                  <a:cubicBezTo>
                    <a:pt x="60" y="32"/>
                    <a:pt x="60" y="32"/>
                    <a:pt x="60" y="32"/>
                  </a:cubicBezTo>
                  <a:lnTo>
                    <a:pt x="60"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 name="Freeform 37"/>
            <p:cNvSpPr>
              <a:spLocks noEditPoints="1"/>
            </p:cNvSpPr>
            <p:nvPr userDrawn="1"/>
          </p:nvSpPr>
          <p:spPr bwMode="auto">
            <a:xfrm>
              <a:off x="2803"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10"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 name="Freeform 38"/>
            <p:cNvSpPr>
              <a:spLocks/>
            </p:cNvSpPr>
            <p:nvPr userDrawn="1"/>
          </p:nvSpPr>
          <p:spPr bwMode="auto">
            <a:xfrm>
              <a:off x="2931" y="2467"/>
              <a:ext cx="98" cy="112"/>
            </a:xfrm>
            <a:custGeom>
              <a:avLst/>
              <a:gdLst>
                <a:gd name="T0" fmla="*/ 65 w 65"/>
                <a:gd name="T1" fmla="*/ 74 h 74"/>
                <a:gd name="T2" fmla="*/ 48 w 65"/>
                <a:gd name="T3" fmla="*/ 74 h 74"/>
                <a:gd name="T4" fmla="*/ 16 w 65"/>
                <a:gd name="T5" fmla="*/ 45 h 74"/>
                <a:gd name="T6" fmla="*/ 14 w 65"/>
                <a:gd name="T7" fmla="*/ 41 h 74"/>
                <a:gd name="T8" fmla="*/ 23 w 65"/>
                <a:gd name="T9" fmla="*/ 35 h 74"/>
                <a:gd name="T10" fmla="*/ 42 w 65"/>
                <a:gd name="T11" fmla="*/ 34 h 74"/>
                <a:gd name="T12" fmla="*/ 52 w 65"/>
                <a:gd name="T13" fmla="*/ 27 h 74"/>
                <a:gd name="T14" fmla="*/ 52 w 65"/>
                <a:gd name="T15" fmla="*/ 19 h 74"/>
                <a:gd name="T16" fmla="*/ 41 w 65"/>
                <a:gd name="T17" fmla="*/ 11 h 74"/>
                <a:gd name="T18" fmla="*/ 13 w 65"/>
                <a:gd name="T19" fmla="*/ 11 h 74"/>
                <a:gd name="T20" fmla="*/ 13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5"/>
                    <a:pt x="16" y="45"/>
                    <a:pt x="16" y="45"/>
                  </a:cubicBezTo>
                  <a:cubicBezTo>
                    <a:pt x="15" y="45"/>
                    <a:pt x="14" y="43"/>
                    <a:pt x="14" y="41"/>
                  </a:cubicBezTo>
                  <a:cubicBezTo>
                    <a:pt x="14" y="37"/>
                    <a:pt x="17" y="35"/>
                    <a:pt x="23" y="35"/>
                  </a:cubicBezTo>
                  <a:cubicBezTo>
                    <a:pt x="42" y="34"/>
                    <a:pt x="42" y="34"/>
                    <a:pt x="42" y="34"/>
                  </a:cubicBezTo>
                  <a:cubicBezTo>
                    <a:pt x="48" y="34"/>
                    <a:pt x="52" y="32"/>
                    <a:pt x="52" y="27"/>
                  </a:cubicBezTo>
                  <a:cubicBezTo>
                    <a:pt x="52" y="19"/>
                    <a:pt x="52" y="19"/>
                    <a:pt x="52" y="19"/>
                  </a:cubicBezTo>
                  <a:cubicBezTo>
                    <a:pt x="52" y="13"/>
                    <a:pt x="48" y="11"/>
                    <a:pt x="41" y="11"/>
                  </a:cubicBezTo>
                  <a:cubicBezTo>
                    <a:pt x="13" y="11"/>
                    <a:pt x="13" y="11"/>
                    <a:pt x="13" y="11"/>
                  </a:cubicBezTo>
                  <a:cubicBezTo>
                    <a:pt x="13" y="74"/>
                    <a:pt x="13" y="74"/>
                    <a:pt x="13"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3" y="37"/>
                    <a:pt x="60" y="40"/>
                  </a:cubicBezTo>
                  <a:cubicBezTo>
                    <a:pt x="56" y="42"/>
                    <a:pt x="51"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 name="Freeform 39"/>
            <p:cNvSpPr>
              <a:spLocks/>
            </p:cNvSpPr>
            <p:nvPr userDrawn="1"/>
          </p:nvSpPr>
          <p:spPr bwMode="auto">
            <a:xfrm>
              <a:off x="3058" y="2467"/>
              <a:ext cx="137" cy="115"/>
            </a:xfrm>
            <a:custGeom>
              <a:avLst/>
              <a:gdLst>
                <a:gd name="T0" fmla="*/ 91 w 91"/>
                <a:gd name="T1" fmla="*/ 74 h 76"/>
                <a:gd name="T2" fmla="*/ 79 w 91"/>
                <a:gd name="T3" fmla="*/ 74 h 76"/>
                <a:gd name="T4" fmla="*/ 79 w 91"/>
                <a:gd name="T5" fmla="*/ 16 h 76"/>
                <a:gd name="T6" fmla="*/ 55 w 91"/>
                <a:gd name="T7" fmla="*/ 68 h 76"/>
                <a:gd name="T8" fmla="*/ 46 w 91"/>
                <a:gd name="T9" fmla="*/ 76 h 76"/>
                <a:gd name="T10" fmla="*/ 40 w 91"/>
                <a:gd name="T11" fmla="*/ 73 h 76"/>
                <a:gd name="T12" fmla="*/ 37 w 91"/>
                <a:gd name="T13" fmla="*/ 68 h 76"/>
                <a:gd name="T14" fmla="*/ 13 w 91"/>
                <a:gd name="T15" fmla="*/ 16 h 76"/>
                <a:gd name="T16" fmla="*/ 13 w 91"/>
                <a:gd name="T17" fmla="*/ 74 h 76"/>
                <a:gd name="T18" fmla="*/ 0 w 91"/>
                <a:gd name="T19" fmla="*/ 74 h 76"/>
                <a:gd name="T20" fmla="*/ 0 w 91"/>
                <a:gd name="T21" fmla="*/ 10 h 76"/>
                <a:gd name="T22" fmla="*/ 3 w 91"/>
                <a:gd name="T23" fmla="*/ 3 h 76"/>
                <a:gd name="T24" fmla="*/ 12 w 91"/>
                <a:gd name="T25" fmla="*/ 0 h 76"/>
                <a:gd name="T26" fmla="*/ 23 w 91"/>
                <a:gd name="T27" fmla="*/ 7 h 76"/>
                <a:gd name="T28" fmla="*/ 46 w 91"/>
                <a:gd name="T29" fmla="*/ 59 h 76"/>
                <a:gd name="T30" fmla="*/ 69 w 91"/>
                <a:gd name="T31" fmla="*/ 7 h 76"/>
                <a:gd name="T32" fmla="*/ 80 w 91"/>
                <a:gd name="T33" fmla="*/ 0 h 76"/>
                <a:gd name="T34" fmla="*/ 89 w 91"/>
                <a:gd name="T35" fmla="*/ 3 h 76"/>
                <a:gd name="T36" fmla="*/ 91 w 91"/>
                <a:gd name="T37" fmla="*/ 10 h 76"/>
                <a:gd name="T38" fmla="*/ 91 w 91"/>
                <a:gd name="T3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76">
                  <a:moveTo>
                    <a:pt x="91" y="74"/>
                  </a:moveTo>
                  <a:cubicBezTo>
                    <a:pt x="79" y="74"/>
                    <a:pt x="79" y="74"/>
                    <a:pt x="79" y="74"/>
                  </a:cubicBezTo>
                  <a:cubicBezTo>
                    <a:pt x="79" y="16"/>
                    <a:pt x="79" y="16"/>
                    <a:pt x="79" y="16"/>
                  </a:cubicBezTo>
                  <a:cubicBezTo>
                    <a:pt x="55" y="68"/>
                    <a:pt x="55" y="68"/>
                    <a:pt x="55" y="68"/>
                  </a:cubicBezTo>
                  <a:cubicBezTo>
                    <a:pt x="53" y="73"/>
                    <a:pt x="50" y="76"/>
                    <a:pt x="46" y="76"/>
                  </a:cubicBezTo>
                  <a:cubicBezTo>
                    <a:pt x="43" y="76"/>
                    <a:pt x="41" y="75"/>
                    <a:pt x="40" y="73"/>
                  </a:cubicBezTo>
                  <a:cubicBezTo>
                    <a:pt x="39" y="72"/>
                    <a:pt x="38" y="71"/>
                    <a:pt x="37" y="68"/>
                  </a:cubicBezTo>
                  <a:cubicBezTo>
                    <a:pt x="13" y="16"/>
                    <a:pt x="13" y="16"/>
                    <a:pt x="13" y="16"/>
                  </a:cubicBezTo>
                  <a:cubicBezTo>
                    <a:pt x="13" y="74"/>
                    <a:pt x="13" y="74"/>
                    <a:pt x="13" y="74"/>
                  </a:cubicBezTo>
                  <a:cubicBezTo>
                    <a:pt x="0" y="74"/>
                    <a:pt x="0" y="74"/>
                    <a:pt x="0" y="74"/>
                  </a:cubicBezTo>
                  <a:cubicBezTo>
                    <a:pt x="0" y="10"/>
                    <a:pt x="0" y="10"/>
                    <a:pt x="0" y="10"/>
                  </a:cubicBezTo>
                  <a:cubicBezTo>
                    <a:pt x="0" y="7"/>
                    <a:pt x="1" y="5"/>
                    <a:pt x="3" y="3"/>
                  </a:cubicBezTo>
                  <a:cubicBezTo>
                    <a:pt x="5" y="1"/>
                    <a:pt x="8" y="0"/>
                    <a:pt x="12" y="0"/>
                  </a:cubicBezTo>
                  <a:cubicBezTo>
                    <a:pt x="17" y="0"/>
                    <a:pt x="21" y="2"/>
                    <a:pt x="23" y="7"/>
                  </a:cubicBezTo>
                  <a:cubicBezTo>
                    <a:pt x="46" y="59"/>
                    <a:pt x="46" y="59"/>
                    <a:pt x="46" y="59"/>
                  </a:cubicBezTo>
                  <a:cubicBezTo>
                    <a:pt x="69" y="7"/>
                    <a:pt x="69" y="7"/>
                    <a:pt x="69" y="7"/>
                  </a:cubicBezTo>
                  <a:cubicBezTo>
                    <a:pt x="71" y="2"/>
                    <a:pt x="75" y="0"/>
                    <a:pt x="80" y="0"/>
                  </a:cubicBezTo>
                  <a:cubicBezTo>
                    <a:pt x="84" y="0"/>
                    <a:pt x="87" y="1"/>
                    <a:pt x="89" y="3"/>
                  </a:cubicBezTo>
                  <a:cubicBezTo>
                    <a:pt x="90" y="5"/>
                    <a:pt x="91" y="7"/>
                    <a:pt x="91" y="10"/>
                  </a:cubicBezTo>
                  <a:lnTo>
                    <a:pt x="91"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 name="Freeform 40"/>
            <p:cNvSpPr>
              <a:spLocks noEditPoints="1"/>
            </p:cNvSpPr>
            <p:nvPr userDrawn="1"/>
          </p:nvSpPr>
          <p:spPr bwMode="auto">
            <a:xfrm>
              <a:off x="3216" y="2467"/>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40 w 80"/>
                <a:gd name="T23" fmla="*/ 13 h 74"/>
                <a:gd name="T24" fmla="*/ 27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2"/>
                    <a:pt x="35" y="0"/>
                    <a:pt x="40" y="0"/>
                  </a:cubicBezTo>
                  <a:cubicBezTo>
                    <a:pt x="45" y="0"/>
                    <a:pt x="49" y="2"/>
                    <a:pt x="51" y="7"/>
                  </a:cubicBezTo>
                  <a:lnTo>
                    <a:pt x="80" y="74"/>
                  </a:lnTo>
                  <a:close/>
                  <a:moveTo>
                    <a:pt x="54" y="46"/>
                  </a:moveTo>
                  <a:cubicBezTo>
                    <a:pt x="40" y="13"/>
                    <a:pt x="40" y="13"/>
                    <a:pt x="40" y="13"/>
                  </a:cubicBezTo>
                  <a:cubicBezTo>
                    <a:pt x="27" y="46"/>
                    <a:pt x="27" y="46"/>
                    <a:pt x="27"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 name="Freeform 41"/>
            <p:cNvSpPr>
              <a:spLocks/>
            </p:cNvSpPr>
            <p:nvPr userDrawn="1"/>
          </p:nvSpPr>
          <p:spPr bwMode="auto">
            <a:xfrm>
              <a:off x="3338" y="2467"/>
              <a:ext cx="88" cy="112"/>
            </a:xfrm>
            <a:custGeom>
              <a:avLst/>
              <a:gdLst>
                <a:gd name="T0" fmla="*/ 88 w 88"/>
                <a:gd name="T1" fmla="*/ 15 h 112"/>
                <a:gd name="T2" fmla="*/ 55 w 88"/>
                <a:gd name="T3" fmla="*/ 15 h 112"/>
                <a:gd name="T4" fmla="*/ 55 w 88"/>
                <a:gd name="T5" fmla="*/ 112 h 112"/>
                <a:gd name="T6" fmla="*/ 35 w 88"/>
                <a:gd name="T7" fmla="*/ 112 h 112"/>
                <a:gd name="T8" fmla="*/ 35 w 88"/>
                <a:gd name="T9" fmla="*/ 15 h 112"/>
                <a:gd name="T10" fmla="*/ 0 w 88"/>
                <a:gd name="T11" fmla="*/ 15 h 112"/>
                <a:gd name="T12" fmla="*/ 0 w 88"/>
                <a:gd name="T13" fmla="*/ 0 h 112"/>
                <a:gd name="T14" fmla="*/ 88 w 88"/>
                <a:gd name="T15" fmla="*/ 0 h 112"/>
                <a:gd name="T16" fmla="*/ 88 w 88"/>
                <a:gd name="T17" fmla="*/ 1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5"/>
                  </a:moveTo>
                  <a:lnTo>
                    <a:pt x="55" y="15"/>
                  </a:lnTo>
                  <a:lnTo>
                    <a:pt x="55" y="112"/>
                  </a:lnTo>
                  <a:lnTo>
                    <a:pt x="35" y="112"/>
                  </a:lnTo>
                  <a:lnTo>
                    <a:pt x="35" y="15"/>
                  </a:lnTo>
                  <a:lnTo>
                    <a:pt x="0" y="15"/>
                  </a:lnTo>
                  <a:lnTo>
                    <a:pt x="0" y="0"/>
                  </a:lnTo>
                  <a:lnTo>
                    <a:pt x="88" y="0"/>
                  </a:lnTo>
                  <a:lnTo>
                    <a:pt x="88" y="1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 name="Rectangle 42"/>
            <p:cNvSpPr>
              <a:spLocks noChangeArrowheads="1"/>
            </p:cNvSpPr>
            <p:nvPr userDrawn="1"/>
          </p:nvSpPr>
          <p:spPr bwMode="auto">
            <a:xfrm>
              <a:off x="3448" y="2467"/>
              <a:ext cx="22"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 name="Freeform 43"/>
            <p:cNvSpPr>
              <a:spLocks noEditPoints="1"/>
            </p:cNvSpPr>
            <p:nvPr userDrawn="1"/>
          </p:nvSpPr>
          <p:spPr bwMode="auto">
            <a:xfrm>
              <a:off x="3501"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9"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 name="Freeform 44"/>
            <p:cNvSpPr>
              <a:spLocks/>
            </p:cNvSpPr>
            <p:nvPr userDrawn="1"/>
          </p:nvSpPr>
          <p:spPr bwMode="auto">
            <a:xfrm>
              <a:off x="3629" y="2467"/>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2 h 75"/>
                <a:gd name="T22" fmla="*/ 22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4"/>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4" y="0"/>
                    <a:pt x="17" y="1"/>
                    <a:pt x="18" y="2"/>
                  </a:cubicBezTo>
                  <a:cubicBezTo>
                    <a:pt x="19" y="3"/>
                    <a:pt x="21" y="5"/>
                    <a:pt x="22"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 name="Freeform 45"/>
            <p:cNvSpPr>
              <a:spLocks/>
            </p:cNvSpPr>
            <p:nvPr userDrawn="1"/>
          </p:nvSpPr>
          <p:spPr bwMode="auto">
            <a:xfrm>
              <a:off x="2023" y="2726"/>
              <a:ext cx="98" cy="114"/>
            </a:xfrm>
            <a:custGeom>
              <a:avLst/>
              <a:gdLst>
                <a:gd name="T0" fmla="*/ 65 w 65"/>
                <a:gd name="T1" fmla="*/ 57 h 75"/>
                <a:gd name="T2" fmla="*/ 60 w 65"/>
                <a:gd name="T3" fmla="*/ 70 h 75"/>
                <a:gd name="T4" fmla="*/ 45 w 65"/>
                <a:gd name="T5" fmla="*/ 75 h 75"/>
                <a:gd name="T6" fmla="*/ 22 w 65"/>
                <a:gd name="T7" fmla="*/ 75 h 75"/>
                <a:gd name="T8" fmla="*/ 5 w 65"/>
                <a:gd name="T9" fmla="*/ 70 h 75"/>
                <a:gd name="T10" fmla="*/ 0 w 65"/>
                <a:gd name="T11" fmla="*/ 63 h 75"/>
                <a:gd name="T12" fmla="*/ 0 w 65"/>
                <a:gd name="T13" fmla="*/ 55 h 75"/>
                <a:gd name="T14" fmla="*/ 0 w 65"/>
                <a:gd name="T15" fmla="*/ 18 h 75"/>
                <a:gd name="T16" fmla="*/ 1 w 65"/>
                <a:gd name="T17" fmla="*/ 10 h 75"/>
                <a:gd name="T18" fmla="*/ 6 w 65"/>
                <a:gd name="T19" fmla="*/ 4 h 75"/>
                <a:gd name="T20" fmla="*/ 22 w 65"/>
                <a:gd name="T21" fmla="*/ 0 h 75"/>
                <a:gd name="T22" fmla="*/ 60 w 65"/>
                <a:gd name="T23" fmla="*/ 0 h 75"/>
                <a:gd name="T24" fmla="*/ 60 w 65"/>
                <a:gd name="T25" fmla="*/ 11 h 75"/>
                <a:gd name="T26" fmla="*/ 24 w 65"/>
                <a:gd name="T27" fmla="*/ 11 h 75"/>
                <a:gd name="T28" fmla="*/ 16 w 65"/>
                <a:gd name="T29" fmla="*/ 13 h 75"/>
                <a:gd name="T30" fmla="*/ 13 w 65"/>
                <a:gd name="T31" fmla="*/ 20 h 75"/>
                <a:gd name="T32" fmla="*/ 13 w 65"/>
                <a:gd name="T33" fmla="*/ 55 h 75"/>
                <a:gd name="T34" fmla="*/ 16 w 65"/>
                <a:gd name="T35" fmla="*/ 62 h 75"/>
                <a:gd name="T36" fmla="*/ 24 w 65"/>
                <a:gd name="T37" fmla="*/ 64 h 75"/>
                <a:gd name="T38" fmla="*/ 41 w 65"/>
                <a:gd name="T39" fmla="*/ 64 h 75"/>
                <a:gd name="T40" fmla="*/ 51 w 65"/>
                <a:gd name="T41" fmla="*/ 55 h 75"/>
                <a:gd name="T42" fmla="*/ 51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3" y="67"/>
                    <a:pt x="60" y="70"/>
                  </a:cubicBezTo>
                  <a:cubicBezTo>
                    <a:pt x="56" y="73"/>
                    <a:pt x="51" y="75"/>
                    <a:pt x="45" y="75"/>
                  </a:cubicBezTo>
                  <a:cubicBezTo>
                    <a:pt x="22" y="75"/>
                    <a:pt x="22" y="75"/>
                    <a:pt x="22" y="75"/>
                  </a:cubicBezTo>
                  <a:cubicBezTo>
                    <a:pt x="15" y="75"/>
                    <a:pt x="9" y="73"/>
                    <a:pt x="5" y="70"/>
                  </a:cubicBezTo>
                  <a:cubicBezTo>
                    <a:pt x="3" y="68"/>
                    <a:pt x="1" y="66"/>
                    <a:pt x="0" y="63"/>
                  </a:cubicBezTo>
                  <a:cubicBezTo>
                    <a:pt x="0" y="62"/>
                    <a:pt x="0" y="59"/>
                    <a:pt x="0" y="55"/>
                  </a:cubicBezTo>
                  <a:cubicBezTo>
                    <a:pt x="0" y="18"/>
                    <a:pt x="0" y="18"/>
                    <a:pt x="0" y="18"/>
                  </a:cubicBezTo>
                  <a:cubicBezTo>
                    <a:pt x="0" y="15"/>
                    <a:pt x="0" y="12"/>
                    <a:pt x="1" y="10"/>
                  </a:cubicBezTo>
                  <a:cubicBezTo>
                    <a:pt x="2" y="8"/>
                    <a:pt x="4" y="6"/>
                    <a:pt x="6" y="4"/>
                  </a:cubicBezTo>
                  <a:cubicBezTo>
                    <a:pt x="10" y="2"/>
                    <a:pt x="15" y="0"/>
                    <a:pt x="22" y="0"/>
                  </a:cubicBezTo>
                  <a:cubicBezTo>
                    <a:pt x="60" y="0"/>
                    <a:pt x="60" y="0"/>
                    <a:pt x="60" y="0"/>
                  </a:cubicBezTo>
                  <a:cubicBezTo>
                    <a:pt x="60" y="11"/>
                    <a:pt x="60" y="11"/>
                    <a:pt x="60" y="11"/>
                  </a:cubicBezTo>
                  <a:cubicBezTo>
                    <a:pt x="24" y="11"/>
                    <a:pt x="24" y="11"/>
                    <a:pt x="24" y="11"/>
                  </a:cubicBezTo>
                  <a:cubicBezTo>
                    <a:pt x="20" y="11"/>
                    <a:pt x="17" y="12"/>
                    <a:pt x="16" y="13"/>
                  </a:cubicBezTo>
                  <a:cubicBezTo>
                    <a:pt x="14" y="14"/>
                    <a:pt x="13" y="16"/>
                    <a:pt x="13" y="20"/>
                  </a:cubicBezTo>
                  <a:cubicBezTo>
                    <a:pt x="13" y="55"/>
                    <a:pt x="13" y="55"/>
                    <a:pt x="13" y="55"/>
                  </a:cubicBezTo>
                  <a:cubicBezTo>
                    <a:pt x="13" y="58"/>
                    <a:pt x="14" y="61"/>
                    <a:pt x="16" y="62"/>
                  </a:cubicBezTo>
                  <a:cubicBezTo>
                    <a:pt x="18" y="63"/>
                    <a:pt x="20" y="64"/>
                    <a:pt x="24" y="64"/>
                  </a:cubicBezTo>
                  <a:cubicBezTo>
                    <a:pt x="41" y="64"/>
                    <a:pt x="41" y="64"/>
                    <a:pt x="41" y="64"/>
                  </a:cubicBezTo>
                  <a:cubicBezTo>
                    <a:pt x="48" y="64"/>
                    <a:pt x="51" y="61"/>
                    <a:pt x="51" y="55"/>
                  </a:cubicBezTo>
                  <a:cubicBezTo>
                    <a:pt x="51" y="34"/>
                    <a:pt x="51" y="34"/>
                    <a:pt x="51"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 name="Freeform 46"/>
            <p:cNvSpPr>
              <a:spLocks noEditPoints="1"/>
            </p:cNvSpPr>
            <p:nvPr userDrawn="1"/>
          </p:nvSpPr>
          <p:spPr bwMode="auto">
            <a:xfrm>
              <a:off x="2179" y="2698"/>
              <a:ext cx="89" cy="142"/>
            </a:xfrm>
            <a:custGeom>
              <a:avLst/>
              <a:gdLst>
                <a:gd name="T0" fmla="*/ 59 w 59"/>
                <a:gd name="T1" fmla="*/ 94 h 94"/>
                <a:gd name="T2" fmla="*/ 21 w 59"/>
                <a:gd name="T3" fmla="*/ 94 h 94"/>
                <a:gd name="T4" fmla="*/ 6 w 59"/>
                <a:gd name="T5" fmla="*/ 90 h 94"/>
                <a:gd name="T6" fmla="*/ 0 w 59"/>
                <a:gd name="T7" fmla="*/ 78 h 94"/>
                <a:gd name="T8" fmla="*/ 0 w 59"/>
                <a:gd name="T9" fmla="*/ 36 h 94"/>
                <a:gd name="T10" fmla="*/ 5 w 59"/>
                <a:gd name="T11" fmla="*/ 24 h 94"/>
                <a:gd name="T12" fmla="*/ 20 w 59"/>
                <a:gd name="T13" fmla="*/ 19 h 94"/>
                <a:gd name="T14" fmla="*/ 59 w 59"/>
                <a:gd name="T15" fmla="*/ 19 h 94"/>
                <a:gd name="T16" fmla="*/ 59 w 59"/>
                <a:gd name="T17" fmla="*/ 30 h 94"/>
                <a:gd name="T18" fmla="*/ 24 w 59"/>
                <a:gd name="T19" fmla="*/ 30 h 94"/>
                <a:gd name="T20" fmla="*/ 13 w 59"/>
                <a:gd name="T21" fmla="*/ 39 h 94"/>
                <a:gd name="T22" fmla="*/ 13 w 59"/>
                <a:gd name="T23" fmla="*/ 51 h 94"/>
                <a:gd name="T24" fmla="*/ 59 w 59"/>
                <a:gd name="T25" fmla="*/ 51 h 94"/>
                <a:gd name="T26" fmla="*/ 59 w 59"/>
                <a:gd name="T27" fmla="*/ 62 h 94"/>
                <a:gd name="T28" fmla="*/ 13 w 59"/>
                <a:gd name="T29" fmla="*/ 62 h 94"/>
                <a:gd name="T30" fmla="*/ 13 w 59"/>
                <a:gd name="T31" fmla="*/ 74 h 94"/>
                <a:gd name="T32" fmla="*/ 24 w 59"/>
                <a:gd name="T33" fmla="*/ 83 h 94"/>
                <a:gd name="T34" fmla="*/ 59 w 59"/>
                <a:gd name="T35" fmla="*/ 83 h 94"/>
                <a:gd name="T36" fmla="*/ 59 w 59"/>
                <a:gd name="T37" fmla="*/ 94 h 94"/>
                <a:gd name="T38" fmla="*/ 44 w 59"/>
                <a:gd name="T39" fmla="*/ 0 h 94"/>
                <a:gd name="T40" fmla="*/ 34 w 59"/>
                <a:gd name="T41" fmla="*/ 13 h 94"/>
                <a:gd name="T42" fmla="*/ 24 w 59"/>
                <a:gd name="T43" fmla="*/ 13 h 94"/>
                <a:gd name="T44" fmla="*/ 33 w 59"/>
                <a:gd name="T45" fmla="*/ 0 h 94"/>
                <a:gd name="T46" fmla="*/ 44 w 59"/>
                <a:gd name="T47"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4">
                  <a:moveTo>
                    <a:pt x="59" y="94"/>
                  </a:moveTo>
                  <a:cubicBezTo>
                    <a:pt x="21" y="94"/>
                    <a:pt x="21" y="94"/>
                    <a:pt x="21" y="94"/>
                  </a:cubicBezTo>
                  <a:cubicBezTo>
                    <a:pt x="14" y="94"/>
                    <a:pt x="9" y="92"/>
                    <a:pt x="6" y="90"/>
                  </a:cubicBezTo>
                  <a:cubicBezTo>
                    <a:pt x="2" y="87"/>
                    <a:pt x="0" y="83"/>
                    <a:pt x="0" y="78"/>
                  </a:cubicBezTo>
                  <a:cubicBezTo>
                    <a:pt x="0" y="36"/>
                    <a:pt x="0" y="36"/>
                    <a:pt x="0" y="36"/>
                  </a:cubicBezTo>
                  <a:cubicBezTo>
                    <a:pt x="0" y="31"/>
                    <a:pt x="1" y="27"/>
                    <a:pt x="5" y="24"/>
                  </a:cubicBezTo>
                  <a:cubicBezTo>
                    <a:pt x="8" y="21"/>
                    <a:pt x="13" y="19"/>
                    <a:pt x="20" y="19"/>
                  </a:cubicBezTo>
                  <a:cubicBezTo>
                    <a:pt x="59" y="19"/>
                    <a:pt x="59" y="19"/>
                    <a:pt x="59" y="19"/>
                  </a:cubicBezTo>
                  <a:cubicBezTo>
                    <a:pt x="59" y="30"/>
                    <a:pt x="59" y="30"/>
                    <a:pt x="59" y="30"/>
                  </a:cubicBezTo>
                  <a:cubicBezTo>
                    <a:pt x="24" y="30"/>
                    <a:pt x="24" y="30"/>
                    <a:pt x="24" y="30"/>
                  </a:cubicBezTo>
                  <a:cubicBezTo>
                    <a:pt x="17" y="30"/>
                    <a:pt x="13" y="33"/>
                    <a:pt x="13" y="39"/>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3"/>
                    <a:pt x="24" y="83"/>
                  </a:cubicBezTo>
                  <a:cubicBezTo>
                    <a:pt x="59" y="83"/>
                    <a:pt x="59" y="83"/>
                    <a:pt x="59" y="83"/>
                  </a:cubicBezTo>
                  <a:lnTo>
                    <a:pt x="59" y="94"/>
                  </a:lnTo>
                  <a:close/>
                  <a:moveTo>
                    <a:pt x="44" y="0"/>
                  </a:moveTo>
                  <a:cubicBezTo>
                    <a:pt x="34" y="13"/>
                    <a:pt x="34" y="13"/>
                    <a:pt x="34" y="13"/>
                  </a:cubicBezTo>
                  <a:cubicBezTo>
                    <a:pt x="24" y="13"/>
                    <a:pt x="24" y="13"/>
                    <a:pt x="24" y="13"/>
                  </a:cubicBezTo>
                  <a:cubicBezTo>
                    <a:pt x="33" y="0"/>
                    <a:pt x="33" y="0"/>
                    <a:pt x="33" y="0"/>
                  </a:cubicBezTo>
                  <a:lnTo>
                    <a:pt x="44" y="0"/>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 name="Freeform 47"/>
            <p:cNvSpPr>
              <a:spLocks noEditPoints="1"/>
            </p:cNvSpPr>
            <p:nvPr userDrawn="1"/>
          </p:nvSpPr>
          <p:spPr bwMode="auto">
            <a:xfrm>
              <a:off x="2322" y="2726"/>
              <a:ext cx="97" cy="114"/>
            </a:xfrm>
            <a:custGeom>
              <a:avLst/>
              <a:gdLst>
                <a:gd name="T0" fmla="*/ 64 w 64"/>
                <a:gd name="T1" fmla="*/ 58 h 75"/>
                <a:gd name="T2" fmla="*/ 42 w 64"/>
                <a:gd name="T3" fmla="*/ 75 h 75"/>
                <a:gd name="T4" fmla="*/ 22 w 64"/>
                <a:gd name="T5" fmla="*/ 75 h 75"/>
                <a:gd name="T6" fmla="*/ 7 w 64"/>
                <a:gd name="T7" fmla="*/ 71 h 75"/>
                <a:gd name="T8" fmla="*/ 0 w 64"/>
                <a:gd name="T9" fmla="*/ 58 h 75"/>
                <a:gd name="T10" fmla="*/ 0 w 64"/>
                <a:gd name="T11" fmla="*/ 17 h 75"/>
                <a:gd name="T12" fmla="*/ 7 w 64"/>
                <a:gd name="T13" fmla="*/ 4 h 75"/>
                <a:gd name="T14" fmla="*/ 22 w 64"/>
                <a:gd name="T15" fmla="*/ 0 h 75"/>
                <a:gd name="T16" fmla="*/ 43 w 64"/>
                <a:gd name="T17" fmla="*/ 0 h 75"/>
                <a:gd name="T18" fmla="*/ 64 w 64"/>
                <a:gd name="T19" fmla="*/ 17 h 75"/>
                <a:gd name="T20" fmla="*/ 64 w 64"/>
                <a:gd name="T21" fmla="*/ 58 h 75"/>
                <a:gd name="T22" fmla="*/ 51 w 64"/>
                <a:gd name="T23" fmla="*/ 55 h 75"/>
                <a:gd name="T24" fmla="*/ 51 w 64"/>
                <a:gd name="T25" fmla="*/ 21 h 75"/>
                <a:gd name="T26" fmla="*/ 48 w 64"/>
                <a:gd name="T27" fmla="*/ 13 h 75"/>
                <a:gd name="T28" fmla="*/ 39 w 64"/>
                <a:gd name="T29" fmla="*/ 11 h 75"/>
                <a:gd name="T30" fmla="*/ 26 w 64"/>
                <a:gd name="T31" fmla="*/ 11 h 75"/>
                <a:gd name="T32" fmla="*/ 16 w 64"/>
                <a:gd name="T33" fmla="*/ 13 h 75"/>
                <a:gd name="T34" fmla="*/ 14 w 64"/>
                <a:gd name="T35" fmla="*/ 21 h 75"/>
                <a:gd name="T36" fmla="*/ 14 w 64"/>
                <a:gd name="T37" fmla="*/ 55 h 75"/>
                <a:gd name="T38" fmla="*/ 17 w 64"/>
                <a:gd name="T39" fmla="*/ 62 h 75"/>
                <a:gd name="T40" fmla="*/ 26 w 64"/>
                <a:gd name="T41" fmla="*/ 64 h 75"/>
                <a:gd name="T42" fmla="*/ 39 w 64"/>
                <a:gd name="T43" fmla="*/ 64 h 75"/>
                <a:gd name="T44" fmla="*/ 48 w 64"/>
                <a:gd name="T45" fmla="*/ 62 h 75"/>
                <a:gd name="T46" fmla="*/ 51 w 64"/>
                <a:gd name="T47"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5">
                  <a:moveTo>
                    <a:pt x="64" y="58"/>
                  </a:moveTo>
                  <a:cubicBezTo>
                    <a:pt x="64" y="69"/>
                    <a:pt x="57" y="75"/>
                    <a:pt x="42" y="75"/>
                  </a:cubicBezTo>
                  <a:cubicBezTo>
                    <a:pt x="22" y="75"/>
                    <a:pt x="22" y="75"/>
                    <a:pt x="22" y="75"/>
                  </a:cubicBezTo>
                  <a:cubicBezTo>
                    <a:pt x="15" y="75"/>
                    <a:pt x="10" y="73"/>
                    <a:pt x="7" y="71"/>
                  </a:cubicBezTo>
                  <a:cubicBezTo>
                    <a:pt x="3" y="68"/>
                    <a:pt x="0" y="64"/>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8"/>
                  </a:lnTo>
                  <a:close/>
                  <a:moveTo>
                    <a:pt x="51" y="55"/>
                  </a:moveTo>
                  <a:cubicBezTo>
                    <a:pt x="51" y="21"/>
                    <a:pt x="51" y="21"/>
                    <a:pt x="51" y="21"/>
                  </a:cubicBezTo>
                  <a:cubicBezTo>
                    <a:pt x="51" y="17"/>
                    <a:pt x="50" y="15"/>
                    <a:pt x="48" y="13"/>
                  </a:cubicBezTo>
                  <a:cubicBezTo>
                    <a:pt x="47" y="12"/>
                    <a:pt x="44" y="11"/>
                    <a:pt x="39" y="11"/>
                  </a:cubicBezTo>
                  <a:cubicBezTo>
                    <a:pt x="26" y="11"/>
                    <a:pt x="26" y="11"/>
                    <a:pt x="26" y="11"/>
                  </a:cubicBezTo>
                  <a:cubicBezTo>
                    <a:pt x="21" y="11"/>
                    <a:pt x="18" y="12"/>
                    <a:pt x="16" y="13"/>
                  </a:cubicBezTo>
                  <a:cubicBezTo>
                    <a:pt x="15" y="15"/>
                    <a:pt x="14" y="17"/>
                    <a:pt x="14" y="21"/>
                  </a:cubicBezTo>
                  <a:cubicBezTo>
                    <a:pt x="14" y="55"/>
                    <a:pt x="14" y="55"/>
                    <a:pt x="14" y="55"/>
                  </a:cubicBezTo>
                  <a:cubicBezTo>
                    <a:pt x="14" y="58"/>
                    <a:pt x="15" y="60"/>
                    <a:pt x="17" y="62"/>
                  </a:cubicBezTo>
                  <a:cubicBezTo>
                    <a:pt x="18" y="63"/>
                    <a:pt x="21" y="64"/>
                    <a:pt x="26" y="64"/>
                  </a:cubicBezTo>
                  <a:cubicBezTo>
                    <a:pt x="39" y="64"/>
                    <a:pt x="39" y="64"/>
                    <a:pt x="39" y="64"/>
                  </a:cubicBezTo>
                  <a:cubicBezTo>
                    <a:pt x="44" y="64"/>
                    <a:pt x="47"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 name="Freeform 48"/>
            <p:cNvSpPr>
              <a:spLocks/>
            </p:cNvSpPr>
            <p:nvPr userDrawn="1"/>
          </p:nvSpPr>
          <p:spPr bwMode="auto">
            <a:xfrm>
              <a:off x="2476" y="2726"/>
              <a:ext cx="98" cy="114"/>
            </a:xfrm>
            <a:custGeom>
              <a:avLst/>
              <a:gdLst>
                <a:gd name="T0" fmla="*/ 65 w 65"/>
                <a:gd name="T1" fmla="*/ 57 h 75"/>
                <a:gd name="T2" fmla="*/ 60 w 65"/>
                <a:gd name="T3" fmla="*/ 70 h 75"/>
                <a:gd name="T4" fmla="*/ 45 w 65"/>
                <a:gd name="T5" fmla="*/ 75 h 75"/>
                <a:gd name="T6" fmla="*/ 22 w 65"/>
                <a:gd name="T7" fmla="*/ 75 h 75"/>
                <a:gd name="T8" fmla="*/ 6 w 65"/>
                <a:gd name="T9" fmla="*/ 70 h 75"/>
                <a:gd name="T10" fmla="*/ 1 w 65"/>
                <a:gd name="T11" fmla="*/ 63 h 75"/>
                <a:gd name="T12" fmla="*/ 0 w 65"/>
                <a:gd name="T13" fmla="*/ 55 h 75"/>
                <a:gd name="T14" fmla="*/ 0 w 65"/>
                <a:gd name="T15" fmla="*/ 18 h 75"/>
                <a:gd name="T16" fmla="*/ 1 w 65"/>
                <a:gd name="T17" fmla="*/ 10 h 75"/>
                <a:gd name="T18" fmla="*/ 7 w 65"/>
                <a:gd name="T19" fmla="*/ 4 h 75"/>
                <a:gd name="T20" fmla="*/ 22 w 65"/>
                <a:gd name="T21" fmla="*/ 0 h 75"/>
                <a:gd name="T22" fmla="*/ 60 w 65"/>
                <a:gd name="T23" fmla="*/ 0 h 75"/>
                <a:gd name="T24" fmla="*/ 60 w 65"/>
                <a:gd name="T25" fmla="*/ 11 h 75"/>
                <a:gd name="T26" fmla="*/ 25 w 65"/>
                <a:gd name="T27" fmla="*/ 11 h 75"/>
                <a:gd name="T28" fmla="*/ 16 w 65"/>
                <a:gd name="T29" fmla="*/ 13 h 75"/>
                <a:gd name="T30" fmla="*/ 14 w 65"/>
                <a:gd name="T31" fmla="*/ 20 h 75"/>
                <a:gd name="T32" fmla="*/ 14 w 65"/>
                <a:gd name="T33" fmla="*/ 55 h 75"/>
                <a:gd name="T34" fmla="*/ 17 w 65"/>
                <a:gd name="T35" fmla="*/ 62 h 75"/>
                <a:gd name="T36" fmla="*/ 25 w 65"/>
                <a:gd name="T37" fmla="*/ 64 h 75"/>
                <a:gd name="T38" fmla="*/ 42 w 65"/>
                <a:gd name="T39" fmla="*/ 64 h 75"/>
                <a:gd name="T40" fmla="*/ 52 w 65"/>
                <a:gd name="T41" fmla="*/ 55 h 75"/>
                <a:gd name="T42" fmla="*/ 52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4" y="67"/>
                    <a:pt x="60" y="70"/>
                  </a:cubicBezTo>
                  <a:cubicBezTo>
                    <a:pt x="57" y="73"/>
                    <a:pt x="52" y="75"/>
                    <a:pt x="45" y="75"/>
                  </a:cubicBezTo>
                  <a:cubicBezTo>
                    <a:pt x="22" y="75"/>
                    <a:pt x="22" y="75"/>
                    <a:pt x="22" y="75"/>
                  </a:cubicBezTo>
                  <a:cubicBezTo>
                    <a:pt x="15" y="75"/>
                    <a:pt x="10" y="73"/>
                    <a:pt x="6" y="70"/>
                  </a:cubicBezTo>
                  <a:cubicBezTo>
                    <a:pt x="4" y="68"/>
                    <a:pt x="2" y="66"/>
                    <a:pt x="1" y="63"/>
                  </a:cubicBezTo>
                  <a:cubicBezTo>
                    <a:pt x="1" y="62"/>
                    <a:pt x="0" y="59"/>
                    <a:pt x="0" y="55"/>
                  </a:cubicBezTo>
                  <a:cubicBezTo>
                    <a:pt x="0" y="18"/>
                    <a:pt x="0" y="18"/>
                    <a:pt x="0" y="18"/>
                  </a:cubicBezTo>
                  <a:cubicBezTo>
                    <a:pt x="0" y="15"/>
                    <a:pt x="1" y="12"/>
                    <a:pt x="1" y="10"/>
                  </a:cubicBezTo>
                  <a:cubicBezTo>
                    <a:pt x="2" y="8"/>
                    <a:pt x="4" y="6"/>
                    <a:pt x="7" y="4"/>
                  </a:cubicBezTo>
                  <a:cubicBezTo>
                    <a:pt x="11" y="2"/>
                    <a:pt x="16" y="0"/>
                    <a:pt x="22" y="0"/>
                  </a:cubicBezTo>
                  <a:cubicBezTo>
                    <a:pt x="60" y="0"/>
                    <a:pt x="60" y="0"/>
                    <a:pt x="60" y="0"/>
                  </a:cubicBezTo>
                  <a:cubicBezTo>
                    <a:pt x="60" y="11"/>
                    <a:pt x="60" y="11"/>
                    <a:pt x="60" y="11"/>
                  </a:cubicBezTo>
                  <a:cubicBezTo>
                    <a:pt x="25" y="11"/>
                    <a:pt x="25" y="11"/>
                    <a:pt x="25" y="11"/>
                  </a:cubicBezTo>
                  <a:cubicBezTo>
                    <a:pt x="21" y="11"/>
                    <a:pt x="18" y="12"/>
                    <a:pt x="16" y="13"/>
                  </a:cubicBezTo>
                  <a:cubicBezTo>
                    <a:pt x="15" y="14"/>
                    <a:pt x="14" y="16"/>
                    <a:pt x="14" y="20"/>
                  </a:cubicBezTo>
                  <a:cubicBezTo>
                    <a:pt x="14" y="55"/>
                    <a:pt x="14" y="55"/>
                    <a:pt x="14" y="55"/>
                  </a:cubicBezTo>
                  <a:cubicBezTo>
                    <a:pt x="14" y="58"/>
                    <a:pt x="15" y="61"/>
                    <a:pt x="17" y="62"/>
                  </a:cubicBezTo>
                  <a:cubicBezTo>
                    <a:pt x="18" y="63"/>
                    <a:pt x="21" y="64"/>
                    <a:pt x="25" y="64"/>
                  </a:cubicBezTo>
                  <a:cubicBezTo>
                    <a:pt x="42" y="64"/>
                    <a:pt x="42" y="64"/>
                    <a:pt x="42" y="64"/>
                  </a:cubicBezTo>
                  <a:cubicBezTo>
                    <a:pt x="49" y="64"/>
                    <a:pt x="52" y="61"/>
                    <a:pt x="52" y="55"/>
                  </a:cubicBezTo>
                  <a:cubicBezTo>
                    <a:pt x="52" y="34"/>
                    <a:pt x="52" y="34"/>
                    <a:pt x="52"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 name="Freeform 49"/>
            <p:cNvSpPr>
              <a:spLocks/>
            </p:cNvSpPr>
            <p:nvPr userDrawn="1"/>
          </p:nvSpPr>
          <p:spPr bwMode="auto">
            <a:xfrm>
              <a:off x="2631" y="2728"/>
              <a:ext cx="98" cy="112"/>
            </a:xfrm>
            <a:custGeom>
              <a:avLst/>
              <a:gdLst>
                <a:gd name="T0" fmla="*/ 65 w 65"/>
                <a:gd name="T1" fmla="*/ 74 h 74"/>
                <a:gd name="T2" fmla="*/ 49 w 65"/>
                <a:gd name="T3" fmla="*/ 74 h 74"/>
                <a:gd name="T4" fmla="*/ 16 w 65"/>
                <a:gd name="T5" fmla="*/ 45 h 74"/>
                <a:gd name="T6" fmla="*/ 15 w 65"/>
                <a:gd name="T7" fmla="*/ 40 h 74"/>
                <a:gd name="T8" fmla="*/ 23 w 65"/>
                <a:gd name="T9" fmla="*/ 34 h 74"/>
                <a:gd name="T10" fmla="*/ 42 w 65"/>
                <a:gd name="T11" fmla="*/ 34 h 74"/>
                <a:gd name="T12" fmla="*/ 52 w 65"/>
                <a:gd name="T13" fmla="*/ 27 h 74"/>
                <a:gd name="T14" fmla="*/ 52 w 65"/>
                <a:gd name="T15" fmla="*/ 18 h 74"/>
                <a:gd name="T16" fmla="*/ 41 w 65"/>
                <a:gd name="T17" fmla="*/ 10 h 74"/>
                <a:gd name="T18" fmla="*/ 14 w 65"/>
                <a:gd name="T19" fmla="*/ 10 h 74"/>
                <a:gd name="T20" fmla="*/ 14 w 65"/>
                <a:gd name="T21" fmla="*/ 74 h 74"/>
                <a:gd name="T22" fmla="*/ 0 w 65"/>
                <a:gd name="T23" fmla="*/ 74 h 74"/>
                <a:gd name="T24" fmla="*/ 0 w 65"/>
                <a:gd name="T25" fmla="*/ 0 h 74"/>
                <a:gd name="T26" fmla="*/ 45 w 65"/>
                <a:gd name="T27" fmla="*/ 0 h 74"/>
                <a:gd name="T28" fmla="*/ 65 w 65"/>
                <a:gd name="T29" fmla="*/ 15 h 74"/>
                <a:gd name="T30" fmla="*/ 65 w 65"/>
                <a:gd name="T31" fmla="*/ 28 h 74"/>
                <a:gd name="T32" fmla="*/ 60 w 65"/>
                <a:gd name="T33" fmla="*/ 39 h 74"/>
                <a:gd name="T34" fmla="*/ 46 w 65"/>
                <a:gd name="T35" fmla="*/ 43 h 74"/>
                <a:gd name="T36" fmla="*/ 31 w 65"/>
                <a:gd name="T37" fmla="*/ 43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5"/>
                    <a:pt x="16" y="45"/>
                    <a:pt x="16" y="45"/>
                  </a:cubicBezTo>
                  <a:cubicBezTo>
                    <a:pt x="15" y="44"/>
                    <a:pt x="15" y="43"/>
                    <a:pt x="15" y="40"/>
                  </a:cubicBezTo>
                  <a:cubicBezTo>
                    <a:pt x="15" y="36"/>
                    <a:pt x="17" y="34"/>
                    <a:pt x="23" y="34"/>
                  </a:cubicBezTo>
                  <a:cubicBezTo>
                    <a:pt x="42" y="34"/>
                    <a:pt x="42" y="34"/>
                    <a:pt x="42" y="34"/>
                  </a:cubicBezTo>
                  <a:cubicBezTo>
                    <a:pt x="49" y="34"/>
                    <a:pt x="52" y="32"/>
                    <a:pt x="52" y="27"/>
                  </a:cubicBezTo>
                  <a:cubicBezTo>
                    <a:pt x="52" y="18"/>
                    <a:pt x="52" y="18"/>
                    <a:pt x="52" y="18"/>
                  </a:cubicBezTo>
                  <a:cubicBezTo>
                    <a:pt x="52" y="13"/>
                    <a:pt x="48" y="10"/>
                    <a:pt x="41" y="10"/>
                  </a:cubicBezTo>
                  <a:cubicBezTo>
                    <a:pt x="14" y="10"/>
                    <a:pt x="14" y="10"/>
                    <a:pt x="14" y="10"/>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5"/>
                  </a:cubicBezTo>
                  <a:cubicBezTo>
                    <a:pt x="65" y="28"/>
                    <a:pt x="65" y="28"/>
                    <a:pt x="65" y="28"/>
                  </a:cubicBezTo>
                  <a:cubicBezTo>
                    <a:pt x="65" y="33"/>
                    <a:pt x="63" y="36"/>
                    <a:pt x="60" y="39"/>
                  </a:cubicBezTo>
                  <a:cubicBezTo>
                    <a:pt x="56" y="42"/>
                    <a:pt x="52" y="43"/>
                    <a:pt x="46" y="43"/>
                  </a:cubicBezTo>
                  <a:cubicBezTo>
                    <a:pt x="31" y="43"/>
                    <a:pt x="31" y="43"/>
                    <a:pt x="31" y="43"/>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 name="Freeform 50"/>
            <p:cNvSpPr>
              <a:spLocks noEditPoints="1"/>
            </p:cNvSpPr>
            <p:nvPr userDrawn="1"/>
          </p:nvSpPr>
          <p:spPr bwMode="auto">
            <a:xfrm>
              <a:off x="2773" y="2728"/>
              <a:ext cx="121" cy="112"/>
            </a:xfrm>
            <a:custGeom>
              <a:avLst/>
              <a:gdLst>
                <a:gd name="T0" fmla="*/ 80 w 80"/>
                <a:gd name="T1" fmla="*/ 74 h 74"/>
                <a:gd name="T2" fmla="*/ 66 w 80"/>
                <a:gd name="T3" fmla="*/ 74 h 74"/>
                <a:gd name="T4" fmla="*/ 58 w 80"/>
                <a:gd name="T5" fmla="*/ 55 h 74"/>
                <a:gd name="T6" fmla="*/ 22 w 80"/>
                <a:gd name="T7" fmla="*/ 55 h 74"/>
                <a:gd name="T8" fmla="*/ 14 w 80"/>
                <a:gd name="T9" fmla="*/ 74 h 74"/>
                <a:gd name="T10" fmla="*/ 0 w 80"/>
                <a:gd name="T11" fmla="*/ 74 h 74"/>
                <a:gd name="T12" fmla="*/ 29 w 80"/>
                <a:gd name="T13" fmla="*/ 6 h 74"/>
                <a:gd name="T14" fmla="*/ 40 w 80"/>
                <a:gd name="T15" fmla="*/ 0 h 74"/>
                <a:gd name="T16" fmla="*/ 50 w 80"/>
                <a:gd name="T17" fmla="*/ 6 h 74"/>
                <a:gd name="T18" fmla="*/ 80 w 80"/>
                <a:gd name="T19" fmla="*/ 74 h 74"/>
                <a:gd name="T20" fmla="*/ 54 w 80"/>
                <a:gd name="T21" fmla="*/ 45 h 74"/>
                <a:gd name="T22" fmla="*/ 39 w 80"/>
                <a:gd name="T23" fmla="*/ 12 h 74"/>
                <a:gd name="T24" fmla="*/ 26 w 80"/>
                <a:gd name="T25" fmla="*/ 45 h 74"/>
                <a:gd name="T26" fmla="*/ 54 w 80"/>
                <a:gd name="T27" fmla="*/ 4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5"/>
                    <a:pt x="58" y="55"/>
                    <a:pt x="58" y="55"/>
                  </a:cubicBezTo>
                  <a:cubicBezTo>
                    <a:pt x="22" y="55"/>
                    <a:pt x="22" y="55"/>
                    <a:pt x="22" y="55"/>
                  </a:cubicBezTo>
                  <a:cubicBezTo>
                    <a:pt x="14" y="74"/>
                    <a:pt x="14" y="74"/>
                    <a:pt x="14" y="74"/>
                  </a:cubicBezTo>
                  <a:cubicBezTo>
                    <a:pt x="0" y="74"/>
                    <a:pt x="0" y="74"/>
                    <a:pt x="0" y="74"/>
                  </a:cubicBezTo>
                  <a:cubicBezTo>
                    <a:pt x="29" y="6"/>
                    <a:pt x="29" y="6"/>
                    <a:pt x="29" y="6"/>
                  </a:cubicBezTo>
                  <a:cubicBezTo>
                    <a:pt x="31" y="2"/>
                    <a:pt x="35" y="0"/>
                    <a:pt x="40" y="0"/>
                  </a:cubicBezTo>
                  <a:cubicBezTo>
                    <a:pt x="45" y="0"/>
                    <a:pt x="48" y="2"/>
                    <a:pt x="50" y="6"/>
                  </a:cubicBezTo>
                  <a:lnTo>
                    <a:pt x="80" y="74"/>
                  </a:lnTo>
                  <a:close/>
                  <a:moveTo>
                    <a:pt x="54" y="45"/>
                  </a:moveTo>
                  <a:cubicBezTo>
                    <a:pt x="39" y="12"/>
                    <a:pt x="39" y="12"/>
                    <a:pt x="39" y="12"/>
                  </a:cubicBezTo>
                  <a:cubicBezTo>
                    <a:pt x="26" y="45"/>
                    <a:pt x="26" y="45"/>
                    <a:pt x="26" y="45"/>
                  </a:cubicBezTo>
                  <a:lnTo>
                    <a:pt x="54" y="4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 name="Freeform 51"/>
            <p:cNvSpPr>
              <a:spLocks noEditPoints="1"/>
            </p:cNvSpPr>
            <p:nvPr userDrawn="1"/>
          </p:nvSpPr>
          <p:spPr bwMode="auto">
            <a:xfrm>
              <a:off x="2939" y="2726"/>
              <a:ext cx="99" cy="114"/>
            </a:xfrm>
            <a:custGeom>
              <a:avLst/>
              <a:gdLst>
                <a:gd name="T0" fmla="*/ 66 w 66"/>
                <a:gd name="T1" fmla="*/ 31 h 75"/>
                <a:gd name="T2" fmla="*/ 60 w 66"/>
                <a:gd name="T3" fmla="*/ 42 h 75"/>
                <a:gd name="T4" fmla="*/ 46 w 66"/>
                <a:gd name="T5" fmla="*/ 47 h 75"/>
                <a:gd name="T6" fmla="*/ 14 w 66"/>
                <a:gd name="T7" fmla="*/ 47 h 75"/>
                <a:gd name="T8" fmla="*/ 14 w 66"/>
                <a:gd name="T9" fmla="*/ 75 h 75"/>
                <a:gd name="T10" fmla="*/ 0 w 66"/>
                <a:gd name="T11" fmla="*/ 75 h 75"/>
                <a:gd name="T12" fmla="*/ 0 w 66"/>
                <a:gd name="T13" fmla="*/ 0 h 75"/>
                <a:gd name="T14" fmla="*/ 45 w 66"/>
                <a:gd name="T15" fmla="*/ 0 h 75"/>
                <a:gd name="T16" fmla="*/ 60 w 66"/>
                <a:gd name="T17" fmla="*/ 4 h 75"/>
                <a:gd name="T18" fmla="*/ 66 w 66"/>
                <a:gd name="T19" fmla="*/ 15 h 75"/>
                <a:gd name="T20" fmla="*/ 66 w 66"/>
                <a:gd name="T21" fmla="*/ 31 h 75"/>
                <a:gd name="T22" fmla="*/ 52 w 66"/>
                <a:gd name="T23" fmla="*/ 27 h 75"/>
                <a:gd name="T24" fmla="*/ 52 w 66"/>
                <a:gd name="T25" fmla="*/ 18 h 75"/>
                <a:gd name="T26" fmla="*/ 42 w 66"/>
                <a:gd name="T27" fmla="*/ 11 h 75"/>
                <a:gd name="T28" fmla="*/ 14 w 66"/>
                <a:gd name="T29" fmla="*/ 11 h 75"/>
                <a:gd name="T30" fmla="*/ 14 w 66"/>
                <a:gd name="T31" fmla="*/ 36 h 75"/>
                <a:gd name="T32" fmla="*/ 41 w 66"/>
                <a:gd name="T33" fmla="*/ 36 h 75"/>
                <a:gd name="T34" fmla="*/ 52 w 66"/>
                <a:gd name="T35" fmla="*/ 2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75">
                  <a:moveTo>
                    <a:pt x="66" y="31"/>
                  </a:moveTo>
                  <a:cubicBezTo>
                    <a:pt x="66" y="36"/>
                    <a:pt x="64" y="40"/>
                    <a:pt x="60" y="42"/>
                  </a:cubicBezTo>
                  <a:cubicBezTo>
                    <a:pt x="57" y="45"/>
                    <a:pt x="52" y="47"/>
                    <a:pt x="46" y="47"/>
                  </a:cubicBezTo>
                  <a:cubicBezTo>
                    <a:pt x="14" y="47"/>
                    <a:pt x="14" y="47"/>
                    <a:pt x="14" y="47"/>
                  </a:cubicBezTo>
                  <a:cubicBezTo>
                    <a:pt x="14" y="75"/>
                    <a:pt x="14" y="75"/>
                    <a:pt x="14" y="75"/>
                  </a:cubicBezTo>
                  <a:cubicBezTo>
                    <a:pt x="0" y="75"/>
                    <a:pt x="0" y="75"/>
                    <a:pt x="0" y="75"/>
                  </a:cubicBezTo>
                  <a:cubicBezTo>
                    <a:pt x="0" y="0"/>
                    <a:pt x="0" y="0"/>
                    <a:pt x="0" y="0"/>
                  </a:cubicBezTo>
                  <a:cubicBezTo>
                    <a:pt x="45" y="0"/>
                    <a:pt x="45" y="0"/>
                    <a:pt x="45" y="0"/>
                  </a:cubicBezTo>
                  <a:cubicBezTo>
                    <a:pt x="51" y="0"/>
                    <a:pt x="56" y="1"/>
                    <a:pt x="60" y="4"/>
                  </a:cubicBezTo>
                  <a:cubicBezTo>
                    <a:pt x="63" y="7"/>
                    <a:pt x="65" y="10"/>
                    <a:pt x="66" y="15"/>
                  </a:cubicBezTo>
                  <a:cubicBezTo>
                    <a:pt x="66" y="20"/>
                    <a:pt x="66" y="25"/>
                    <a:pt x="66" y="31"/>
                  </a:cubicBezTo>
                  <a:close/>
                  <a:moveTo>
                    <a:pt x="52" y="27"/>
                  </a:moveTo>
                  <a:cubicBezTo>
                    <a:pt x="52" y="18"/>
                    <a:pt x="52" y="18"/>
                    <a:pt x="52" y="18"/>
                  </a:cubicBezTo>
                  <a:cubicBezTo>
                    <a:pt x="52" y="14"/>
                    <a:pt x="49" y="11"/>
                    <a:pt x="42" y="11"/>
                  </a:cubicBezTo>
                  <a:cubicBezTo>
                    <a:pt x="14" y="11"/>
                    <a:pt x="14" y="11"/>
                    <a:pt x="14" y="11"/>
                  </a:cubicBezTo>
                  <a:cubicBezTo>
                    <a:pt x="14" y="36"/>
                    <a:pt x="14" y="36"/>
                    <a:pt x="14" y="36"/>
                  </a:cubicBezTo>
                  <a:cubicBezTo>
                    <a:pt x="41" y="36"/>
                    <a:pt x="41" y="36"/>
                    <a:pt x="41" y="36"/>
                  </a:cubicBezTo>
                  <a:cubicBezTo>
                    <a:pt x="49" y="36"/>
                    <a:pt x="52" y="33"/>
                    <a:pt x="52" y="27"/>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 name="Freeform 52"/>
            <p:cNvSpPr>
              <a:spLocks/>
            </p:cNvSpPr>
            <p:nvPr userDrawn="1"/>
          </p:nvSpPr>
          <p:spPr bwMode="auto">
            <a:xfrm>
              <a:off x="3094" y="2726"/>
              <a:ext cx="100" cy="114"/>
            </a:xfrm>
            <a:custGeom>
              <a:avLst/>
              <a:gdLst>
                <a:gd name="T0" fmla="*/ 100 w 100"/>
                <a:gd name="T1" fmla="*/ 114 h 114"/>
                <a:gd name="T2" fmla="*/ 80 w 100"/>
                <a:gd name="T3" fmla="*/ 114 h 114"/>
                <a:gd name="T4" fmla="*/ 80 w 100"/>
                <a:gd name="T5" fmla="*/ 65 h 114"/>
                <a:gd name="T6" fmla="*/ 20 w 100"/>
                <a:gd name="T7" fmla="*/ 65 h 114"/>
                <a:gd name="T8" fmla="*/ 20 w 100"/>
                <a:gd name="T9" fmla="*/ 114 h 114"/>
                <a:gd name="T10" fmla="*/ 0 w 100"/>
                <a:gd name="T11" fmla="*/ 114 h 114"/>
                <a:gd name="T12" fmla="*/ 0 w 100"/>
                <a:gd name="T13" fmla="*/ 0 h 114"/>
                <a:gd name="T14" fmla="*/ 20 w 100"/>
                <a:gd name="T15" fmla="*/ 0 h 114"/>
                <a:gd name="T16" fmla="*/ 20 w 100"/>
                <a:gd name="T17" fmla="*/ 49 h 114"/>
                <a:gd name="T18" fmla="*/ 80 w 100"/>
                <a:gd name="T19" fmla="*/ 49 h 114"/>
                <a:gd name="T20" fmla="*/ 80 w 100"/>
                <a:gd name="T21" fmla="*/ 0 h 114"/>
                <a:gd name="T22" fmla="*/ 100 w 100"/>
                <a:gd name="T23" fmla="*/ 0 h 114"/>
                <a:gd name="T24" fmla="*/ 100 w 100"/>
                <a:gd name="T25"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4">
                  <a:moveTo>
                    <a:pt x="100" y="114"/>
                  </a:moveTo>
                  <a:lnTo>
                    <a:pt x="80" y="114"/>
                  </a:lnTo>
                  <a:lnTo>
                    <a:pt x="80" y="65"/>
                  </a:lnTo>
                  <a:lnTo>
                    <a:pt x="20" y="65"/>
                  </a:lnTo>
                  <a:lnTo>
                    <a:pt x="20" y="114"/>
                  </a:lnTo>
                  <a:lnTo>
                    <a:pt x="0" y="114"/>
                  </a:lnTo>
                  <a:lnTo>
                    <a:pt x="0" y="0"/>
                  </a:lnTo>
                  <a:lnTo>
                    <a:pt x="20" y="0"/>
                  </a:lnTo>
                  <a:lnTo>
                    <a:pt x="20" y="49"/>
                  </a:lnTo>
                  <a:lnTo>
                    <a:pt x="80" y="49"/>
                  </a:lnTo>
                  <a:lnTo>
                    <a:pt x="80" y="0"/>
                  </a:lnTo>
                  <a:lnTo>
                    <a:pt x="100" y="0"/>
                  </a:lnTo>
                  <a:lnTo>
                    <a:pt x="100" y="11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 name="Rectangle 53"/>
            <p:cNvSpPr>
              <a:spLocks noChangeArrowheads="1"/>
            </p:cNvSpPr>
            <p:nvPr userDrawn="1"/>
          </p:nvSpPr>
          <p:spPr bwMode="auto">
            <a:xfrm>
              <a:off x="3251" y="2726"/>
              <a:ext cx="20" cy="114"/>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 name="Freeform 54"/>
            <p:cNvSpPr>
              <a:spLocks noEditPoints="1"/>
            </p:cNvSpPr>
            <p:nvPr userDrawn="1"/>
          </p:nvSpPr>
          <p:spPr bwMode="auto">
            <a:xfrm>
              <a:off x="3328" y="2726"/>
              <a:ext cx="98" cy="129"/>
            </a:xfrm>
            <a:custGeom>
              <a:avLst/>
              <a:gdLst>
                <a:gd name="T0" fmla="*/ 65 w 65"/>
                <a:gd name="T1" fmla="*/ 58 h 85"/>
                <a:gd name="T2" fmla="*/ 51 w 65"/>
                <a:gd name="T3" fmla="*/ 74 h 85"/>
                <a:gd name="T4" fmla="*/ 64 w 65"/>
                <a:gd name="T5" fmla="*/ 85 h 85"/>
                <a:gd name="T6" fmla="*/ 46 w 65"/>
                <a:gd name="T7" fmla="*/ 85 h 85"/>
                <a:gd name="T8" fmla="*/ 33 w 65"/>
                <a:gd name="T9" fmla="*/ 75 h 85"/>
                <a:gd name="T10" fmla="*/ 22 w 65"/>
                <a:gd name="T11" fmla="*/ 75 h 85"/>
                <a:gd name="T12" fmla="*/ 7 w 65"/>
                <a:gd name="T13" fmla="*/ 71 h 85"/>
                <a:gd name="T14" fmla="*/ 0 w 65"/>
                <a:gd name="T15" fmla="*/ 58 h 85"/>
                <a:gd name="T16" fmla="*/ 0 w 65"/>
                <a:gd name="T17" fmla="*/ 17 h 85"/>
                <a:gd name="T18" fmla="*/ 7 w 65"/>
                <a:gd name="T19" fmla="*/ 4 h 85"/>
                <a:gd name="T20" fmla="*/ 22 w 65"/>
                <a:gd name="T21" fmla="*/ 0 h 85"/>
                <a:gd name="T22" fmla="*/ 43 w 65"/>
                <a:gd name="T23" fmla="*/ 0 h 85"/>
                <a:gd name="T24" fmla="*/ 58 w 65"/>
                <a:gd name="T25" fmla="*/ 4 h 85"/>
                <a:gd name="T26" fmla="*/ 65 w 65"/>
                <a:gd name="T27" fmla="*/ 17 h 85"/>
                <a:gd name="T28" fmla="*/ 65 w 65"/>
                <a:gd name="T29" fmla="*/ 58 h 85"/>
                <a:gd name="T30" fmla="*/ 52 w 65"/>
                <a:gd name="T31" fmla="*/ 56 h 85"/>
                <a:gd name="T32" fmla="*/ 52 w 65"/>
                <a:gd name="T33" fmla="*/ 20 h 85"/>
                <a:gd name="T34" fmla="*/ 49 w 65"/>
                <a:gd name="T35" fmla="*/ 13 h 85"/>
                <a:gd name="T36" fmla="*/ 39 w 65"/>
                <a:gd name="T37" fmla="*/ 11 h 85"/>
                <a:gd name="T38" fmla="*/ 26 w 65"/>
                <a:gd name="T39" fmla="*/ 11 h 85"/>
                <a:gd name="T40" fmla="*/ 16 w 65"/>
                <a:gd name="T41" fmla="*/ 13 h 85"/>
                <a:gd name="T42" fmla="*/ 14 w 65"/>
                <a:gd name="T43" fmla="*/ 20 h 85"/>
                <a:gd name="T44" fmla="*/ 14 w 65"/>
                <a:gd name="T45" fmla="*/ 55 h 85"/>
                <a:gd name="T46" fmla="*/ 17 w 65"/>
                <a:gd name="T47" fmla="*/ 62 h 85"/>
                <a:gd name="T48" fmla="*/ 26 w 65"/>
                <a:gd name="T49" fmla="*/ 64 h 85"/>
                <a:gd name="T50" fmla="*/ 39 w 65"/>
                <a:gd name="T51" fmla="*/ 64 h 85"/>
                <a:gd name="T52" fmla="*/ 49 w 65"/>
                <a:gd name="T53" fmla="*/ 62 h 85"/>
                <a:gd name="T54" fmla="*/ 52 w 65"/>
                <a:gd name="T55" fmla="*/ 5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85">
                  <a:moveTo>
                    <a:pt x="65" y="58"/>
                  </a:moveTo>
                  <a:cubicBezTo>
                    <a:pt x="65" y="67"/>
                    <a:pt x="60" y="72"/>
                    <a:pt x="51" y="74"/>
                  </a:cubicBezTo>
                  <a:cubicBezTo>
                    <a:pt x="64" y="85"/>
                    <a:pt x="64" y="85"/>
                    <a:pt x="64" y="85"/>
                  </a:cubicBezTo>
                  <a:cubicBezTo>
                    <a:pt x="46" y="85"/>
                    <a:pt x="46" y="85"/>
                    <a:pt x="46" y="85"/>
                  </a:cubicBezTo>
                  <a:cubicBezTo>
                    <a:pt x="33" y="75"/>
                    <a:pt x="33" y="75"/>
                    <a:pt x="33" y="75"/>
                  </a:cubicBezTo>
                  <a:cubicBezTo>
                    <a:pt x="22" y="75"/>
                    <a:pt x="22" y="75"/>
                    <a:pt x="22" y="75"/>
                  </a:cubicBezTo>
                  <a:cubicBezTo>
                    <a:pt x="15" y="75"/>
                    <a:pt x="10" y="74"/>
                    <a:pt x="7" y="71"/>
                  </a:cubicBezTo>
                  <a:cubicBezTo>
                    <a:pt x="2" y="69"/>
                    <a:pt x="0" y="64"/>
                    <a:pt x="0" y="58"/>
                  </a:cubicBezTo>
                  <a:cubicBezTo>
                    <a:pt x="0" y="17"/>
                    <a:pt x="0" y="17"/>
                    <a:pt x="0" y="17"/>
                  </a:cubicBezTo>
                  <a:cubicBezTo>
                    <a:pt x="0" y="11"/>
                    <a:pt x="2" y="7"/>
                    <a:pt x="7" y="4"/>
                  </a:cubicBezTo>
                  <a:cubicBezTo>
                    <a:pt x="10" y="2"/>
                    <a:pt x="15" y="0"/>
                    <a:pt x="22" y="0"/>
                  </a:cubicBezTo>
                  <a:cubicBezTo>
                    <a:pt x="43" y="0"/>
                    <a:pt x="43" y="0"/>
                    <a:pt x="43" y="0"/>
                  </a:cubicBezTo>
                  <a:cubicBezTo>
                    <a:pt x="50" y="0"/>
                    <a:pt x="55" y="2"/>
                    <a:pt x="58" y="4"/>
                  </a:cubicBezTo>
                  <a:cubicBezTo>
                    <a:pt x="63" y="7"/>
                    <a:pt x="65" y="11"/>
                    <a:pt x="65" y="17"/>
                  </a:cubicBezTo>
                  <a:lnTo>
                    <a:pt x="65" y="58"/>
                  </a:lnTo>
                  <a:close/>
                  <a:moveTo>
                    <a:pt x="52" y="56"/>
                  </a:moveTo>
                  <a:cubicBezTo>
                    <a:pt x="52" y="20"/>
                    <a:pt x="52" y="20"/>
                    <a:pt x="52" y="20"/>
                  </a:cubicBezTo>
                  <a:cubicBezTo>
                    <a:pt x="52" y="17"/>
                    <a:pt x="51" y="14"/>
                    <a:pt x="49" y="13"/>
                  </a:cubicBezTo>
                  <a:cubicBezTo>
                    <a:pt x="47" y="12"/>
                    <a:pt x="44" y="11"/>
                    <a:pt x="39" y="11"/>
                  </a:cubicBezTo>
                  <a:cubicBezTo>
                    <a:pt x="26" y="11"/>
                    <a:pt x="26" y="11"/>
                    <a:pt x="26" y="11"/>
                  </a:cubicBezTo>
                  <a:cubicBezTo>
                    <a:pt x="21" y="11"/>
                    <a:pt x="18" y="12"/>
                    <a:pt x="16" y="13"/>
                  </a:cubicBezTo>
                  <a:cubicBezTo>
                    <a:pt x="14" y="14"/>
                    <a:pt x="14" y="17"/>
                    <a:pt x="14" y="20"/>
                  </a:cubicBezTo>
                  <a:cubicBezTo>
                    <a:pt x="14" y="55"/>
                    <a:pt x="14" y="55"/>
                    <a:pt x="14" y="55"/>
                  </a:cubicBezTo>
                  <a:cubicBezTo>
                    <a:pt x="14" y="59"/>
                    <a:pt x="15" y="61"/>
                    <a:pt x="17" y="62"/>
                  </a:cubicBezTo>
                  <a:cubicBezTo>
                    <a:pt x="18" y="63"/>
                    <a:pt x="21" y="64"/>
                    <a:pt x="26" y="64"/>
                  </a:cubicBezTo>
                  <a:cubicBezTo>
                    <a:pt x="39" y="64"/>
                    <a:pt x="39" y="64"/>
                    <a:pt x="39" y="64"/>
                  </a:cubicBezTo>
                  <a:cubicBezTo>
                    <a:pt x="44" y="64"/>
                    <a:pt x="47" y="63"/>
                    <a:pt x="49" y="62"/>
                  </a:cubicBezTo>
                  <a:cubicBezTo>
                    <a:pt x="51" y="61"/>
                    <a:pt x="52" y="59"/>
                    <a:pt x="52" y="56"/>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 name="Freeform 55"/>
            <p:cNvSpPr>
              <a:spLocks/>
            </p:cNvSpPr>
            <p:nvPr userDrawn="1"/>
          </p:nvSpPr>
          <p:spPr bwMode="auto">
            <a:xfrm>
              <a:off x="3483" y="2726"/>
              <a:ext cx="98" cy="114"/>
            </a:xfrm>
            <a:custGeom>
              <a:avLst/>
              <a:gdLst>
                <a:gd name="T0" fmla="*/ 65 w 65"/>
                <a:gd name="T1" fmla="*/ 56 h 75"/>
                <a:gd name="T2" fmla="*/ 64 w 65"/>
                <a:gd name="T3" fmla="*/ 64 h 75"/>
                <a:gd name="T4" fmla="*/ 60 w 65"/>
                <a:gd name="T5" fmla="*/ 70 h 75"/>
                <a:gd name="T6" fmla="*/ 52 w 65"/>
                <a:gd name="T7" fmla="*/ 74 h 75"/>
                <a:gd name="T8" fmla="*/ 43 w 65"/>
                <a:gd name="T9" fmla="*/ 75 h 75"/>
                <a:gd name="T10" fmla="*/ 22 w 65"/>
                <a:gd name="T11" fmla="*/ 75 h 75"/>
                <a:gd name="T12" fmla="*/ 13 w 65"/>
                <a:gd name="T13" fmla="*/ 74 h 75"/>
                <a:gd name="T14" fmla="*/ 6 w 65"/>
                <a:gd name="T15" fmla="*/ 70 h 75"/>
                <a:gd name="T16" fmla="*/ 1 w 65"/>
                <a:gd name="T17" fmla="*/ 64 h 75"/>
                <a:gd name="T18" fmla="*/ 0 w 65"/>
                <a:gd name="T19" fmla="*/ 56 h 75"/>
                <a:gd name="T20" fmla="*/ 0 w 65"/>
                <a:gd name="T21" fmla="*/ 0 h 75"/>
                <a:gd name="T22" fmla="*/ 13 w 65"/>
                <a:gd name="T23" fmla="*/ 0 h 75"/>
                <a:gd name="T24" fmla="*/ 13 w 65"/>
                <a:gd name="T25" fmla="*/ 54 h 75"/>
                <a:gd name="T26" fmla="*/ 16 w 65"/>
                <a:gd name="T27" fmla="*/ 62 h 75"/>
                <a:gd name="T28" fmla="*/ 26 w 65"/>
                <a:gd name="T29" fmla="*/ 64 h 75"/>
                <a:gd name="T30" fmla="*/ 40 w 65"/>
                <a:gd name="T31" fmla="*/ 64 h 75"/>
                <a:gd name="T32" fmla="*/ 49 w 65"/>
                <a:gd name="T33" fmla="*/ 62 h 75"/>
                <a:gd name="T34" fmla="*/ 52 w 65"/>
                <a:gd name="T35" fmla="*/ 54 h 75"/>
                <a:gd name="T36" fmla="*/ 52 w 65"/>
                <a:gd name="T37" fmla="*/ 0 h 75"/>
                <a:gd name="T38" fmla="*/ 65 w 65"/>
                <a:gd name="T39" fmla="*/ 0 h 75"/>
                <a:gd name="T40" fmla="*/ 65 w 65"/>
                <a:gd name="T41" fmla="*/ 5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75">
                  <a:moveTo>
                    <a:pt x="65" y="56"/>
                  </a:moveTo>
                  <a:cubicBezTo>
                    <a:pt x="65" y="59"/>
                    <a:pt x="65" y="62"/>
                    <a:pt x="64" y="64"/>
                  </a:cubicBezTo>
                  <a:cubicBezTo>
                    <a:pt x="64" y="66"/>
                    <a:pt x="62" y="68"/>
                    <a:pt x="60" y="70"/>
                  </a:cubicBezTo>
                  <a:cubicBezTo>
                    <a:pt x="57" y="72"/>
                    <a:pt x="55" y="73"/>
                    <a:pt x="52" y="74"/>
                  </a:cubicBezTo>
                  <a:cubicBezTo>
                    <a:pt x="50" y="74"/>
                    <a:pt x="47" y="75"/>
                    <a:pt x="43" y="75"/>
                  </a:cubicBezTo>
                  <a:cubicBezTo>
                    <a:pt x="22" y="75"/>
                    <a:pt x="22" y="75"/>
                    <a:pt x="22" y="75"/>
                  </a:cubicBezTo>
                  <a:cubicBezTo>
                    <a:pt x="18" y="75"/>
                    <a:pt x="15" y="74"/>
                    <a:pt x="13" y="74"/>
                  </a:cubicBezTo>
                  <a:cubicBezTo>
                    <a:pt x="11" y="73"/>
                    <a:pt x="8" y="72"/>
                    <a:pt x="6" y="70"/>
                  </a:cubicBezTo>
                  <a:cubicBezTo>
                    <a:pt x="3" y="68"/>
                    <a:pt x="2" y="66"/>
                    <a:pt x="1" y="64"/>
                  </a:cubicBezTo>
                  <a:cubicBezTo>
                    <a:pt x="0" y="62"/>
                    <a:pt x="0" y="59"/>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1" y="64"/>
                    <a:pt x="26" y="64"/>
                  </a:cubicBezTo>
                  <a:cubicBezTo>
                    <a:pt x="40" y="64"/>
                    <a:pt x="40" y="64"/>
                    <a:pt x="40" y="64"/>
                  </a:cubicBezTo>
                  <a:cubicBezTo>
                    <a:pt x="44" y="64"/>
                    <a:pt x="48" y="63"/>
                    <a:pt x="49" y="62"/>
                  </a:cubicBezTo>
                  <a:cubicBezTo>
                    <a:pt x="51" y="60"/>
                    <a:pt x="52" y="58"/>
                    <a:pt x="52" y="54"/>
                  </a:cubicBezTo>
                  <a:cubicBezTo>
                    <a:pt x="52" y="0"/>
                    <a:pt x="52" y="0"/>
                    <a:pt x="52" y="0"/>
                  </a:cubicBezTo>
                  <a:cubicBezTo>
                    <a:pt x="65" y="0"/>
                    <a:pt x="65" y="0"/>
                    <a:pt x="65" y="0"/>
                  </a:cubicBezTo>
                  <a:lnTo>
                    <a:pt x="65"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 name="Freeform 56"/>
            <p:cNvSpPr>
              <a:spLocks/>
            </p:cNvSpPr>
            <p:nvPr userDrawn="1"/>
          </p:nvSpPr>
          <p:spPr bwMode="auto">
            <a:xfrm>
              <a:off x="3638" y="2728"/>
              <a:ext cx="89" cy="112"/>
            </a:xfrm>
            <a:custGeom>
              <a:avLst/>
              <a:gdLst>
                <a:gd name="T0" fmla="*/ 57 w 59"/>
                <a:gd name="T1" fmla="*/ 42 h 74"/>
                <a:gd name="T2" fmla="*/ 14 w 59"/>
                <a:gd name="T3" fmla="*/ 42 h 74"/>
                <a:gd name="T4" fmla="*/ 14 w 59"/>
                <a:gd name="T5" fmla="*/ 54 h 74"/>
                <a:gd name="T6" fmla="*/ 25 w 59"/>
                <a:gd name="T7" fmla="*/ 63 h 74"/>
                <a:gd name="T8" fmla="*/ 59 w 59"/>
                <a:gd name="T9" fmla="*/ 63 h 74"/>
                <a:gd name="T10" fmla="*/ 59 w 59"/>
                <a:gd name="T11" fmla="*/ 74 h 74"/>
                <a:gd name="T12" fmla="*/ 22 w 59"/>
                <a:gd name="T13" fmla="*/ 74 h 74"/>
                <a:gd name="T14" fmla="*/ 6 w 59"/>
                <a:gd name="T15" fmla="*/ 70 h 74"/>
                <a:gd name="T16" fmla="*/ 0 w 59"/>
                <a:gd name="T17" fmla="*/ 58 h 74"/>
                <a:gd name="T18" fmla="*/ 0 w 59"/>
                <a:gd name="T19" fmla="*/ 16 h 74"/>
                <a:gd name="T20" fmla="*/ 6 w 59"/>
                <a:gd name="T21" fmla="*/ 4 h 74"/>
                <a:gd name="T22" fmla="*/ 20 w 59"/>
                <a:gd name="T23" fmla="*/ 0 h 74"/>
                <a:gd name="T24" fmla="*/ 59 w 59"/>
                <a:gd name="T25" fmla="*/ 0 h 74"/>
                <a:gd name="T26" fmla="*/ 59 w 59"/>
                <a:gd name="T27" fmla="*/ 10 h 74"/>
                <a:gd name="T28" fmla="*/ 25 w 59"/>
                <a:gd name="T29" fmla="*/ 10 h 74"/>
                <a:gd name="T30" fmla="*/ 14 w 59"/>
                <a:gd name="T31" fmla="*/ 19 h 74"/>
                <a:gd name="T32" fmla="*/ 14 w 59"/>
                <a:gd name="T33" fmla="*/ 31 h 74"/>
                <a:gd name="T34" fmla="*/ 57 w 59"/>
                <a:gd name="T35" fmla="*/ 31 h 74"/>
                <a:gd name="T36" fmla="*/ 57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2"/>
                  </a:moveTo>
                  <a:cubicBezTo>
                    <a:pt x="14" y="42"/>
                    <a:pt x="14" y="42"/>
                    <a:pt x="14" y="42"/>
                  </a:cubicBezTo>
                  <a:cubicBezTo>
                    <a:pt x="14" y="54"/>
                    <a:pt x="14" y="54"/>
                    <a:pt x="14" y="54"/>
                  </a:cubicBezTo>
                  <a:cubicBezTo>
                    <a:pt x="14" y="60"/>
                    <a:pt x="17" y="63"/>
                    <a:pt x="25" y="63"/>
                  </a:cubicBezTo>
                  <a:cubicBezTo>
                    <a:pt x="59" y="63"/>
                    <a:pt x="59" y="63"/>
                    <a:pt x="59" y="63"/>
                  </a:cubicBezTo>
                  <a:cubicBezTo>
                    <a:pt x="59" y="74"/>
                    <a:pt x="59" y="74"/>
                    <a:pt x="59" y="74"/>
                  </a:cubicBezTo>
                  <a:cubicBezTo>
                    <a:pt x="22" y="74"/>
                    <a:pt x="22" y="74"/>
                    <a:pt x="22" y="74"/>
                  </a:cubicBezTo>
                  <a:cubicBezTo>
                    <a:pt x="15" y="74"/>
                    <a:pt x="10" y="72"/>
                    <a:pt x="6" y="70"/>
                  </a:cubicBezTo>
                  <a:cubicBezTo>
                    <a:pt x="2" y="67"/>
                    <a:pt x="0" y="63"/>
                    <a:pt x="0" y="58"/>
                  </a:cubicBezTo>
                  <a:cubicBezTo>
                    <a:pt x="0" y="16"/>
                    <a:pt x="0" y="16"/>
                    <a:pt x="0" y="16"/>
                  </a:cubicBezTo>
                  <a:cubicBezTo>
                    <a:pt x="0" y="11"/>
                    <a:pt x="2" y="7"/>
                    <a:pt x="6" y="4"/>
                  </a:cubicBezTo>
                  <a:cubicBezTo>
                    <a:pt x="9" y="1"/>
                    <a:pt x="14" y="0"/>
                    <a:pt x="20" y="0"/>
                  </a:cubicBezTo>
                  <a:cubicBezTo>
                    <a:pt x="59" y="0"/>
                    <a:pt x="59" y="0"/>
                    <a:pt x="59" y="0"/>
                  </a:cubicBezTo>
                  <a:cubicBezTo>
                    <a:pt x="59" y="10"/>
                    <a:pt x="59" y="10"/>
                    <a:pt x="59" y="10"/>
                  </a:cubicBezTo>
                  <a:cubicBezTo>
                    <a:pt x="25" y="10"/>
                    <a:pt x="25" y="10"/>
                    <a:pt x="25" y="10"/>
                  </a:cubicBezTo>
                  <a:cubicBezTo>
                    <a:pt x="17" y="10"/>
                    <a:pt x="14" y="13"/>
                    <a:pt x="14" y="19"/>
                  </a:cubicBezTo>
                  <a:cubicBezTo>
                    <a:pt x="14" y="31"/>
                    <a:pt x="14" y="31"/>
                    <a:pt x="14" y="31"/>
                  </a:cubicBezTo>
                  <a:cubicBezTo>
                    <a:pt x="57" y="31"/>
                    <a:pt x="57" y="31"/>
                    <a:pt x="57" y="31"/>
                  </a:cubicBezTo>
                  <a:lnTo>
                    <a:pt x="57"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 name="Freeform 57"/>
            <p:cNvSpPr>
              <a:spLocks/>
            </p:cNvSpPr>
            <p:nvPr userDrawn="1"/>
          </p:nvSpPr>
          <p:spPr bwMode="auto">
            <a:xfrm>
              <a:off x="2023" y="2987"/>
              <a:ext cx="89" cy="112"/>
            </a:xfrm>
            <a:custGeom>
              <a:avLst/>
              <a:gdLst>
                <a:gd name="T0" fmla="*/ 56 w 59"/>
                <a:gd name="T1" fmla="*/ 43 h 74"/>
                <a:gd name="T2" fmla="*/ 13 w 59"/>
                <a:gd name="T3" fmla="*/ 43 h 74"/>
                <a:gd name="T4" fmla="*/ 13 w 59"/>
                <a:gd name="T5" fmla="*/ 55 h 74"/>
                <a:gd name="T6" fmla="*/ 24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4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4" y="63"/>
                  </a:cubicBezTo>
                  <a:cubicBezTo>
                    <a:pt x="59" y="63"/>
                    <a:pt x="59" y="63"/>
                    <a:pt x="59" y="63"/>
                  </a:cubicBezTo>
                  <a:cubicBezTo>
                    <a:pt x="59" y="74"/>
                    <a:pt x="59" y="74"/>
                    <a:pt x="59" y="74"/>
                  </a:cubicBezTo>
                  <a:cubicBezTo>
                    <a:pt x="21" y="74"/>
                    <a:pt x="21" y="74"/>
                    <a:pt x="21" y="74"/>
                  </a:cubicBezTo>
                  <a:cubicBezTo>
                    <a:pt x="14" y="74"/>
                    <a:pt x="9" y="73"/>
                    <a:pt x="6" y="70"/>
                  </a:cubicBezTo>
                  <a:cubicBezTo>
                    <a:pt x="2" y="68"/>
                    <a:pt x="0" y="64"/>
                    <a:pt x="0" y="58"/>
                  </a:cubicBezTo>
                  <a:cubicBezTo>
                    <a:pt x="0" y="17"/>
                    <a:pt x="0" y="17"/>
                    <a:pt x="0" y="17"/>
                  </a:cubicBezTo>
                  <a:cubicBezTo>
                    <a:pt x="0" y="12"/>
                    <a:pt x="1" y="8"/>
                    <a:pt x="5" y="5"/>
                  </a:cubicBezTo>
                  <a:cubicBezTo>
                    <a:pt x="9" y="2"/>
                    <a:pt x="13" y="0"/>
                    <a:pt x="20" y="0"/>
                  </a:cubicBezTo>
                  <a:cubicBezTo>
                    <a:pt x="59" y="0"/>
                    <a:pt x="59" y="0"/>
                    <a:pt x="59" y="0"/>
                  </a:cubicBezTo>
                  <a:cubicBezTo>
                    <a:pt x="59" y="11"/>
                    <a:pt x="59" y="11"/>
                    <a:pt x="59" y="11"/>
                  </a:cubicBezTo>
                  <a:cubicBezTo>
                    <a:pt x="24" y="11"/>
                    <a:pt x="24" y="11"/>
                    <a:pt x="24"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 name="Freeform 58"/>
            <p:cNvSpPr>
              <a:spLocks/>
            </p:cNvSpPr>
            <p:nvPr userDrawn="1"/>
          </p:nvSpPr>
          <p:spPr bwMode="auto">
            <a:xfrm>
              <a:off x="2164"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 name="Freeform 59"/>
            <p:cNvSpPr>
              <a:spLocks/>
            </p:cNvSpPr>
            <p:nvPr userDrawn="1"/>
          </p:nvSpPr>
          <p:spPr bwMode="auto">
            <a:xfrm>
              <a:off x="2394" y="2987"/>
              <a:ext cx="89" cy="112"/>
            </a:xfrm>
            <a:custGeom>
              <a:avLst/>
              <a:gdLst>
                <a:gd name="T0" fmla="*/ 59 w 59"/>
                <a:gd name="T1" fmla="*/ 43 h 74"/>
                <a:gd name="T2" fmla="*/ 13 w 59"/>
                <a:gd name="T3" fmla="*/ 43 h 74"/>
                <a:gd name="T4" fmla="*/ 13 w 59"/>
                <a:gd name="T5" fmla="*/ 74 h 74"/>
                <a:gd name="T6" fmla="*/ 0 w 59"/>
                <a:gd name="T7" fmla="*/ 74 h 74"/>
                <a:gd name="T8" fmla="*/ 0 w 59"/>
                <a:gd name="T9" fmla="*/ 15 h 74"/>
                <a:gd name="T10" fmla="*/ 6 w 59"/>
                <a:gd name="T11" fmla="*/ 4 h 74"/>
                <a:gd name="T12" fmla="*/ 20 w 59"/>
                <a:gd name="T13" fmla="*/ 0 h 74"/>
                <a:gd name="T14" fmla="*/ 59 w 59"/>
                <a:gd name="T15" fmla="*/ 0 h 74"/>
                <a:gd name="T16" fmla="*/ 59 w 59"/>
                <a:gd name="T17" fmla="*/ 11 h 74"/>
                <a:gd name="T18" fmla="*/ 24 w 59"/>
                <a:gd name="T19" fmla="*/ 11 h 74"/>
                <a:gd name="T20" fmla="*/ 13 w 59"/>
                <a:gd name="T21" fmla="*/ 19 h 74"/>
                <a:gd name="T22" fmla="*/ 13 w 59"/>
                <a:gd name="T23" fmla="*/ 32 h 74"/>
                <a:gd name="T24" fmla="*/ 59 w 59"/>
                <a:gd name="T25" fmla="*/ 32 h 74"/>
                <a:gd name="T26" fmla="*/ 59 w 59"/>
                <a:gd name="T2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74">
                  <a:moveTo>
                    <a:pt x="59" y="43"/>
                  </a:moveTo>
                  <a:cubicBezTo>
                    <a:pt x="13" y="43"/>
                    <a:pt x="13" y="43"/>
                    <a:pt x="13" y="43"/>
                  </a:cubicBezTo>
                  <a:cubicBezTo>
                    <a:pt x="13" y="74"/>
                    <a:pt x="13" y="74"/>
                    <a:pt x="13" y="74"/>
                  </a:cubicBezTo>
                  <a:cubicBezTo>
                    <a:pt x="0" y="74"/>
                    <a:pt x="0" y="74"/>
                    <a:pt x="0" y="74"/>
                  </a:cubicBezTo>
                  <a:cubicBezTo>
                    <a:pt x="0" y="15"/>
                    <a:pt x="0" y="15"/>
                    <a:pt x="0" y="15"/>
                  </a:cubicBezTo>
                  <a:cubicBezTo>
                    <a:pt x="0" y="11"/>
                    <a:pt x="2" y="7"/>
                    <a:pt x="6" y="4"/>
                  </a:cubicBezTo>
                  <a:cubicBezTo>
                    <a:pt x="9" y="1"/>
                    <a:pt x="14" y="0"/>
                    <a:pt x="20" y="0"/>
                  </a:cubicBezTo>
                  <a:cubicBezTo>
                    <a:pt x="59" y="0"/>
                    <a:pt x="59" y="0"/>
                    <a:pt x="59" y="0"/>
                  </a:cubicBezTo>
                  <a:cubicBezTo>
                    <a:pt x="59" y="11"/>
                    <a:pt x="59" y="11"/>
                    <a:pt x="59" y="11"/>
                  </a:cubicBezTo>
                  <a:cubicBezTo>
                    <a:pt x="24" y="11"/>
                    <a:pt x="24" y="11"/>
                    <a:pt x="24" y="11"/>
                  </a:cubicBezTo>
                  <a:cubicBezTo>
                    <a:pt x="16" y="11"/>
                    <a:pt x="13" y="14"/>
                    <a:pt x="13" y="19"/>
                  </a:cubicBezTo>
                  <a:cubicBezTo>
                    <a:pt x="13" y="32"/>
                    <a:pt x="13" y="32"/>
                    <a:pt x="13" y="32"/>
                  </a:cubicBezTo>
                  <a:cubicBezTo>
                    <a:pt x="59" y="32"/>
                    <a:pt x="59" y="32"/>
                    <a:pt x="59" y="32"/>
                  </a:cubicBezTo>
                  <a:lnTo>
                    <a:pt x="59"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 name="Freeform 60"/>
            <p:cNvSpPr>
              <a:spLocks noEditPoints="1"/>
            </p:cNvSpPr>
            <p:nvPr userDrawn="1"/>
          </p:nvSpPr>
          <p:spPr bwMode="auto">
            <a:xfrm>
              <a:off x="2542" y="2987"/>
              <a:ext cx="97" cy="112"/>
            </a:xfrm>
            <a:custGeom>
              <a:avLst/>
              <a:gdLst>
                <a:gd name="T0" fmla="*/ 64 w 64"/>
                <a:gd name="T1" fmla="*/ 57 h 74"/>
                <a:gd name="T2" fmla="*/ 42 w 64"/>
                <a:gd name="T3" fmla="*/ 74 h 74"/>
                <a:gd name="T4" fmla="*/ 22 w 64"/>
                <a:gd name="T5" fmla="*/ 74 h 74"/>
                <a:gd name="T6" fmla="*/ 7 w 64"/>
                <a:gd name="T7" fmla="*/ 70 h 74"/>
                <a:gd name="T8" fmla="*/ 0 w 64"/>
                <a:gd name="T9" fmla="*/ 57 h 74"/>
                <a:gd name="T10" fmla="*/ 0 w 64"/>
                <a:gd name="T11" fmla="*/ 17 h 74"/>
                <a:gd name="T12" fmla="*/ 7 w 64"/>
                <a:gd name="T13" fmla="*/ 4 h 74"/>
                <a:gd name="T14" fmla="*/ 22 w 64"/>
                <a:gd name="T15" fmla="*/ 0 h 74"/>
                <a:gd name="T16" fmla="*/ 42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5 w 64"/>
                <a:gd name="T31" fmla="*/ 11 h 74"/>
                <a:gd name="T32" fmla="*/ 16 w 64"/>
                <a:gd name="T33" fmla="*/ 13 h 74"/>
                <a:gd name="T34" fmla="*/ 14 w 64"/>
                <a:gd name="T35" fmla="*/ 20 h 74"/>
                <a:gd name="T36" fmla="*/ 14 w 64"/>
                <a:gd name="T37" fmla="*/ 54 h 74"/>
                <a:gd name="T38" fmla="*/ 17 w 64"/>
                <a:gd name="T39" fmla="*/ 61 h 74"/>
                <a:gd name="T40" fmla="*/ 25 w 64"/>
                <a:gd name="T41" fmla="*/ 63 h 74"/>
                <a:gd name="T42" fmla="*/ 39 w 64"/>
                <a:gd name="T43" fmla="*/ 63 h 74"/>
                <a:gd name="T44" fmla="*/ 48 w 64"/>
                <a:gd name="T45" fmla="*/ 61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0"/>
                  </a:cubicBezTo>
                  <a:cubicBezTo>
                    <a:pt x="2" y="67"/>
                    <a:pt x="0" y="63"/>
                    <a:pt x="0" y="57"/>
                  </a:cubicBezTo>
                  <a:cubicBezTo>
                    <a:pt x="0" y="17"/>
                    <a:pt x="0" y="17"/>
                    <a:pt x="0" y="17"/>
                  </a:cubicBezTo>
                  <a:cubicBezTo>
                    <a:pt x="0" y="11"/>
                    <a:pt x="2" y="7"/>
                    <a:pt x="7" y="4"/>
                  </a:cubicBezTo>
                  <a:cubicBezTo>
                    <a:pt x="10" y="1"/>
                    <a:pt x="15" y="0"/>
                    <a:pt x="22" y="0"/>
                  </a:cubicBezTo>
                  <a:cubicBezTo>
                    <a:pt x="42" y="0"/>
                    <a:pt x="42" y="0"/>
                    <a:pt x="42" y="0"/>
                  </a:cubicBezTo>
                  <a:cubicBezTo>
                    <a:pt x="57" y="0"/>
                    <a:pt x="64" y="6"/>
                    <a:pt x="64" y="17"/>
                  </a:cubicBezTo>
                  <a:lnTo>
                    <a:pt x="64" y="57"/>
                  </a:lnTo>
                  <a:close/>
                  <a:moveTo>
                    <a:pt x="51" y="55"/>
                  </a:moveTo>
                  <a:cubicBezTo>
                    <a:pt x="51" y="20"/>
                    <a:pt x="51" y="20"/>
                    <a:pt x="51" y="20"/>
                  </a:cubicBezTo>
                  <a:cubicBezTo>
                    <a:pt x="51" y="17"/>
                    <a:pt x="50" y="14"/>
                    <a:pt x="48" y="13"/>
                  </a:cubicBezTo>
                  <a:cubicBezTo>
                    <a:pt x="46" y="12"/>
                    <a:pt x="43" y="11"/>
                    <a:pt x="39" y="11"/>
                  </a:cubicBezTo>
                  <a:cubicBezTo>
                    <a:pt x="25" y="11"/>
                    <a:pt x="25" y="11"/>
                    <a:pt x="25" y="11"/>
                  </a:cubicBezTo>
                  <a:cubicBezTo>
                    <a:pt x="21" y="11"/>
                    <a:pt x="18" y="12"/>
                    <a:pt x="16" y="13"/>
                  </a:cubicBezTo>
                  <a:cubicBezTo>
                    <a:pt x="14" y="14"/>
                    <a:pt x="14" y="17"/>
                    <a:pt x="14" y="20"/>
                  </a:cubicBezTo>
                  <a:cubicBezTo>
                    <a:pt x="14" y="54"/>
                    <a:pt x="14" y="54"/>
                    <a:pt x="14" y="54"/>
                  </a:cubicBezTo>
                  <a:cubicBezTo>
                    <a:pt x="14" y="57"/>
                    <a:pt x="15" y="60"/>
                    <a:pt x="17" y="61"/>
                  </a:cubicBezTo>
                  <a:cubicBezTo>
                    <a:pt x="18" y="63"/>
                    <a:pt x="21" y="63"/>
                    <a:pt x="25" y="63"/>
                  </a:cubicBezTo>
                  <a:cubicBezTo>
                    <a:pt x="39" y="63"/>
                    <a:pt x="39" y="63"/>
                    <a:pt x="39" y="63"/>
                  </a:cubicBezTo>
                  <a:cubicBezTo>
                    <a:pt x="43" y="63"/>
                    <a:pt x="46" y="63"/>
                    <a:pt x="48" y="61"/>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 name="Freeform 61"/>
            <p:cNvSpPr>
              <a:spLocks/>
            </p:cNvSpPr>
            <p:nvPr userDrawn="1"/>
          </p:nvSpPr>
          <p:spPr bwMode="auto">
            <a:xfrm>
              <a:off x="2696" y="2987"/>
              <a:ext cx="98" cy="112"/>
            </a:xfrm>
            <a:custGeom>
              <a:avLst/>
              <a:gdLst>
                <a:gd name="T0" fmla="*/ 65 w 65"/>
                <a:gd name="T1" fmla="*/ 74 h 74"/>
                <a:gd name="T2" fmla="*/ 48 w 65"/>
                <a:gd name="T3" fmla="*/ 74 h 74"/>
                <a:gd name="T4" fmla="*/ 16 w 65"/>
                <a:gd name="T5" fmla="*/ 46 h 74"/>
                <a:gd name="T6" fmla="*/ 14 w 65"/>
                <a:gd name="T7" fmla="*/ 41 h 74"/>
                <a:gd name="T8" fmla="*/ 22 w 65"/>
                <a:gd name="T9" fmla="*/ 35 h 74"/>
                <a:gd name="T10" fmla="*/ 42 w 65"/>
                <a:gd name="T11" fmla="*/ 35 h 74"/>
                <a:gd name="T12" fmla="*/ 51 w 65"/>
                <a:gd name="T13" fmla="*/ 27 h 74"/>
                <a:gd name="T14" fmla="*/ 51 w 65"/>
                <a:gd name="T15" fmla="*/ 19 h 74"/>
                <a:gd name="T16" fmla="*/ 40 w 65"/>
                <a:gd name="T17" fmla="*/ 11 h 74"/>
                <a:gd name="T18" fmla="*/ 13 w 65"/>
                <a:gd name="T19" fmla="*/ 11 h 74"/>
                <a:gd name="T20" fmla="*/ 13 w 65"/>
                <a:gd name="T21" fmla="*/ 74 h 74"/>
                <a:gd name="T22" fmla="*/ 0 w 65"/>
                <a:gd name="T23" fmla="*/ 74 h 74"/>
                <a:gd name="T24" fmla="*/ 0 w 65"/>
                <a:gd name="T25" fmla="*/ 0 h 74"/>
                <a:gd name="T26" fmla="*/ 44 w 65"/>
                <a:gd name="T27" fmla="*/ 0 h 74"/>
                <a:gd name="T28" fmla="*/ 65 w 65"/>
                <a:gd name="T29" fmla="*/ 16 h 74"/>
                <a:gd name="T30" fmla="*/ 65 w 65"/>
                <a:gd name="T31" fmla="*/ 29 h 74"/>
                <a:gd name="T32" fmla="*/ 59 w 65"/>
                <a:gd name="T33" fmla="*/ 40 h 74"/>
                <a:gd name="T34" fmla="*/ 45 w 65"/>
                <a:gd name="T35" fmla="*/ 44 h 74"/>
                <a:gd name="T36" fmla="*/ 30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6"/>
                    <a:pt x="16" y="46"/>
                    <a:pt x="16" y="46"/>
                  </a:cubicBezTo>
                  <a:cubicBezTo>
                    <a:pt x="15" y="45"/>
                    <a:pt x="14" y="43"/>
                    <a:pt x="14" y="41"/>
                  </a:cubicBezTo>
                  <a:cubicBezTo>
                    <a:pt x="14" y="37"/>
                    <a:pt x="17" y="35"/>
                    <a:pt x="22" y="35"/>
                  </a:cubicBezTo>
                  <a:cubicBezTo>
                    <a:pt x="42" y="35"/>
                    <a:pt x="42" y="35"/>
                    <a:pt x="42" y="35"/>
                  </a:cubicBezTo>
                  <a:cubicBezTo>
                    <a:pt x="48" y="35"/>
                    <a:pt x="51" y="32"/>
                    <a:pt x="51" y="27"/>
                  </a:cubicBezTo>
                  <a:cubicBezTo>
                    <a:pt x="51" y="19"/>
                    <a:pt x="51" y="19"/>
                    <a:pt x="51" y="19"/>
                  </a:cubicBezTo>
                  <a:cubicBezTo>
                    <a:pt x="51" y="14"/>
                    <a:pt x="48" y="11"/>
                    <a:pt x="40" y="11"/>
                  </a:cubicBezTo>
                  <a:cubicBezTo>
                    <a:pt x="13" y="11"/>
                    <a:pt x="13" y="11"/>
                    <a:pt x="13" y="11"/>
                  </a:cubicBezTo>
                  <a:cubicBezTo>
                    <a:pt x="13" y="74"/>
                    <a:pt x="13" y="74"/>
                    <a:pt x="13" y="74"/>
                  </a:cubicBezTo>
                  <a:cubicBezTo>
                    <a:pt x="0" y="74"/>
                    <a:pt x="0" y="74"/>
                    <a:pt x="0" y="74"/>
                  </a:cubicBezTo>
                  <a:cubicBezTo>
                    <a:pt x="0" y="0"/>
                    <a:pt x="0" y="0"/>
                    <a:pt x="0" y="0"/>
                  </a:cubicBezTo>
                  <a:cubicBezTo>
                    <a:pt x="44" y="0"/>
                    <a:pt x="44" y="0"/>
                    <a:pt x="44" y="0"/>
                  </a:cubicBezTo>
                  <a:cubicBezTo>
                    <a:pt x="58" y="0"/>
                    <a:pt x="65" y="5"/>
                    <a:pt x="65" y="16"/>
                  </a:cubicBezTo>
                  <a:cubicBezTo>
                    <a:pt x="65" y="29"/>
                    <a:pt x="65" y="29"/>
                    <a:pt x="65" y="29"/>
                  </a:cubicBezTo>
                  <a:cubicBezTo>
                    <a:pt x="65" y="33"/>
                    <a:pt x="63" y="37"/>
                    <a:pt x="59" y="40"/>
                  </a:cubicBezTo>
                  <a:cubicBezTo>
                    <a:pt x="56" y="43"/>
                    <a:pt x="51" y="44"/>
                    <a:pt x="45" y="44"/>
                  </a:cubicBezTo>
                  <a:cubicBezTo>
                    <a:pt x="30" y="44"/>
                    <a:pt x="30" y="44"/>
                    <a:pt x="30"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 name="Freeform 62"/>
            <p:cNvSpPr>
              <a:spLocks/>
            </p:cNvSpPr>
            <p:nvPr userDrawn="1"/>
          </p:nvSpPr>
          <p:spPr bwMode="auto">
            <a:xfrm>
              <a:off x="2847" y="2987"/>
              <a:ext cx="89" cy="112"/>
            </a:xfrm>
            <a:custGeom>
              <a:avLst/>
              <a:gdLst>
                <a:gd name="T0" fmla="*/ 57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6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7 w 59"/>
                <a:gd name="T35" fmla="*/ 32 h 74"/>
                <a:gd name="T36" fmla="*/ 57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6"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7" y="32"/>
                    <a:pt x="57" y="32"/>
                    <a:pt x="57" y="32"/>
                  </a:cubicBezTo>
                  <a:lnTo>
                    <a:pt x="57"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 name="Freeform 63"/>
            <p:cNvSpPr>
              <a:spLocks/>
            </p:cNvSpPr>
            <p:nvPr userDrawn="1"/>
          </p:nvSpPr>
          <p:spPr bwMode="auto">
            <a:xfrm>
              <a:off x="2995" y="2987"/>
              <a:ext cx="89" cy="112"/>
            </a:xfrm>
            <a:custGeom>
              <a:avLst/>
              <a:gdLst>
                <a:gd name="T0" fmla="*/ 59 w 59"/>
                <a:gd name="T1" fmla="*/ 11 h 74"/>
                <a:gd name="T2" fmla="*/ 25 w 59"/>
                <a:gd name="T3" fmla="*/ 11 h 74"/>
                <a:gd name="T4" fmla="*/ 14 w 59"/>
                <a:gd name="T5" fmla="*/ 14 h 74"/>
                <a:gd name="T6" fmla="*/ 13 w 59"/>
                <a:gd name="T7" fmla="*/ 24 h 74"/>
                <a:gd name="T8" fmla="*/ 16 w 59"/>
                <a:gd name="T9" fmla="*/ 30 h 74"/>
                <a:gd name="T10" fmla="*/ 25 w 59"/>
                <a:gd name="T11" fmla="*/ 31 h 74"/>
                <a:gd name="T12" fmla="*/ 39 w 59"/>
                <a:gd name="T13" fmla="*/ 31 h 74"/>
                <a:gd name="T14" fmla="*/ 53 w 59"/>
                <a:gd name="T15" fmla="*/ 35 h 74"/>
                <a:gd name="T16" fmla="*/ 58 w 59"/>
                <a:gd name="T17" fmla="*/ 47 h 74"/>
                <a:gd name="T18" fmla="*/ 58 w 59"/>
                <a:gd name="T19" fmla="*/ 58 h 74"/>
                <a:gd name="T20" fmla="*/ 53 w 59"/>
                <a:gd name="T21" fmla="*/ 70 h 74"/>
                <a:gd name="T22" fmla="*/ 38 w 59"/>
                <a:gd name="T23" fmla="*/ 74 h 74"/>
                <a:gd name="T24" fmla="*/ 0 w 59"/>
                <a:gd name="T25" fmla="*/ 74 h 74"/>
                <a:gd name="T26" fmla="*/ 0 w 59"/>
                <a:gd name="T27" fmla="*/ 63 h 74"/>
                <a:gd name="T28" fmla="*/ 34 w 59"/>
                <a:gd name="T29" fmla="*/ 63 h 74"/>
                <a:gd name="T30" fmla="*/ 44 w 59"/>
                <a:gd name="T31" fmla="*/ 60 h 74"/>
                <a:gd name="T32" fmla="*/ 45 w 59"/>
                <a:gd name="T33" fmla="*/ 50 h 74"/>
                <a:gd name="T34" fmla="*/ 34 w 59"/>
                <a:gd name="T35" fmla="*/ 42 h 74"/>
                <a:gd name="T36" fmla="*/ 20 w 59"/>
                <a:gd name="T37" fmla="*/ 42 h 74"/>
                <a:gd name="T38" fmla="*/ 6 w 59"/>
                <a:gd name="T39" fmla="*/ 38 h 74"/>
                <a:gd name="T40" fmla="*/ 0 w 59"/>
                <a:gd name="T41" fmla="*/ 27 h 74"/>
                <a:gd name="T42" fmla="*/ 0 w 59"/>
                <a:gd name="T43" fmla="*/ 16 h 74"/>
                <a:gd name="T44" fmla="*/ 6 w 59"/>
                <a:gd name="T45" fmla="*/ 3 h 74"/>
                <a:gd name="T46" fmla="*/ 20 w 59"/>
                <a:gd name="T47" fmla="*/ 0 h 74"/>
                <a:gd name="T48" fmla="*/ 59 w 59"/>
                <a:gd name="T49" fmla="*/ 0 h 74"/>
                <a:gd name="T50" fmla="*/ 59 w 59"/>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 h="74">
                  <a:moveTo>
                    <a:pt x="59" y="11"/>
                  </a:moveTo>
                  <a:cubicBezTo>
                    <a:pt x="25" y="11"/>
                    <a:pt x="25" y="11"/>
                    <a:pt x="25" y="11"/>
                  </a:cubicBezTo>
                  <a:cubicBezTo>
                    <a:pt x="19" y="11"/>
                    <a:pt x="16" y="12"/>
                    <a:pt x="14" y="14"/>
                  </a:cubicBezTo>
                  <a:cubicBezTo>
                    <a:pt x="13" y="16"/>
                    <a:pt x="13" y="19"/>
                    <a:pt x="13" y="24"/>
                  </a:cubicBezTo>
                  <a:cubicBezTo>
                    <a:pt x="13" y="26"/>
                    <a:pt x="14" y="28"/>
                    <a:pt x="16" y="30"/>
                  </a:cubicBezTo>
                  <a:cubicBezTo>
                    <a:pt x="18" y="31"/>
                    <a:pt x="21" y="31"/>
                    <a:pt x="25" y="31"/>
                  </a:cubicBezTo>
                  <a:cubicBezTo>
                    <a:pt x="39" y="31"/>
                    <a:pt x="39" y="31"/>
                    <a:pt x="39" y="31"/>
                  </a:cubicBezTo>
                  <a:cubicBezTo>
                    <a:pt x="45" y="31"/>
                    <a:pt x="49" y="33"/>
                    <a:pt x="53" y="35"/>
                  </a:cubicBezTo>
                  <a:cubicBezTo>
                    <a:pt x="57" y="38"/>
                    <a:pt x="58" y="42"/>
                    <a:pt x="58" y="47"/>
                  </a:cubicBezTo>
                  <a:cubicBezTo>
                    <a:pt x="58" y="58"/>
                    <a:pt x="58" y="58"/>
                    <a:pt x="58" y="58"/>
                  </a:cubicBezTo>
                  <a:cubicBezTo>
                    <a:pt x="58" y="63"/>
                    <a:pt x="57"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2" y="42"/>
                    <a:pt x="34" y="42"/>
                  </a:cubicBezTo>
                  <a:cubicBezTo>
                    <a:pt x="20" y="42"/>
                    <a:pt x="20" y="42"/>
                    <a:pt x="20" y="42"/>
                  </a:cubicBezTo>
                  <a:cubicBezTo>
                    <a:pt x="14" y="42"/>
                    <a:pt x="10" y="41"/>
                    <a:pt x="6" y="38"/>
                  </a:cubicBezTo>
                  <a:cubicBezTo>
                    <a:pt x="2" y="36"/>
                    <a:pt x="0" y="32"/>
                    <a:pt x="0" y="27"/>
                  </a:cubicBezTo>
                  <a:cubicBezTo>
                    <a:pt x="0" y="16"/>
                    <a:pt x="0" y="16"/>
                    <a:pt x="0" y="16"/>
                  </a:cubicBezTo>
                  <a:cubicBezTo>
                    <a:pt x="0" y="11"/>
                    <a:pt x="2" y="6"/>
                    <a:pt x="6" y="3"/>
                  </a:cubicBezTo>
                  <a:cubicBezTo>
                    <a:pt x="9" y="1"/>
                    <a:pt x="14" y="0"/>
                    <a:pt x="20" y="0"/>
                  </a:cubicBezTo>
                  <a:cubicBezTo>
                    <a:pt x="59" y="0"/>
                    <a:pt x="59" y="0"/>
                    <a:pt x="59" y="0"/>
                  </a:cubicBezTo>
                  <a:lnTo>
                    <a:pt x="59"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 name="Freeform 64"/>
            <p:cNvSpPr>
              <a:spLocks/>
            </p:cNvSpPr>
            <p:nvPr userDrawn="1"/>
          </p:nvSpPr>
          <p:spPr bwMode="auto">
            <a:xfrm>
              <a:off x="3132"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 name="Rectangle 65"/>
            <p:cNvSpPr>
              <a:spLocks noChangeArrowheads="1"/>
            </p:cNvSpPr>
            <p:nvPr userDrawn="1"/>
          </p:nvSpPr>
          <p:spPr bwMode="auto">
            <a:xfrm>
              <a:off x="3266" y="2987"/>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 name="Freeform 66"/>
            <p:cNvSpPr>
              <a:spLocks noEditPoints="1"/>
            </p:cNvSpPr>
            <p:nvPr userDrawn="1"/>
          </p:nvSpPr>
          <p:spPr bwMode="auto">
            <a:xfrm>
              <a:off x="3343" y="2959"/>
              <a:ext cx="89" cy="140"/>
            </a:xfrm>
            <a:custGeom>
              <a:avLst/>
              <a:gdLst>
                <a:gd name="T0" fmla="*/ 59 w 59"/>
                <a:gd name="T1" fmla="*/ 93 h 93"/>
                <a:gd name="T2" fmla="*/ 21 w 59"/>
                <a:gd name="T3" fmla="*/ 93 h 93"/>
                <a:gd name="T4" fmla="*/ 6 w 59"/>
                <a:gd name="T5" fmla="*/ 89 h 93"/>
                <a:gd name="T6" fmla="*/ 0 w 59"/>
                <a:gd name="T7" fmla="*/ 77 h 93"/>
                <a:gd name="T8" fmla="*/ 0 w 59"/>
                <a:gd name="T9" fmla="*/ 36 h 93"/>
                <a:gd name="T10" fmla="*/ 5 w 59"/>
                <a:gd name="T11" fmla="*/ 23 h 93"/>
                <a:gd name="T12" fmla="*/ 20 w 59"/>
                <a:gd name="T13" fmla="*/ 19 h 93"/>
                <a:gd name="T14" fmla="*/ 59 w 59"/>
                <a:gd name="T15" fmla="*/ 19 h 93"/>
                <a:gd name="T16" fmla="*/ 59 w 59"/>
                <a:gd name="T17" fmla="*/ 30 h 93"/>
                <a:gd name="T18" fmla="*/ 25 w 59"/>
                <a:gd name="T19" fmla="*/ 30 h 93"/>
                <a:gd name="T20" fmla="*/ 13 w 59"/>
                <a:gd name="T21" fmla="*/ 38 h 93"/>
                <a:gd name="T22" fmla="*/ 13 w 59"/>
                <a:gd name="T23" fmla="*/ 51 h 93"/>
                <a:gd name="T24" fmla="*/ 59 w 59"/>
                <a:gd name="T25" fmla="*/ 51 h 93"/>
                <a:gd name="T26" fmla="*/ 59 w 59"/>
                <a:gd name="T27" fmla="*/ 62 h 93"/>
                <a:gd name="T28" fmla="*/ 13 w 59"/>
                <a:gd name="T29" fmla="*/ 62 h 93"/>
                <a:gd name="T30" fmla="*/ 13 w 59"/>
                <a:gd name="T31" fmla="*/ 74 h 93"/>
                <a:gd name="T32" fmla="*/ 25 w 59"/>
                <a:gd name="T33" fmla="*/ 82 h 93"/>
                <a:gd name="T34" fmla="*/ 59 w 59"/>
                <a:gd name="T35" fmla="*/ 82 h 93"/>
                <a:gd name="T36" fmla="*/ 59 w 59"/>
                <a:gd name="T37" fmla="*/ 93 h 93"/>
                <a:gd name="T38" fmla="*/ 44 w 59"/>
                <a:gd name="T39" fmla="*/ 13 h 93"/>
                <a:gd name="T40" fmla="*/ 34 w 59"/>
                <a:gd name="T41" fmla="*/ 13 h 93"/>
                <a:gd name="T42" fmla="*/ 24 w 59"/>
                <a:gd name="T43" fmla="*/ 0 h 93"/>
                <a:gd name="T44" fmla="*/ 35 w 59"/>
                <a:gd name="T45" fmla="*/ 0 h 93"/>
                <a:gd name="T46" fmla="*/ 44 w 59"/>
                <a:gd name="T47" fmla="*/ 1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3">
                  <a:moveTo>
                    <a:pt x="59" y="93"/>
                  </a:moveTo>
                  <a:cubicBezTo>
                    <a:pt x="21" y="93"/>
                    <a:pt x="21" y="93"/>
                    <a:pt x="21" y="93"/>
                  </a:cubicBezTo>
                  <a:cubicBezTo>
                    <a:pt x="15" y="93"/>
                    <a:pt x="10" y="92"/>
                    <a:pt x="6" y="89"/>
                  </a:cubicBezTo>
                  <a:cubicBezTo>
                    <a:pt x="2" y="87"/>
                    <a:pt x="0" y="83"/>
                    <a:pt x="0" y="77"/>
                  </a:cubicBezTo>
                  <a:cubicBezTo>
                    <a:pt x="0" y="36"/>
                    <a:pt x="0" y="36"/>
                    <a:pt x="0" y="36"/>
                  </a:cubicBezTo>
                  <a:cubicBezTo>
                    <a:pt x="0" y="30"/>
                    <a:pt x="2" y="26"/>
                    <a:pt x="5" y="23"/>
                  </a:cubicBezTo>
                  <a:cubicBezTo>
                    <a:pt x="9" y="21"/>
                    <a:pt x="14" y="19"/>
                    <a:pt x="20" y="19"/>
                  </a:cubicBezTo>
                  <a:cubicBezTo>
                    <a:pt x="59" y="19"/>
                    <a:pt x="59" y="19"/>
                    <a:pt x="59" y="19"/>
                  </a:cubicBezTo>
                  <a:cubicBezTo>
                    <a:pt x="59" y="30"/>
                    <a:pt x="59" y="30"/>
                    <a:pt x="59" y="30"/>
                  </a:cubicBezTo>
                  <a:cubicBezTo>
                    <a:pt x="25" y="30"/>
                    <a:pt x="25" y="30"/>
                    <a:pt x="25" y="30"/>
                  </a:cubicBezTo>
                  <a:cubicBezTo>
                    <a:pt x="17" y="30"/>
                    <a:pt x="13" y="33"/>
                    <a:pt x="13" y="38"/>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2"/>
                    <a:pt x="25" y="82"/>
                  </a:cubicBezTo>
                  <a:cubicBezTo>
                    <a:pt x="59" y="82"/>
                    <a:pt x="59" y="82"/>
                    <a:pt x="59" y="82"/>
                  </a:cubicBezTo>
                  <a:lnTo>
                    <a:pt x="59" y="93"/>
                  </a:lnTo>
                  <a:close/>
                  <a:moveTo>
                    <a:pt x="44" y="13"/>
                  </a:moveTo>
                  <a:cubicBezTo>
                    <a:pt x="34" y="13"/>
                    <a:pt x="34" y="13"/>
                    <a:pt x="34" y="13"/>
                  </a:cubicBezTo>
                  <a:cubicBezTo>
                    <a:pt x="24" y="0"/>
                    <a:pt x="24" y="0"/>
                    <a:pt x="24" y="0"/>
                  </a:cubicBezTo>
                  <a:cubicBezTo>
                    <a:pt x="35" y="0"/>
                    <a:pt x="35" y="0"/>
                    <a:pt x="35" y="0"/>
                  </a:cubicBezTo>
                  <a:lnTo>
                    <a:pt x="44" y="1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 name="Freeform 67"/>
            <p:cNvSpPr>
              <a:spLocks/>
            </p:cNvSpPr>
            <p:nvPr userDrawn="1"/>
          </p:nvSpPr>
          <p:spPr bwMode="auto">
            <a:xfrm>
              <a:off x="3486" y="2987"/>
              <a:ext cx="98" cy="112"/>
            </a:xfrm>
            <a:custGeom>
              <a:avLst/>
              <a:gdLst>
                <a:gd name="T0" fmla="*/ 65 w 65"/>
                <a:gd name="T1" fmla="*/ 74 h 74"/>
                <a:gd name="T2" fmla="*/ 49 w 65"/>
                <a:gd name="T3" fmla="*/ 74 h 74"/>
                <a:gd name="T4" fmla="*/ 16 w 65"/>
                <a:gd name="T5" fmla="*/ 46 h 74"/>
                <a:gd name="T6" fmla="*/ 15 w 65"/>
                <a:gd name="T7" fmla="*/ 41 h 74"/>
                <a:gd name="T8" fmla="*/ 23 w 65"/>
                <a:gd name="T9" fmla="*/ 35 h 74"/>
                <a:gd name="T10" fmla="*/ 42 w 65"/>
                <a:gd name="T11" fmla="*/ 35 h 74"/>
                <a:gd name="T12" fmla="*/ 52 w 65"/>
                <a:gd name="T13" fmla="*/ 27 h 74"/>
                <a:gd name="T14" fmla="*/ 52 w 65"/>
                <a:gd name="T15" fmla="*/ 19 h 74"/>
                <a:gd name="T16" fmla="*/ 41 w 65"/>
                <a:gd name="T17" fmla="*/ 11 h 74"/>
                <a:gd name="T18" fmla="*/ 14 w 65"/>
                <a:gd name="T19" fmla="*/ 11 h 74"/>
                <a:gd name="T20" fmla="*/ 14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6"/>
                    <a:pt x="16" y="46"/>
                    <a:pt x="16" y="46"/>
                  </a:cubicBezTo>
                  <a:cubicBezTo>
                    <a:pt x="15" y="45"/>
                    <a:pt x="15" y="43"/>
                    <a:pt x="15" y="41"/>
                  </a:cubicBezTo>
                  <a:cubicBezTo>
                    <a:pt x="15" y="37"/>
                    <a:pt x="18" y="35"/>
                    <a:pt x="23" y="35"/>
                  </a:cubicBezTo>
                  <a:cubicBezTo>
                    <a:pt x="42" y="35"/>
                    <a:pt x="42" y="35"/>
                    <a:pt x="42" y="35"/>
                  </a:cubicBezTo>
                  <a:cubicBezTo>
                    <a:pt x="49" y="35"/>
                    <a:pt x="52" y="32"/>
                    <a:pt x="52" y="27"/>
                  </a:cubicBezTo>
                  <a:cubicBezTo>
                    <a:pt x="52" y="19"/>
                    <a:pt x="52" y="19"/>
                    <a:pt x="52" y="19"/>
                  </a:cubicBezTo>
                  <a:cubicBezTo>
                    <a:pt x="52" y="14"/>
                    <a:pt x="48" y="11"/>
                    <a:pt x="41" y="11"/>
                  </a:cubicBezTo>
                  <a:cubicBezTo>
                    <a:pt x="14" y="11"/>
                    <a:pt x="14" y="11"/>
                    <a:pt x="14" y="11"/>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4" y="37"/>
                    <a:pt x="60" y="40"/>
                  </a:cubicBezTo>
                  <a:cubicBezTo>
                    <a:pt x="57" y="43"/>
                    <a:pt x="52"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 name="Freeform 68"/>
            <p:cNvSpPr>
              <a:spLocks/>
            </p:cNvSpPr>
            <p:nvPr userDrawn="1"/>
          </p:nvSpPr>
          <p:spPr bwMode="auto">
            <a:xfrm>
              <a:off x="3638" y="2987"/>
              <a:ext cx="89" cy="112"/>
            </a:xfrm>
            <a:custGeom>
              <a:avLst/>
              <a:gdLst>
                <a:gd name="T0" fmla="*/ 56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5"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 name="Rectangle 69"/>
            <p:cNvSpPr>
              <a:spLocks noChangeArrowheads="1"/>
            </p:cNvSpPr>
            <p:nvPr userDrawn="1"/>
          </p:nvSpPr>
          <p:spPr bwMode="auto">
            <a:xfrm>
              <a:off x="2023" y="1245"/>
              <a:ext cx="148" cy="751"/>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 name="Freeform 70"/>
            <p:cNvSpPr>
              <a:spLocks/>
            </p:cNvSpPr>
            <p:nvPr userDrawn="1"/>
          </p:nvSpPr>
          <p:spPr bwMode="auto">
            <a:xfrm>
              <a:off x="3145" y="1221"/>
              <a:ext cx="588" cy="801"/>
            </a:xfrm>
            <a:custGeom>
              <a:avLst/>
              <a:gdLst>
                <a:gd name="T0" fmla="*/ 299 w 390"/>
                <a:gd name="T1" fmla="*/ 16 h 531"/>
                <a:gd name="T2" fmla="*/ 299 w 390"/>
                <a:gd name="T3" fmla="*/ 314 h 531"/>
                <a:gd name="T4" fmla="*/ 15 w 390"/>
                <a:gd name="T5" fmla="*/ 0 h 531"/>
                <a:gd name="T6" fmla="*/ 0 w 390"/>
                <a:gd name="T7" fmla="*/ 0 h 531"/>
                <a:gd name="T8" fmla="*/ 0 w 390"/>
                <a:gd name="T9" fmla="*/ 514 h 531"/>
                <a:gd name="T10" fmla="*/ 91 w 390"/>
                <a:gd name="T11" fmla="*/ 514 h 531"/>
                <a:gd name="T12" fmla="*/ 91 w 390"/>
                <a:gd name="T13" fmla="*/ 220 h 531"/>
                <a:gd name="T14" fmla="*/ 374 w 390"/>
                <a:gd name="T15" fmla="*/ 531 h 531"/>
                <a:gd name="T16" fmla="*/ 390 w 390"/>
                <a:gd name="T17" fmla="*/ 531 h 531"/>
                <a:gd name="T18" fmla="*/ 390 w 390"/>
                <a:gd name="T19" fmla="*/ 16 h 531"/>
                <a:gd name="T20" fmla="*/ 299 w 390"/>
                <a:gd name="T21" fmla="*/ 16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0" h="531">
                  <a:moveTo>
                    <a:pt x="299" y="16"/>
                  </a:moveTo>
                  <a:cubicBezTo>
                    <a:pt x="299" y="314"/>
                    <a:pt x="299" y="314"/>
                    <a:pt x="299" y="314"/>
                  </a:cubicBezTo>
                  <a:cubicBezTo>
                    <a:pt x="283" y="296"/>
                    <a:pt x="15" y="0"/>
                    <a:pt x="15" y="0"/>
                  </a:cubicBezTo>
                  <a:cubicBezTo>
                    <a:pt x="0" y="0"/>
                    <a:pt x="0" y="0"/>
                    <a:pt x="0" y="0"/>
                  </a:cubicBezTo>
                  <a:cubicBezTo>
                    <a:pt x="0" y="514"/>
                    <a:pt x="0" y="514"/>
                    <a:pt x="0" y="514"/>
                  </a:cubicBezTo>
                  <a:cubicBezTo>
                    <a:pt x="91" y="514"/>
                    <a:pt x="91" y="514"/>
                    <a:pt x="91" y="514"/>
                  </a:cubicBezTo>
                  <a:cubicBezTo>
                    <a:pt x="91" y="220"/>
                    <a:pt x="91" y="220"/>
                    <a:pt x="91" y="220"/>
                  </a:cubicBezTo>
                  <a:cubicBezTo>
                    <a:pt x="107" y="238"/>
                    <a:pt x="374" y="531"/>
                    <a:pt x="374" y="531"/>
                  </a:cubicBezTo>
                  <a:cubicBezTo>
                    <a:pt x="390" y="531"/>
                    <a:pt x="390" y="531"/>
                    <a:pt x="390" y="531"/>
                  </a:cubicBezTo>
                  <a:cubicBezTo>
                    <a:pt x="390" y="16"/>
                    <a:pt x="390" y="16"/>
                    <a:pt x="390" y="16"/>
                  </a:cubicBezTo>
                  <a:lnTo>
                    <a:pt x="299" y="1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 name="Freeform 71"/>
            <p:cNvSpPr>
              <a:spLocks/>
            </p:cNvSpPr>
            <p:nvPr userDrawn="1"/>
          </p:nvSpPr>
          <p:spPr bwMode="auto">
            <a:xfrm>
              <a:off x="2286" y="1221"/>
              <a:ext cx="687" cy="801"/>
            </a:xfrm>
            <a:custGeom>
              <a:avLst/>
              <a:gdLst>
                <a:gd name="T0" fmla="*/ 365 w 456"/>
                <a:gd name="T1" fmla="*/ 370 h 531"/>
                <a:gd name="T2" fmla="*/ 360 w 456"/>
                <a:gd name="T3" fmla="*/ 370 h 531"/>
                <a:gd name="T4" fmla="*/ 360 w 456"/>
                <a:gd name="T5" fmla="*/ 422 h 531"/>
                <a:gd name="T6" fmla="*/ 272 w 456"/>
                <a:gd name="T7" fmla="*/ 439 h 531"/>
                <a:gd name="T8" fmla="*/ 97 w 456"/>
                <a:gd name="T9" fmla="*/ 257 h 531"/>
                <a:gd name="T10" fmla="*/ 266 w 456"/>
                <a:gd name="T11" fmla="*/ 88 h 531"/>
                <a:gd name="T12" fmla="*/ 411 w 456"/>
                <a:gd name="T13" fmla="*/ 153 h 531"/>
                <a:gd name="T14" fmla="*/ 419 w 456"/>
                <a:gd name="T15" fmla="*/ 162 h 531"/>
                <a:gd name="T16" fmla="*/ 426 w 456"/>
                <a:gd name="T17" fmla="*/ 49 h 531"/>
                <a:gd name="T18" fmla="*/ 424 w 456"/>
                <a:gd name="T19" fmla="*/ 47 h 531"/>
                <a:gd name="T20" fmla="*/ 382 w 456"/>
                <a:gd name="T21" fmla="*/ 24 h 531"/>
                <a:gd name="T22" fmla="*/ 268 w 456"/>
                <a:gd name="T23" fmla="*/ 0 h 531"/>
                <a:gd name="T24" fmla="*/ 75 w 456"/>
                <a:gd name="T25" fmla="*/ 74 h 531"/>
                <a:gd name="T26" fmla="*/ 0 w 456"/>
                <a:gd name="T27" fmla="*/ 264 h 531"/>
                <a:gd name="T28" fmla="*/ 262 w 456"/>
                <a:gd name="T29" fmla="*/ 531 h 531"/>
                <a:gd name="T30" fmla="*/ 380 w 456"/>
                <a:gd name="T31" fmla="*/ 512 h 531"/>
                <a:gd name="T32" fmla="*/ 453 w 456"/>
                <a:gd name="T33" fmla="*/ 482 h 531"/>
                <a:gd name="T34" fmla="*/ 456 w 456"/>
                <a:gd name="T35" fmla="*/ 481 h 531"/>
                <a:gd name="T36" fmla="*/ 456 w 456"/>
                <a:gd name="T37" fmla="*/ 355 h 531"/>
                <a:gd name="T38" fmla="*/ 450 w 456"/>
                <a:gd name="T39" fmla="*/ 357 h 531"/>
                <a:gd name="T40" fmla="*/ 365 w 456"/>
                <a:gd name="T41" fmla="*/ 37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6" h="531">
                  <a:moveTo>
                    <a:pt x="365" y="370"/>
                  </a:moveTo>
                  <a:cubicBezTo>
                    <a:pt x="360" y="370"/>
                    <a:pt x="360" y="370"/>
                    <a:pt x="360" y="370"/>
                  </a:cubicBezTo>
                  <a:cubicBezTo>
                    <a:pt x="360" y="422"/>
                    <a:pt x="360" y="422"/>
                    <a:pt x="360" y="422"/>
                  </a:cubicBezTo>
                  <a:cubicBezTo>
                    <a:pt x="327" y="434"/>
                    <a:pt x="302" y="439"/>
                    <a:pt x="272" y="439"/>
                  </a:cubicBezTo>
                  <a:cubicBezTo>
                    <a:pt x="166" y="439"/>
                    <a:pt x="97" y="368"/>
                    <a:pt x="97" y="257"/>
                  </a:cubicBezTo>
                  <a:cubicBezTo>
                    <a:pt x="97" y="153"/>
                    <a:pt x="162" y="88"/>
                    <a:pt x="266" y="88"/>
                  </a:cubicBezTo>
                  <a:cubicBezTo>
                    <a:pt x="325" y="88"/>
                    <a:pt x="374" y="110"/>
                    <a:pt x="411" y="153"/>
                  </a:cubicBezTo>
                  <a:cubicBezTo>
                    <a:pt x="419" y="162"/>
                    <a:pt x="419" y="162"/>
                    <a:pt x="419" y="162"/>
                  </a:cubicBezTo>
                  <a:cubicBezTo>
                    <a:pt x="426" y="49"/>
                    <a:pt x="426" y="49"/>
                    <a:pt x="426" y="49"/>
                  </a:cubicBezTo>
                  <a:cubicBezTo>
                    <a:pt x="424" y="47"/>
                    <a:pt x="424" y="47"/>
                    <a:pt x="424" y="47"/>
                  </a:cubicBezTo>
                  <a:cubicBezTo>
                    <a:pt x="408" y="36"/>
                    <a:pt x="401" y="32"/>
                    <a:pt x="382" y="24"/>
                  </a:cubicBezTo>
                  <a:cubicBezTo>
                    <a:pt x="343" y="7"/>
                    <a:pt x="310" y="0"/>
                    <a:pt x="268" y="0"/>
                  </a:cubicBezTo>
                  <a:cubicBezTo>
                    <a:pt x="192" y="0"/>
                    <a:pt x="124" y="26"/>
                    <a:pt x="75" y="74"/>
                  </a:cubicBezTo>
                  <a:cubicBezTo>
                    <a:pt x="27" y="121"/>
                    <a:pt x="0" y="189"/>
                    <a:pt x="0" y="264"/>
                  </a:cubicBezTo>
                  <a:cubicBezTo>
                    <a:pt x="0" y="418"/>
                    <a:pt x="110" y="531"/>
                    <a:pt x="262" y="531"/>
                  </a:cubicBezTo>
                  <a:cubicBezTo>
                    <a:pt x="300" y="531"/>
                    <a:pt x="343" y="524"/>
                    <a:pt x="380" y="512"/>
                  </a:cubicBezTo>
                  <a:cubicBezTo>
                    <a:pt x="406" y="505"/>
                    <a:pt x="420" y="499"/>
                    <a:pt x="453" y="482"/>
                  </a:cubicBezTo>
                  <a:cubicBezTo>
                    <a:pt x="456" y="481"/>
                    <a:pt x="456" y="481"/>
                    <a:pt x="456" y="481"/>
                  </a:cubicBezTo>
                  <a:cubicBezTo>
                    <a:pt x="456" y="355"/>
                    <a:pt x="456" y="355"/>
                    <a:pt x="456" y="355"/>
                  </a:cubicBezTo>
                  <a:cubicBezTo>
                    <a:pt x="450" y="357"/>
                    <a:pt x="450" y="357"/>
                    <a:pt x="450" y="357"/>
                  </a:cubicBezTo>
                  <a:cubicBezTo>
                    <a:pt x="423" y="367"/>
                    <a:pt x="395" y="371"/>
                    <a:pt x="365" y="370"/>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 name="Freeform 72"/>
            <p:cNvSpPr>
              <a:spLocks/>
            </p:cNvSpPr>
            <p:nvPr userDrawn="1"/>
          </p:nvSpPr>
          <p:spPr bwMode="auto">
            <a:xfrm>
              <a:off x="2547" y="1514"/>
              <a:ext cx="469" cy="241"/>
            </a:xfrm>
            <a:custGeom>
              <a:avLst/>
              <a:gdLst>
                <a:gd name="T0" fmla="*/ 173 w 311"/>
                <a:gd name="T1" fmla="*/ 16 h 160"/>
                <a:gd name="T2" fmla="*/ 172 w 311"/>
                <a:gd name="T3" fmla="*/ 16 h 160"/>
                <a:gd name="T4" fmla="*/ 0 w 311"/>
                <a:gd name="T5" fmla="*/ 40 h 160"/>
                <a:gd name="T6" fmla="*/ 139 w 311"/>
                <a:gd name="T7" fmla="*/ 144 h 160"/>
                <a:gd name="T8" fmla="*/ 139 w 311"/>
                <a:gd name="T9" fmla="*/ 144 h 160"/>
                <a:gd name="T10" fmla="*/ 311 w 311"/>
                <a:gd name="T11" fmla="*/ 120 h 160"/>
                <a:gd name="T12" fmla="*/ 173 w 311"/>
                <a:gd name="T13" fmla="*/ 16 h 160"/>
              </a:gdLst>
              <a:ahLst/>
              <a:cxnLst>
                <a:cxn ang="0">
                  <a:pos x="T0" y="T1"/>
                </a:cxn>
                <a:cxn ang="0">
                  <a:pos x="T2" y="T3"/>
                </a:cxn>
                <a:cxn ang="0">
                  <a:pos x="T4" y="T5"/>
                </a:cxn>
                <a:cxn ang="0">
                  <a:pos x="T6" y="T7"/>
                </a:cxn>
                <a:cxn ang="0">
                  <a:pos x="T8" y="T9"/>
                </a:cxn>
                <a:cxn ang="0">
                  <a:pos x="T10" y="T11"/>
                </a:cxn>
                <a:cxn ang="0">
                  <a:pos x="T12" y="T13"/>
                </a:cxn>
              </a:cxnLst>
              <a:rect l="0" t="0" r="r" b="b"/>
              <a:pathLst>
                <a:path w="311" h="160">
                  <a:moveTo>
                    <a:pt x="173" y="16"/>
                  </a:moveTo>
                  <a:cubicBezTo>
                    <a:pt x="172" y="16"/>
                    <a:pt x="172" y="16"/>
                    <a:pt x="172" y="16"/>
                  </a:cubicBezTo>
                  <a:cubicBezTo>
                    <a:pt x="110" y="0"/>
                    <a:pt x="47" y="9"/>
                    <a:pt x="0" y="40"/>
                  </a:cubicBezTo>
                  <a:cubicBezTo>
                    <a:pt x="26" y="89"/>
                    <a:pt x="77" y="127"/>
                    <a:pt x="139" y="144"/>
                  </a:cubicBezTo>
                  <a:cubicBezTo>
                    <a:pt x="139" y="144"/>
                    <a:pt x="139" y="144"/>
                    <a:pt x="139" y="144"/>
                  </a:cubicBezTo>
                  <a:cubicBezTo>
                    <a:pt x="201" y="160"/>
                    <a:pt x="264" y="151"/>
                    <a:pt x="311" y="120"/>
                  </a:cubicBezTo>
                  <a:cubicBezTo>
                    <a:pt x="285" y="71"/>
                    <a:pt x="234" y="32"/>
                    <a:pt x="173" y="16"/>
                  </a:cubicBezTo>
                  <a:close/>
                </a:path>
              </a:pathLst>
            </a:custGeom>
            <a:solidFill>
              <a:srgbClr val="94C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spTree>
    <p:extLst>
      <p:ext uri="{BB962C8B-B14F-4D97-AF65-F5344CB8AC3E}">
        <p14:creationId xmlns:p14="http://schemas.microsoft.com/office/powerpoint/2010/main" val="3432610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180000" cy="180000"/>
          </a:xfrm>
          <a:ln>
            <a:solidFill>
              <a:schemeClr val="tx1">
                <a:alpha val="0"/>
              </a:schemeClr>
            </a:solidFill>
          </a:ln>
        </p:spPr>
        <p:txBody>
          <a:bodyPr/>
          <a:lstStyle>
            <a:lvl1pPr>
              <a:defRPr sz="100">
                <a:solidFill>
                  <a:schemeClr val="tx1">
                    <a:alpha val="0"/>
                  </a:schemeClr>
                </a:solidFill>
              </a:defRPr>
            </a:lvl1pPr>
          </a:lstStyle>
          <a:p>
            <a:r>
              <a:rPr lang="fr-FR"/>
              <a:t>Titre</a:t>
            </a:r>
          </a:p>
        </p:txBody>
      </p:sp>
      <p:sp>
        <p:nvSpPr>
          <p:cNvPr id="2" name="Espace réservé de la date 1"/>
          <p:cNvSpPr>
            <a:spLocks noGrp="1"/>
          </p:cNvSpPr>
          <p:nvPr>
            <p:ph type="dt" sz="half" idx="10"/>
          </p:nvPr>
        </p:nvSpPr>
        <p:spPr bwMode="gray"/>
        <p:txBody>
          <a:bodyPr/>
          <a:lstStyle/>
          <a:p>
            <a:pPr algn="r"/>
            <a:r>
              <a:rPr lang="fr-FR" cap="all"/>
              <a:t>04/06/2025</a:t>
            </a:r>
          </a:p>
        </p:txBody>
      </p:sp>
      <p:sp>
        <p:nvSpPr>
          <p:cNvPr id="3" name="Espace réservé du pied de page 2"/>
          <p:cNvSpPr>
            <a:spLocks noGrp="1"/>
          </p:cNvSpPr>
          <p:nvPr>
            <p:ph type="ftr" sz="quarter" idx="11"/>
          </p:nvPr>
        </p:nvSpPr>
        <p:spPr bwMode="gray"/>
        <p:txBody>
          <a:bodyPr/>
          <a:lstStyle>
            <a:lvl1pPr>
              <a:defRPr/>
            </a:lvl1pPr>
          </a:lstStyle>
          <a:p>
            <a:r>
              <a:rPr lang="fr-FR"/>
              <a:t>Institut national de l’information  géographique et forestière</a:t>
            </a:r>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360000" y="2346046"/>
            <a:ext cx="8424000" cy="2077200"/>
          </a:xfrm>
        </p:spPr>
        <p:txBody>
          <a:bodyPr/>
          <a:lstStyle>
            <a:lvl1pPr>
              <a:lnSpc>
                <a:spcPct val="90000"/>
              </a:lnSpc>
              <a:spcAft>
                <a:spcPts val="0"/>
              </a:spcAft>
              <a:defRPr sz="3250" b="1" cap="all" baseline="0">
                <a:solidFill>
                  <a:schemeClr val="tx2">
                    <a:lumMod val="75000"/>
                  </a:schemeClr>
                </a:solidFill>
              </a:defRPr>
            </a:lvl1pPr>
            <a:lvl2pPr marL="0" indent="0">
              <a:spcBef>
                <a:spcPts val="500"/>
              </a:spcBef>
              <a:spcAft>
                <a:spcPts val="0"/>
              </a:spcAft>
              <a:buNone/>
              <a:defRPr sz="1850"/>
            </a:lvl2pPr>
          </a:lstStyle>
          <a:p>
            <a:pPr lvl="0"/>
            <a:r>
              <a:rPr lang="fr-FR"/>
              <a:t>Titre</a:t>
            </a:r>
          </a:p>
          <a:p>
            <a:pPr lvl="1"/>
            <a:r>
              <a:rPr lang="fr-FR"/>
              <a:t>Sous-titre</a:t>
            </a:r>
          </a:p>
        </p:txBody>
      </p:sp>
      <p:cxnSp>
        <p:nvCxnSpPr>
          <p:cNvPr id="12" name="Connecteur droit 11"/>
          <p:cNvCxnSpPr/>
          <p:nvPr userDrawn="1"/>
        </p:nvCxnSpPr>
        <p:spPr bwMode="gray">
          <a:xfrm>
            <a:off x="360000" y="4784400"/>
            <a:ext cx="8424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180000" y="180000"/>
            <a:ext cx="1440000" cy="1440000"/>
          </a:xfrm>
          <a:prstGeom prst="rect">
            <a:avLst/>
          </a:prstGeom>
        </p:spPr>
      </p:pic>
      <p:grpSp>
        <p:nvGrpSpPr>
          <p:cNvPr id="10" name="Group 13"/>
          <p:cNvGrpSpPr>
            <a:grpSpLocks noChangeAspect="1"/>
          </p:cNvGrpSpPr>
          <p:nvPr userDrawn="1"/>
        </p:nvGrpSpPr>
        <p:grpSpPr bwMode="auto">
          <a:xfrm>
            <a:off x="7780442" y="359999"/>
            <a:ext cx="1018514" cy="1045598"/>
            <a:chOff x="2023" y="1221"/>
            <a:chExt cx="1710" cy="1878"/>
          </a:xfrm>
        </p:grpSpPr>
        <p:sp>
          <p:nvSpPr>
            <p:cNvPr id="13" name="Rectangle 14"/>
            <p:cNvSpPr>
              <a:spLocks noChangeArrowheads="1"/>
            </p:cNvSpPr>
            <p:nvPr userDrawn="1"/>
          </p:nvSpPr>
          <p:spPr bwMode="auto">
            <a:xfrm>
              <a:off x="2023"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4" name="Freeform 15"/>
            <p:cNvSpPr>
              <a:spLocks/>
            </p:cNvSpPr>
            <p:nvPr userDrawn="1"/>
          </p:nvSpPr>
          <p:spPr bwMode="auto">
            <a:xfrm>
              <a:off x="2073"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5" y="0"/>
                    <a:pt x="17" y="1"/>
                    <a:pt x="19" y="3"/>
                  </a:cubicBezTo>
                  <a:cubicBezTo>
                    <a:pt x="20"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5" name="Freeform 16"/>
            <p:cNvSpPr>
              <a:spLocks/>
            </p:cNvSpPr>
            <p:nvPr userDrawn="1"/>
          </p:nvSpPr>
          <p:spPr bwMode="auto">
            <a:xfrm>
              <a:off x="2201" y="2206"/>
              <a:ext cx="88" cy="112"/>
            </a:xfrm>
            <a:custGeom>
              <a:avLst/>
              <a:gdLst>
                <a:gd name="T0" fmla="*/ 58 w 58"/>
                <a:gd name="T1" fmla="*/ 11 h 74"/>
                <a:gd name="T2" fmla="*/ 24 w 58"/>
                <a:gd name="T3" fmla="*/ 11 h 74"/>
                <a:gd name="T4" fmla="*/ 14 w 58"/>
                <a:gd name="T5" fmla="*/ 14 h 74"/>
                <a:gd name="T6" fmla="*/ 13 w 58"/>
                <a:gd name="T7" fmla="*/ 24 h 74"/>
                <a:gd name="T8" fmla="*/ 16 w 58"/>
                <a:gd name="T9" fmla="*/ 30 h 74"/>
                <a:gd name="T10" fmla="*/ 24 w 58"/>
                <a:gd name="T11" fmla="*/ 32 h 74"/>
                <a:gd name="T12" fmla="*/ 38 w 58"/>
                <a:gd name="T13" fmla="*/ 32 h 74"/>
                <a:gd name="T14" fmla="*/ 53 w 58"/>
                <a:gd name="T15" fmla="*/ 36 h 74"/>
                <a:gd name="T16" fmla="*/ 58 w 58"/>
                <a:gd name="T17" fmla="*/ 47 h 74"/>
                <a:gd name="T18" fmla="*/ 58 w 58"/>
                <a:gd name="T19" fmla="*/ 58 h 74"/>
                <a:gd name="T20" fmla="*/ 53 w 58"/>
                <a:gd name="T21" fmla="*/ 70 h 74"/>
                <a:gd name="T22" fmla="*/ 38 w 58"/>
                <a:gd name="T23" fmla="*/ 74 h 74"/>
                <a:gd name="T24" fmla="*/ 0 w 58"/>
                <a:gd name="T25" fmla="*/ 74 h 74"/>
                <a:gd name="T26" fmla="*/ 0 w 58"/>
                <a:gd name="T27" fmla="*/ 63 h 74"/>
                <a:gd name="T28" fmla="*/ 34 w 58"/>
                <a:gd name="T29" fmla="*/ 63 h 74"/>
                <a:gd name="T30" fmla="*/ 44 w 58"/>
                <a:gd name="T31" fmla="*/ 60 h 74"/>
                <a:gd name="T32" fmla="*/ 45 w 58"/>
                <a:gd name="T33" fmla="*/ 50 h 74"/>
                <a:gd name="T34" fmla="*/ 34 w 58"/>
                <a:gd name="T35" fmla="*/ 42 h 74"/>
                <a:gd name="T36" fmla="*/ 20 w 58"/>
                <a:gd name="T37" fmla="*/ 42 h 74"/>
                <a:gd name="T38" fmla="*/ 6 w 58"/>
                <a:gd name="T39" fmla="*/ 38 h 74"/>
                <a:gd name="T40" fmla="*/ 0 w 58"/>
                <a:gd name="T41" fmla="*/ 27 h 74"/>
                <a:gd name="T42" fmla="*/ 0 w 58"/>
                <a:gd name="T43" fmla="*/ 16 h 74"/>
                <a:gd name="T44" fmla="*/ 6 w 58"/>
                <a:gd name="T45" fmla="*/ 3 h 74"/>
                <a:gd name="T46" fmla="*/ 20 w 58"/>
                <a:gd name="T47" fmla="*/ 0 h 74"/>
                <a:gd name="T48" fmla="*/ 58 w 58"/>
                <a:gd name="T49" fmla="*/ 0 h 74"/>
                <a:gd name="T50" fmla="*/ 58 w 58"/>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8" h="74">
                  <a:moveTo>
                    <a:pt x="58" y="11"/>
                  </a:moveTo>
                  <a:cubicBezTo>
                    <a:pt x="24" y="11"/>
                    <a:pt x="24" y="11"/>
                    <a:pt x="24" y="11"/>
                  </a:cubicBezTo>
                  <a:cubicBezTo>
                    <a:pt x="19" y="11"/>
                    <a:pt x="15" y="12"/>
                    <a:pt x="14" y="14"/>
                  </a:cubicBezTo>
                  <a:cubicBezTo>
                    <a:pt x="13" y="16"/>
                    <a:pt x="13" y="19"/>
                    <a:pt x="13" y="24"/>
                  </a:cubicBezTo>
                  <a:cubicBezTo>
                    <a:pt x="13" y="26"/>
                    <a:pt x="14" y="28"/>
                    <a:pt x="16" y="30"/>
                  </a:cubicBezTo>
                  <a:cubicBezTo>
                    <a:pt x="18" y="31"/>
                    <a:pt x="21" y="32"/>
                    <a:pt x="24" y="32"/>
                  </a:cubicBezTo>
                  <a:cubicBezTo>
                    <a:pt x="38" y="32"/>
                    <a:pt x="38" y="32"/>
                    <a:pt x="38" y="32"/>
                  </a:cubicBezTo>
                  <a:cubicBezTo>
                    <a:pt x="44" y="32"/>
                    <a:pt x="49" y="33"/>
                    <a:pt x="53" y="36"/>
                  </a:cubicBezTo>
                  <a:cubicBezTo>
                    <a:pt x="56" y="38"/>
                    <a:pt x="58" y="42"/>
                    <a:pt x="58" y="47"/>
                  </a:cubicBezTo>
                  <a:cubicBezTo>
                    <a:pt x="58" y="58"/>
                    <a:pt x="58" y="58"/>
                    <a:pt x="58" y="58"/>
                  </a:cubicBezTo>
                  <a:cubicBezTo>
                    <a:pt x="58" y="64"/>
                    <a:pt x="56"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1" y="42"/>
                    <a:pt x="34" y="42"/>
                  </a:cubicBezTo>
                  <a:cubicBezTo>
                    <a:pt x="20" y="42"/>
                    <a:pt x="20" y="42"/>
                    <a:pt x="20" y="42"/>
                  </a:cubicBezTo>
                  <a:cubicBezTo>
                    <a:pt x="14" y="42"/>
                    <a:pt x="9" y="41"/>
                    <a:pt x="6" y="38"/>
                  </a:cubicBezTo>
                  <a:cubicBezTo>
                    <a:pt x="2" y="36"/>
                    <a:pt x="0" y="32"/>
                    <a:pt x="0" y="27"/>
                  </a:cubicBezTo>
                  <a:cubicBezTo>
                    <a:pt x="0" y="16"/>
                    <a:pt x="0" y="16"/>
                    <a:pt x="0" y="16"/>
                  </a:cubicBezTo>
                  <a:cubicBezTo>
                    <a:pt x="0" y="11"/>
                    <a:pt x="2" y="7"/>
                    <a:pt x="6" y="3"/>
                  </a:cubicBezTo>
                  <a:cubicBezTo>
                    <a:pt x="9" y="1"/>
                    <a:pt x="14" y="0"/>
                    <a:pt x="20" y="0"/>
                  </a:cubicBezTo>
                  <a:cubicBezTo>
                    <a:pt x="58" y="0"/>
                    <a:pt x="58" y="0"/>
                    <a:pt x="58" y="0"/>
                  </a:cubicBezTo>
                  <a:lnTo>
                    <a:pt x="58"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6" name="Freeform 17"/>
            <p:cNvSpPr>
              <a:spLocks/>
            </p:cNvSpPr>
            <p:nvPr userDrawn="1"/>
          </p:nvSpPr>
          <p:spPr bwMode="auto">
            <a:xfrm>
              <a:off x="231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7" name="Rectangle 18"/>
            <p:cNvSpPr>
              <a:spLocks noChangeArrowheads="1"/>
            </p:cNvSpPr>
            <p:nvPr userDrawn="1"/>
          </p:nvSpPr>
          <p:spPr bwMode="auto">
            <a:xfrm>
              <a:off x="2422" y="2206"/>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8" name="Freeform 19"/>
            <p:cNvSpPr>
              <a:spLocks/>
            </p:cNvSpPr>
            <p:nvPr userDrawn="1"/>
          </p:nvSpPr>
          <p:spPr bwMode="auto">
            <a:xfrm>
              <a:off x="2464" y="2206"/>
              <a:ext cx="87" cy="112"/>
            </a:xfrm>
            <a:custGeom>
              <a:avLst/>
              <a:gdLst>
                <a:gd name="T0" fmla="*/ 87 w 87"/>
                <a:gd name="T1" fmla="*/ 17 h 112"/>
                <a:gd name="T2" fmla="*/ 53 w 87"/>
                <a:gd name="T3" fmla="*/ 17 h 112"/>
                <a:gd name="T4" fmla="*/ 53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3" y="17"/>
                  </a:lnTo>
                  <a:lnTo>
                    <a:pt x="53"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19" name="Freeform 20"/>
            <p:cNvSpPr>
              <a:spLocks/>
            </p:cNvSpPr>
            <p:nvPr userDrawn="1"/>
          </p:nvSpPr>
          <p:spPr bwMode="auto">
            <a:xfrm>
              <a:off x="2572" y="2206"/>
              <a:ext cx="100" cy="112"/>
            </a:xfrm>
            <a:custGeom>
              <a:avLst/>
              <a:gdLst>
                <a:gd name="T0" fmla="*/ 66 w 66"/>
                <a:gd name="T1" fmla="*/ 56 h 74"/>
                <a:gd name="T2" fmla="*/ 65 w 66"/>
                <a:gd name="T3" fmla="*/ 63 h 74"/>
                <a:gd name="T4" fmla="*/ 60 w 66"/>
                <a:gd name="T5" fmla="*/ 70 h 74"/>
                <a:gd name="T6" fmla="*/ 52 w 66"/>
                <a:gd name="T7" fmla="*/ 74 h 74"/>
                <a:gd name="T8" fmla="*/ 43 w 66"/>
                <a:gd name="T9" fmla="*/ 74 h 74"/>
                <a:gd name="T10" fmla="*/ 23 w 66"/>
                <a:gd name="T11" fmla="*/ 74 h 74"/>
                <a:gd name="T12" fmla="*/ 14 w 66"/>
                <a:gd name="T13" fmla="*/ 74 h 74"/>
                <a:gd name="T14" fmla="*/ 6 w 66"/>
                <a:gd name="T15" fmla="*/ 70 h 74"/>
                <a:gd name="T16" fmla="*/ 1 w 66"/>
                <a:gd name="T17" fmla="*/ 63 h 74"/>
                <a:gd name="T18" fmla="*/ 0 w 66"/>
                <a:gd name="T19" fmla="*/ 56 h 74"/>
                <a:gd name="T20" fmla="*/ 0 w 66"/>
                <a:gd name="T21" fmla="*/ 0 h 74"/>
                <a:gd name="T22" fmla="*/ 14 w 66"/>
                <a:gd name="T23" fmla="*/ 0 h 74"/>
                <a:gd name="T24" fmla="*/ 14 w 66"/>
                <a:gd name="T25" fmla="*/ 54 h 74"/>
                <a:gd name="T26" fmla="*/ 16 w 66"/>
                <a:gd name="T27" fmla="*/ 61 h 74"/>
                <a:gd name="T28" fmla="*/ 26 w 66"/>
                <a:gd name="T29" fmla="*/ 63 h 74"/>
                <a:gd name="T30" fmla="*/ 40 w 66"/>
                <a:gd name="T31" fmla="*/ 63 h 74"/>
                <a:gd name="T32" fmla="*/ 50 w 66"/>
                <a:gd name="T33" fmla="*/ 61 h 74"/>
                <a:gd name="T34" fmla="*/ 53 w 66"/>
                <a:gd name="T35" fmla="*/ 54 h 74"/>
                <a:gd name="T36" fmla="*/ 53 w 66"/>
                <a:gd name="T37" fmla="*/ 0 h 74"/>
                <a:gd name="T38" fmla="*/ 66 w 66"/>
                <a:gd name="T39" fmla="*/ 0 h 74"/>
                <a:gd name="T40" fmla="*/ 66 w 66"/>
                <a:gd name="T41" fmla="*/ 5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74">
                  <a:moveTo>
                    <a:pt x="66" y="56"/>
                  </a:moveTo>
                  <a:cubicBezTo>
                    <a:pt x="66" y="59"/>
                    <a:pt x="65" y="62"/>
                    <a:pt x="65" y="63"/>
                  </a:cubicBezTo>
                  <a:cubicBezTo>
                    <a:pt x="64" y="66"/>
                    <a:pt x="62" y="68"/>
                    <a:pt x="60" y="70"/>
                  </a:cubicBezTo>
                  <a:cubicBezTo>
                    <a:pt x="58" y="72"/>
                    <a:pt x="55" y="73"/>
                    <a:pt x="52" y="74"/>
                  </a:cubicBezTo>
                  <a:cubicBezTo>
                    <a:pt x="51" y="74"/>
                    <a:pt x="48" y="74"/>
                    <a:pt x="43" y="74"/>
                  </a:cubicBezTo>
                  <a:cubicBezTo>
                    <a:pt x="23" y="74"/>
                    <a:pt x="23" y="74"/>
                    <a:pt x="23" y="74"/>
                  </a:cubicBezTo>
                  <a:cubicBezTo>
                    <a:pt x="19" y="74"/>
                    <a:pt x="16" y="74"/>
                    <a:pt x="14" y="74"/>
                  </a:cubicBezTo>
                  <a:cubicBezTo>
                    <a:pt x="11" y="73"/>
                    <a:pt x="8" y="72"/>
                    <a:pt x="6" y="70"/>
                  </a:cubicBezTo>
                  <a:cubicBezTo>
                    <a:pt x="4" y="68"/>
                    <a:pt x="2" y="66"/>
                    <a:pt x="1" y="63"/>
                  </a:cubicBezTo>
                  <a:cubicBezTo>
                    <a:pt x="1" y="62"/>
                    <a:pt x="0" y="59"/>
                    <a:pt x="0" y="56"/>
                  </a:cubicBezTo>
                  <a:cubicBezTo>
                    <a:pt x="0" y="0"/>
                    <a:pt x="0" y="0"/>
                    <a:pt x="0" y="0"/>
                  </a:cubicBezTo>
                  <a:cubicBezTo>
                    <a:pt x="14" y="0"/>
                    <a:pt x="14" y="0"/>
                    <a:pt x="14" y="0"/>
                  </a:cubicBezTo>
                  <a:cubicBezTo>
                    <a:pt x="14" y="54"/>
                    <a:pt x="14" y="54"/>
                    <a:pt x="14" y="54"/>
                  </a:cubicBezTo>
                  <a:cubicBezTo>
                    <a:pt x="14" y="57"/>
                    <a:pt x="14" y="60"/>
                    <a:pt x="16" y="61"/>
                  </a:cubicBezTo>
                  <a:cubicBezTo>
                    <a:pt x="18" y="63"/>
                    <a:pt x="21" y="63"/>
                    <a:pt x="26" y="63"/>
                  </a:cubicBezTo>
                  <a:cubicBezTo>
                    <a:pt x="40" y="63"/>
                    <a:pt x="40" y="63"/>
                    <a:pt x="40" y="63"/>
                  </a:cubicBezTo>
                  <a:cubicBezTo>
                    <a:pt x="45" y="63"/>
                    <a:pt x="48" y="63"/>
                    <a:pt x="50" y="61"/>
                  </a:cubicBezTo>
                  <a:cubicBezTo>
                    <a:pt x="52" y="60"/>
                    <a:pt x="53" y="58"/>
                    <a:pt x="53" y="54"/>
                  </a:cubicBezTo>
                  <a:cubicBezTo>
                    <a:pt x="53" y="0"/>
                    <a:pt x="53" y="0"/>
                    <a:pt x="53" y="0"/>
                  </a:cubicBezTo>
                  <a:cubicBezTo>
                    <a:pt x="66" y="0"/>
                    <a:pt x="66" y="0"/>
                    <a:pt x="66" y="0"/>
                  </a:cubicBezTo>
                  <a:lnTo>
                    <a:pt x="66"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0" name="Freeform 21"/>
            <p:cNvSpPr>
              <a:spLocks/>
            </p:cNvSpPr>
            <p:nvPr userDrawn="1"/>
          </p:nvSpPr>
          <p:spPr bwMode="auto">
            <a:xfrm>
              <a:off x="2693" y="2206"/>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1" name="Freeform 22"/>
            <p:cNvSpPr>
              <a:spLocks/>
            </p:cNvSpPr>
            <p:nvPr userDrawn="1"/>
          </p:nvSpPr>
          <p:spPr bwMode="auto">
            <a:xfrm>
              <a:off x="2851" y="2206"/>
              <a:ext cx="100"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3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7" y="1"/>
                    <a:pt x="18" y="3"/>
                  </a:cubicBezTo>
                  <a:cubicBezTo>
                    <a:pt x="19" y="3"/>
                    <a:pt x="21" y="5"/>
                    <a:pt x="23"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2" name="Freeform 23"/>
            <p:cNvSpPr>
              <a:spLocks noEditPoints="1"/>
            </p:cNvSpPr>
            <p:nvPr userDrawn="1"/>
          </p:nvSpPr>
          <p:spPr bwMode="auto">
            <a:xfrm>
              <a:off x="2970"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3"/>
                    <a:pt x="35" y="0"/>
                    <a:pt x="40" y="0"/>
                  </a:cubicBezTo>
                  <a:cubicBezTo>
                    <a:pt x="45" y="0"/>
                    <a:pt x="49" y="3"/>
                    <a:pt x="51"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3" name="Freeform 24"/>
            <p:cNvSpPr>
              <a:spLocks/>
            </p:cNvSpPr>
            <p:nvPr userDrawn="1"/>
          </p:nvSpPr>
          <p:spPr bwMode="auto">
            <a:xfrm>
              <a:off x="3091" y="2206"/>
              <a:ext cx="88" cy="112"/>
            </a:xfrm>
            <a:custGeom>
              <a:avLst/>
              <a:gdLst>
                <a:gd name="T0" fmla="*/ 88 w 88"/>
                <a:gd name="T1" fmla="*/ 17 h 112"/>
                <a:gd name="T2" fmla="*/ 54 w 88"/>
                <a:gd name="T3" fmla="*/ 17 h 112"/>
                <a:gd name="T4" fmla="*/ 54 w 88"/>
                <a:gd name="T5" fmla="*/ 112 h 112"/>
                <a:gd name="T6" fmla="*/ 35 w 88"/>
                <a:gd name="T7" fmla="*/ 112 h 112"/>
                <a:gd name="T8" fmla="*/ 35 w 88"/>
                <a:gd name="T9" fmla="*/ 17 h 112"/>
                <a:gd name="T10" fmla="*/ 0 w 88"/>
                <a:gd name="T11" fmla="*/ 17 h 112"/>
                <a:gd name="T12" fmla="*/ 0 w 88"/>
                <a:gd name="T13" fmla="*/ 0 h 112"/>
                <a:gd name="T14" fmla="*/ 88 w 88"/>
                <a:gd name="T15" fmla="*/ 0 h 112"/>
                <a:gd name="T16" fmla="*/ 88 w 88"/>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7"/>
                  </a:moveTo>
                  <a:lnTo>
                    <a:pt x="54" y="17"/>
                  </a:lnTo>
                  <a:lnTo>
                    <a:pt x="54" y="112"/>
                  </a:lnTo>
                  <a:lnTo>
                    <a:pt x="35" y="112"/>
                  </a:lnTo>
                  <a:lnTo>
                    <a:pt x="35" y="17"/>
                  </a:lnTo>
                  <a:lnTo>
                    <a:pt x="0" y="17"/>
                  </a:lnTo>
                  <a:lnTo>
                    <a:pt x="0" y="0"/>
                  </a:lnTo>
                  <a:lnTo>
                    <a:pt x="88" y="0"/>
                  </a:lnTo>
                  <a:lnTo>
                    <a:pt x="88"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4" name="Rectangle 25"/>
            <p:cNvSpPr>
              <a:spLocks noChangeArrowheads="1"/>
            </p:cNvSpPr>
            <p:nvPr userDrawn="1"/>
          </p:nvSpPr>
          <p:spPr bwMode="auto">
            <a:xfrm>
              <a:off x="3201" y="2206"/>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5" name="Freeform 26"/>
            <p:cNvSpPr>
              <a:spLocks noEditPoints="1"/>
            </p:cNvSpPr>
            <p:nvPr userDrawn="1"/>
          </p:nvSpPr>
          <p:spPr bwMode="auto">
            <a:xfrm>
              <a:off x="3251" y="2206"/>
              <a:ext cx="96" cy="112"/>
            </a:xfrm>
            <a:custGeom>
              <a:avLst/>
              <a:gdLst>
                <a:gd name="T0" fmla="*/ 64 w 64"/>
                <a:gd name="T1" fmla="*/ 57 h 74"/>
                <a:gd name="T2" fmla="*/ 42 w 64"/>
                <a:gd name="T3" fmla="*/ 74 h 74"/>
                <a:gd name="T4" fmla="*/ 22 w 64"/>
                <a:gd name="T5" fmla="*/ 74 h 74"/>
                <a:gd name="T6" fmla="*/ 7 w 64"/>
                <a:gd name="T7" fmla="*/ 71 h 74"/>
                <a:gd name="T8" fmla="*/ 0 w 64"/>
                <a:gd name="T9" fmla="*/ 58 h 74"/>
                <a:gd name="T10" fmla="*/ 0 w 64"/>
                <a:gd name="T11" fmla="*/ 17 h 74"/>
                <a:gd name="T12" fmla="*/ 7 w 64"/>
                <a:gd name="T13" fmla="*/ 4 h 74"/>
                <a:gd name="T14" fmla="*/ 22 w 64"/>
                <a:gd name="T15" fmla="*/ 0 h 74"/>
                <a:gd name="T16" fmla="*/ 43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6 w 64"/>
                <a:gd name="T31" fmla="*/ 11 h 74"/>
                <a:gd name="T32" fmla="*/ 16 w 64"/>
                <a:gd name="T33" fmla="*/ 13 h 74"/>
                <a:gd name="T34" fmla="*/ 14 w 64"/>
                <a:gd name="T35" fmla="*/ 20 h 74"/>
                <a:gd name="T36" fmla="*/ 14 w 64"/>
                <a:gd name="T37" fmla="*/ 54 h 74"/>
                <a:gd name="T38" fmla="*/ 17 w 64"/>
                <a:gd name="T39" fmla="*/ 62 h 74"/>
                <a:gd name="T40" fmla="*/ 26 w 64"/>
                <a:gd name="T41" fmla="*/ 63 h 74"/>
                <a:gd name="T42" fmla="*/ 39 w 64"/>
                <a:gd name="T43" fmla="*/ 63 h 74"/>
                <a:gd name="T44" fmla="*/ 48 w 64"/>
                <a:gd name="T45" fmla="*/ 62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1"/>
                  </a:cubicBezTo>
                  <a:cubicBezTo>
                    <a:pt x="2" y="68"/>
                    <a:pt x="0" y="63"/>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7"/>
                  </a:lnTo>
                  <a:close/>
                  <a:moveTo>
                    <a:pt x="51" y="55"/>
                  </a:moveTo>
                  <a:cubicBezTo>
                    <a:pt x="51" y="20"/>
                    <a:pt x="51" y="20"/>
                    <a:pt x="51" y="20"/>
                  </a:cubicBezTo>
                  <a:cubicBezTo>
                    <a:pt x="51" y="17"/>
                    <a:pt x="50" y="14"/>
                    <a:pt x="48" y="13"/>
                  </a:cubicBezTo>
                  <a:cubicBezTo>
                    <a:pt x="47" y="12"/>
                    <a:pt x="44" y="11"/>
                    <a:pt x="39" y="11"/>
                  </a:cubicBezTo>
                  <a:cubicBezTo>
                    <a:pt x="26" y="11"/>
                    <a:pt x="26" y="11"/>
                    <a:pt x="26" y="11"/>
                  </a:cubicBezTo>
                  <a:cubicBezTo>
                    <a:pt x="21" y="11"/>
                    <a:pt x="18" y="12"/>
                    <a:pt x="16" y="13"/>
                  </a:cubicBezTo>
                  <a:cubicBezTo>
                    <a:pt x="15" y="14"/>
                    <a:pt x="14" y="17"/>
                    <a:pt x="14" y="20"/>
                  </a:cubicBezTo>
                  <a:cubicBezTo>
                    <a:pt x="14" y="54"/>
                    <a:pt x="14" y="54"/>
                    <a:pt x="14" y="54"/>
                  </a:cubicBezTo>
                  <a:cubicBezTo>
                    <a:pt x="14" y="58"/>
                    <a:pt x="15" y="60"/>
                    <a:pt x="17" y="62"/>
                  </a:cubicBezTo>
                  <a:cubicBezTo>
                    <a:pt x="18" y="63"/>
                    <a:pt x="21" y="63"/>
                    <a:pt x="26" y="63"/>
                  </a:cubicBezTo>
                  <a:cubicBezTo>
                    <a:pt x="39" y="63"/>
                    <a:pt x="39" y="63"/>
                    <a:pt x="39" y="63"/>
                  </a:cubicBezTo>
                  <a:cubicBezTo>
                    <a:pt x="44" y="63"/>
                    <a:pt x="46"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6" name="Freeform 27"/>
            <p:cNvSpPr>
              <a:spLocks/>
            </p:cNvSpPr>
            <p:nvPr userDrawn="1"/>
          </p:nvSpPr>
          <p:spPr bwMode="auto">
            <a:xfrm>
              <a:off x="3379" y="2206"/>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3 h 75"/>
                <a:gd name="T22" fmla="*/ 22 w 66"/>
                <a:gd name="T23" fmla="*/ 9 h 75"/>
                <a:gd name="T24" fmla="*/ 53 w 66"/>
                <a:gd name="T25" fmla="*/ 61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5"/>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4"/>
                    <a:pt x="4" y="0"/>
                    <a:pt x="11" y="0"/>
                  </a:cubicBezTo>
                  <a:cubicBezTo>
                    <a:pt x="14" y="0"/>
                    <a:pt x="16" y="1"/>
                    <a:pt x="18" y="3"/>
                  </a:cubicBezTo>
                  <a:cubicBezTo>
                    <a:pt x="19" y="3"/>
                    <a:pt x="20" y="5"/>
                    <a:pt x="22" y="9"/>
                  </a:cubicBezTo>
                  <a:cubicBezTo>
                    <a:pt x="53" y="61"/>
                    <a:pt x="53" y="61"/>
                    <a:pt x="53" y="61"/>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7" name="Freeform 28"/>
            <p:cNvSpPr>
              <a:spLocks noEditPoints="1"/>
            </p:cNvSpPr>
            <p:nvPr userDrawn="1"/>
          </p:nvSpPr>
          <p:spPr bwMode="auto">
            <a:xfrm>
              <a:off x="3498" y="2206"/>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29 w 80"/>
                <a:gd name="T13" fmla="*/ 7 h 74"/>
                <a:gd name="T14" fmla="*/ 40 w 80"/>
                <a:gd name="T15" fmla="*/ 0 h 74"/>
                <a:gd name="T16" fmla="*/ 50 w 80"/>
                <a:gd name="T17" fmla="*/ 7 h 74"/>
                <a:gd name="T18" fmla="*/ 80 w 80"/>
                <a:gd name="T19" fmla="*/ 74 h 74"/>
                <a:gd name="T20" fmla="*/ 54 w 80"/>
                <a:gd name="T21" fmla="*/ 46 h 74"/>
                <a:gd name="T22" fmla="*/ 39 w 80"/>
                <a:gd name="T23" fmla="*/ 13 h 74"/>
                <a:gd name="T24" fmla="*/ 26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29" y="7"/>
                    <a:pt x="29" y="7"/>
                    <a:pt x="29" y="7"/>
                  </a:cubicBezTo>
                  <a:cubicBezTo>
                    <a:pt x="31" y="3"/>
                    <a:pt x="35" y="0"/>
                    <a:pt x="40" y="0"/>
                  </a:cubicBezTo>
                  <a:cubicBezTo>
                    <a:pt x="45" y="0"/>
                    <a:pt x="48" y="3"/>
                    <a:pt x="50" y="7"/>
                  </a:cubicBezTo>
                  <a:lnTo>
                    <a:pt x="80" y="74"/>
                  </a:lnTo>
                  <a:close/>
                  <a:moveTo>
                    <a:pt x="54" y="46"/>
                  </a:moveTo>
                  <a:cubicBezTo>
                    <a:pt x="39" y="13"/>
                    <a:pt x="39" y="13"/>
                    <a:pt x="39" y="13"/>
                  </a:cubicBezTo>
                  <a:cubicBezTo>
                    <a:pt x="26" y="46"/>
                    <a:pt x="26" y="46"/>
                    <a:pt x="26"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8" name="Freeform 29"/>
            <p:cNvSpPr>
              <a:spLocks/>
            </p:cNvSpPr>
            <p:nvPr userDrawn="1"/>
          </p:nvSpPr>
          <p:spPr bwMode="auto">
            <a:xfrm>
              <a:off x="3638" y="2206"/>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6 w 59"/>
                <a:gd name="T15" fmla="*/ 62 h 74"/>
                <a:gd name="T16" fmla="*/ 27 w 59"/>
                <a:gd name="T17" fmla="*/ 64 h 74"/>
                <a:gd name="T18" fmla="*/ 59 w 59"/>
                <a:gd name="T19" fmla="*/ 64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8"/>
                    <a:pt x="0" y="63"/>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2" y="64"/>
                    <a:pt x="27" y="64"/>
                  </a:cubicBezTo>
                  <a:cubicBezTo>
                    <a:pt x="59" y="64"/>
                    <a:pt x="59" y="64"/>
                    <a:pt x="59" y="64"/>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29" name="Freeform 30"/>
            <p:cNvSpPr>
              <a:spLocks noEditPoints="1"/>
            </p:cNvSpPr>
            <p:nvPr userDrawn="1"/>
          </p:nvSpPr>
          <p:spPr bwMode="auto">
            <a:xfrm>
              <a:off x="2023" y="2467"/>
              <a:ext cx="100" cy="112"/>
            </a:xfrm>
            <a:custGeom>
              <a:avLst/>
              <a:gdLst>
                <a:gd name="T0" fmla="*/ 66 w 66"/>
                <a:gd name="T1" fmla="*/ 57 h 74"/>
                <a:gd name="T2" fmla="*/ 60 w 66"/>
                <a:gd name="T3" fmla="*/ 69 h 74"/>
                <a:gd name="T4" fmla="*/ 46 w 66"/>
                <a:gd name="T5" fmla="*/ 74 h 74"/>
                <a:gd name="T6" fmla="*/ 0 w 66"/>
                <a:gd name="T7" fmla="*/ 74 h 74"/>
                <a:gd name="T8" fmla="*/ 0 w 66"/>
                <a:gd name="T9" fmla="*/ 0 h 74"/>
                <a:gd name="T10" fmla="*/ 46 w 66"/>
                <a:gd name="T11" fmla="*/ 0 h 74"/>
                <a:gd name="T12" fmla="*/ 66 w 66"/>
                <a:gd name="T13" fmla="*/ 16 h 74"/>
                <a:gd name="T14" fmla="*/ 66 w 66"/>
                <a:gd name="T15" fmla="*/ 57 h 74"/>
                <a:gd name="T16" fmla="*/ 52 w 66"/>
                <a:gd name="T17" fmla="*/ 53 h 74"/>
                <a:gd name="T18" fmla="*/ 52 w 66"/>
                <a:gd name="T19" fmla="*/ 19 h 74"/>
                <a:gd name="T20" fmla="*/ 42 w 66"/>
                <a:gd name="T21" fmla="*/ 10 h 74"/>
                <a:gd name="T22" fmla="*/ 13 w 66"/>
                <a:gd name="T23" fmla="*/ 10 h 74"/>
                <a:gd name="T24" fmla="*/ 13 w 66"/>
                <a:gd name="T25" fmla="*/ 63 h 74"/>
                <a:gd name="T26" fmla="*/ 42 w 66"/>
                <a:gd name="T27" fmla="*/ 63 h 74"/>
                <a:gd name="T28" fmla="*/ 52 w 66"/>
                <a:gd name="T29" fmla="*/ 5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74">
                  <a:moveTo>
                    <a:pt x="66" y="57"/>
                  </a:moveTo>
                  <a:cubicBezTo>
                    <a:pt x="66" y="62"/>
                    <a:pt x="64" y="66"/>
                    <a:pt x="60" y="69"/>
                  </a:cubicBezTo>
                  <a:cubicBezTo>
                    <a:pt x="57" y="72"/>
                    <a:pt x="52" y="74"/>
                    <a:pt x="46" y="74"/>
                  </a:cubicBezTo>
                  <a:cubicBezTo>
                    <a:pt x="0" y="74"/>
                    <a:pt x="0" y="74"/>
                    <a:pt x="0" y="74"/>
                  </a:cubicBezTo>
                  <a:cubicBezTo>
                    <a:pt x="0" y="0"/>
                    <a:pt x="0" y="0"/>
                    <a:pt x="0" y="0"/>
                  </a:cubicBezTo>
                  <a:cubicBezTo>
                    <a:pt x="46" y="0"/>
                    <a:pt x="46" y="0"/>
                    <a:pt x="46" y="0"/>
                  </a:cubicBezTo>
                  <a:cubicBezTo>
                    <a:pt x="59" y="0"/>
                    <a:pt x="66" y="5"/>
                    <a:pt x="66" y="16"/>
                  </a:cubicBezTo>
                  <a:lnTo>
                    <a:pt x="66" y="57"/>
                  </a:lnTo>
                  <a:close/>
                  <a:moveTo>
                    <a:pt x="52" y="53"/>
                  </a:moveTo>
                  <a:cubicBezTo>
                    <a:pt x="52" y="19"/>
                    <a:pt x="52" y="19"/>
                    <a:pt x="52" y="19"/>
                  </a:cubicBezTo>
                  <a:cubicBezTo>
                    <a:pt x="52" y="13"/>
                    <a:pt x="49" y="10"/>
                    <a:pt x="42" y="10"/>
                  </a:cubicBezTo>
                  <a:cubicBezTo>
                    <a:pt x="13" y="10"/>
                    <a:pt x="13" y="10"/>
                    <a:pt x="13" y="10"/>
                  </a:cubicBezTo>
                  <a:cubicBezTo>
                    <a:pt x="13" y="63"/>
                    <a:pt x="13" y="63"/>
                    <a:pt x="13" y="63"/>
                  </a:cubicBezTo>
                  <a:cubicBezTo>
                    <a:pt x="42" y="63"/>
                    <a:pt x="42" y="63"/>
                    <a:pt x="42" y="63"/>
                  </a:cubicBezTo>
                  <a:cubicBezTo>
                    <a:pt x="49" y="63"/>
                    <a:pt x="52" y="60"/>
                    <a:pt x="52" y="53"/>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0" name="Freeform 31"/>
            <p:cNvSpPr>
              <a:spLocks/>
            </p:cNvSpPr>
            <p:nvPr userDrawn="1"/>
          </p:nvSpPr>
          <p:spPr bwMode="auto">
            <a:xfrm>
              <a:off x="2155" y="2467"/>
              <a:ext cx="89" cy="112"/>
            </a:xfrm>
            <a:custGeom>
              <a:avLst/>
              <a:gdLst>
                <a:gd name="T0" fmla="*/ 56 w 59"/>
                <a:gd name="T1" fmla="*/ 42 h 74"/>
                <a:gd name="T2" fmla="*/ 13 w 59"/>
                <a:gd name="T3" fmla="*/ 42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4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2"/>
                  </a:moveTo>
                  <a:cubicBezTo>
                    <a:pt x="13" y="42"/>
                    <a:pt x="13" y="42"/>
                    <a:pt x="13" y="42"/>
                  </a:cubicBezTo>
                  <a:cubicBezTo>
                    <a:pt x="13" y="55"/>
                    <a:pt x="13" y="55"/>
                    <a:pt x="13" y="55"/>
                  </a:cubicBezTo>
                  <a:cubicBezTo>
                    <a:pt x="13" y="60"/>
                    <a:pt x="17" y="63"/>
                    <a:pt x="25" y="63"/>
                  </a:cubicBezTo>
                  <a:cubicBezTo>
                    <a:pt x="59" y="63"/>
                    <a:pt x="59" y="63"/>
                    <a:pt x="59" y="63"/>
                  </a:cubicBezTo>
                  <a:cubicBezTo>
                    <a:pt x="59" y="74"/>
                    <a:pt x="59" y="74"/>
                    <a:pt x="59" y="74"/>
                  </a:cubicBezTo>
                  <a:cubicBezTo>
                    <a:pt x="21" y="74"/>
                    <a:pt x="21" y="74"/>
                    <a:pt x="21" y="74"/>
                  </a:cubicBezTo>
                  <a:cubicBezTo>
                    <a:pt x="15" y="74"/>
                    <a:pt x="9" y="73"/>
                    <a:pt x="6" y="70"/>
                  </a:cubicBezTo>
                  <a:cubicBezTo>
                    <a:pt x="2" y="67"/>
                    <a:pt x="0" y="63"/>
                    <a:pt x="0" y="58"/>
                  </a:cubicBezTo>
                  <a:cubicBezTo>
                    <a:pt x="0" y="17"/>
                    <a:pt x="0" y="17"/>
                    <a:pt x="0" y="17"/>
                  </a:cubicBezTo>
                  <a:cubicBezTo>
                    <a:pt x="0" y="11"/>
                    <a:pt x="2" y="7"/>
                    <a:pt x="5" y="4"/>
                  </a:cubicBezTo>
                  <a:cubicBezTo>
                    <a:pt x="9" y="1"/>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1" name="Freeform 32"/>
            <p:cNvSpPr>
              <a:spLocks/>
            </p:cNvSpPr>
            <p:nvPr userDrawn="1"/>
          </p:nvSpPr>
          <p:spPr bwMode="auto">
            <a:xfrm>
              <a:off x="2351" y="2467"/>
              <a:ext cx="89" cy="112"/>
            </a:xfrm>
            <a:custGeom>
              <a:avLst/>
              <a:gdLst>
                <a:gd name="T0" fmla="*/ 59 w 59"/>
                <a:gd name="T1" fmla="*/ 74 h 74"/>
                <a:gd name="T2" fmla="*/ 24 w 59"/>
                <a:gd name="T3" fmla="*/ 74 h 74"/>
                <a:gd name="T4" fmla="*/ 6 w 59"/>
                <a:gd name="T5" fmla="*/ 70 h 74"/>
                <a:gd name="T6" fmla="*/ 0 w 59"/>
                <a:gd name="T7" fmla="*/ 56 h 74"/>
                <a:gd name="T8" fmla="*/ 0 w 59"/>
                <a:gd name="T9" fmla="*/ 0 h 74"/>
                <a:gd name="T10" fmla="*/ 13 w 59"/>
                <a:gd name="T11" fmla="*/ 0 h 74"/>
                <a:gd name="T12" fmla="*/ 13 w 59"/>
                <a:gd name="T13" fmla="*/ 54 h 74"/>
                <a:gd name="T14" fmla="*/ 17 w 59"/>
                <a:gd name="T15" fmla="*/ 61 h 74"/>
                <a:gd name="T16" fmla="*/ 27 w 59"/>
                <a:gd name="T17" fmla="*/ 63 h 74"/>
                <a:gd name="T18" fmla="*/ 59 w 59"/>
                <a:gd name="T19" fmla="*/ 63 h 74"/>
                <a:gd name="T20" fmla="*/ 59 w 59"/>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74">
                  <a:moveTo>
                    <a:pt x="59" y="74"/>
                  </a:moveTo>
                  <a:cubicBezTo>
                    <a:pt x="24" y="74"/>
                    <a:pt x="24" y="74"/>
                    <a:pt x="24" y="74"/>
                  </a:cubicBezTo>
                  <a:cubicBezTo>
                    <a:pt x="16" y="74"/>
                    <a:pt x="10" y="73"/>
                    <a:pt x="6" y="70"/>
                  </a:cubicBezTo>
                  <a:cubicBezTo>
                    <a:pt x="2" y="67"/>
                    <a:pt x="0" y="63"/>
                    <a:pt x="0" y="56"/>
                  </a:cubicBezTo>
                  <a:cubicBezTo>
                    <a:pt x="0" y="0"/>
                    <a:pt x="0" y="0"/>
                    <a:pt x="0" y="0"/>
                  </a:cubicBezTo>
                  <a:cubicBezTo>
                    <a:pt x="13" y="0"/>
                    <a:pt x="13" y="0"/>
                    <a:pt x="13" y="0"/>
                  </a:cubicBezTo>
                  <a:cubicBezTo>
                    <a:pt x="13" y="54"/>
                    <a:pt x="13" y="54"/>
                    <a:pt x="13" y="54"/>
                  </a:cubicBezTo>
                  <a:cubicBezTo>
                    <a:pt x="13" y="57"/>
                    <a:pt x="14" y="60"/>
                    <a:pt x="17" y="61"/>
                  </a:cubicBezTo>
                  <a:cubicBezTo>
                    <a:pt x="18" y="63"/>
                    <a:pt x="22" y="63"/>
                    <a:pt x="27" y="63"/>
                  </a:cubicBezTo>
                  <a:cubicBezTo>
                    <a:pt x="59" y="63"/>
                    <a:pt x="59" y="63"/>
                    <a:pt x="59" y="63"/>
                  </a:cubicBezTo>
                  <a:lnTo>
                    <a:pt x="59"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2" name="Freeform 33"/>
            <p:cNvSpPr>
              <a:spLocks/>
            </p:cNvSpPr>
            <p:nvPr userDrawn="1"/>
          </p:nvSpPr>
          <p:spPr bwMode="auto">
            <a:xfrm>
              <a:off x="2438" y="2450"/>
              <a:ext cx="20" cy="40"/>
            </a:xfrm>
            <a:custGeom>
              <a:avLst/>
              <a:gdLst>
                <a:gd name="T0" fmla="*/ 13 w 13"/>
                <a:gd name="T1" fmla="*/ 8 h 26"/>
                <a:gd name="T2" fmla="*/ 13 w 13"/>
                <a:gd name="T3" fmla="*/ 12 h 26"/>
                <a:gd name="T4" fmla="*/ 7 w 13"/>
                <a:gd name="T5" fmla="*/ 26 h 26"/>
                <a:gd name="T6" fmla="*/ 0 w 13"/>
                <a:gd name="T7" fmla="*/ 26 h 26"/>
                <a:gd name="T8" fmla="*/ 5 w 13"/>
                <a:gd name="T9" fmla="*/ 14 h 26"/>
                <a:gd name="T10" fmla="*/ 1 w 13"/>
                <a:gd name="T11" fmla="*/ 7 h 26"/>
                <a:gd name="T12" fmla="*/ 3 w 13"/>
                <a:gd name="T13" fmla="*/ 2 h 26"/>
                <a:gd name="T14" fmla="*/ 7 w 13"/>
                <a:gd name="T15" fmla="*/ 0 h 26"/>
                <a:gd name="T16" fmla="*/ 12 w 13"/>
                <a:gd name="T17" fmla="*/ 2 h 26"/>
                <a:gd name="T18" fmla="*/ 13 w 13"/>
                <a:gd name="T19" fmla="*/ 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26">
                  <a:moveTo>
                    <a:pt x="13" y="8"/>
                  </a:moveTo>
                  <a:cubicBezTo>
                    <a:pt x="13" y="9"/>
                    <a:pt x="13" y="11"/>
                    <a:pt x="13" y="12"/>
                  </a:cubicBezTo>
                  <a:cubicBezTo>
                    <a:pt x="7" y="26"/>
                    <a:pt x="7" y="26"/>
                    <a:pt x="7" y="26"/>
                  </a:cubicBezTo>
                  <a:cubicBezTo>
                    <a:pt x="0" y="26"/>
                    <a:pt x="0" y="26"/>
                    <a:pt x="0" y="26"/>
                  </a:cubicBezTo>
                  <a:cubicBezTo>
                    <a:pt x="5" y="14"/>
                    <a:pt x="5" y="14"/>
                    <a:pt x="5" y="14"/>
                  </a:cubicBezTo>
                  <a:cubicBezTo>
                    <a:pt x="2" y="11"/>
                    <a:pt x="1" y="9"/>
                    <a:pt x="1" y="7"/>
                  </a:cubicBezTo>
                  <a:cubicBezTo>
                    <a:pt x="1" y="5"/>
                    <a:pt x="1" y="3"/>
                    <a:pt x="3" y="2"/>
                  </a:cubicBezTo>
                  <a:cubicBezTo>
                    <a:pt x="4" y="1"/>
                    <a:pt x="5" y="0"/>
                    <a:pt x="7" y="0"/>
                  </a:cubicBezTo>
                  <a:cubicBezTo>
                    <a:pt x="9" y="0"/>
                    <a:pt x="10" y="1"/>
                    <a:pt x="12" y="2"/>
                  </a:cubicBezTo>
                  <a:cubicBezTo>
                    <a:pt x="13" y="4"/>
                    <a:pt x="13" y="6"/>
                    <a:pt x="13" y="8"/>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3" name="Rectangle 34"/>
            <p:cNvSpPr>
              <a:spLocks noChangeArrowheads="1"/>
            </p:cNvSpPr>
            <p:nvPr userDrawn="1"/>
          </p:nvSpPr>
          <p:spPr bwMode="auto">
            <a:xfrm>
              <a:off x="2495" y="2467"/>
              <a:ext cx="20"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4" name="Freeform 35"/>
            <p:cNvSpPr>
              <a:spLocks/>
            </p:cNvSpPr>
            <p:nvPr userDrawn="1"/>
          </p:nvSpPr>
          <p:spPr bwMode="auto">
            <a:xfrm>
              <a:off x="2547" y="2467"/>
              <a:ext cx="99" cy="113"/>
            </a:xfrm>
            <a:custGeom>
              <a:avLst/>
              <a:gdLst>
                <a:gd name="T0" fmla="*/ 66 w 66"/>
                <a:gd name="T1" fmla="*/ 65 h 75"/>
                <a:gd name="T2" fmla="*/ 63 w 66"/>
                <a:gd name="T3" fmla="*/ 72 h 75"/>
                <a:gd name="T4" fmla="*/ 55 w 66"/>
                <a:gd name="T5" fmla="*/ 75 h 75"/>
                <a:gd name="T6" fmla="*/ 48 w 66"/>
                <a:gd name="T7" fmla="*/ 73 h 75"/>
                <a:gd name="T8" fmla="*/ 44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9 w 66"/>
                <a:gd name="T21" fmla="*/ 2 h 75"/>
                <a:gd name="T22" fmla="*/ 23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9" y="75"/>
                    <a:pt x="55" y="75"/>
                  </a:cubicBezTo>
                  <a:cubicBezTo>
                    <a:pt x="52" y="75"/>
                    <a:pt x="50" y="74"/>
                    <a:pt x="48" y="73"/>
                  </a:cubicBezTo>
                  <a:cubicBezTo>
                    <a:pt x="47" y="72"/>
                    <a:pt x="46" y="70"/>
                    <a:pt x="44"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5" y="0"/>
                    <a:pt x="17" y="1"/>
                    <a:pt x="19" y="2"/>
                  </a:cubicBezTo>
                  <a:cubicBezTo>
                    <a:pt x="20" y="3"/>
                    <a:pt x="21" y="5"/>
                    <a:pt x="23"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5" name="Freeform 36"/>
            <p:cNvSpPr>
              <a:spLocks/>
            </p:cNvSpPr>
            <p:nvPr userDrawn="1"/>
          </p:nvSpPr>
          <p:spPr bwMode="auto">
            <a:xfrm>
              <a:off x="2678" y="2467"/>
              <a:ext cx="90" cy="112"/>
            </a:xfrm>
            <a:custGeom>
              <a:avLst/>
              <a:gdLst>
                <a:gd name="T0" fmla="*/ 60 w 60"/>
                <a:gd name="T1" fmla="*/ 42 h 74"/>
                <a:gd name="T2" fmla="*/ 14 w 60"/>
                <a:gd name="T3" fmla="*/ 42 h 74"/>
                <a:gd name="T4" fmla="*/ 14 w 60"/>
                <a:gd name="T5" fmla="*/ 74 h 74"/>
                <a:gd name="T6" fmla="*/ 0 w 60"/>
                <a:gd name="T7" fmla="*/ 74 h 74"/>
                <a:gd name="T8" fmla="*/ 0 w 60"/>
                <a:gd name="T9" fmla="*/ 15 h 74"/>
                <a:gd name="T10" fmla="*/ 6 w 60"/>
                <a:gd name="T11" fmla="*/ 3 h 74"/>
                <a:gd name="T12" fmla="*/ 21 w 60"/>
                <a:gd name="T13" fmla="*/ 0 h 74"/>
                <a:gd name="T14" fmla="*/ 60 w 60"/>
                <a:gd name="T15" fmla="*/ 0 h 74"/>
                <a:gd name="T16" fmla="*/ 60 w 60"/>
                <a:gd name="T17" fmla="*/ 11 h 74"/>
                <a:gd name="T18" fmla="*/ 25 w 60"/>
                <a:gd name="T19" fmla="*/ 11 h 74"/>
                <a:gd name="T20" fmla="*/ 14 w 60"/>
                <a:gd name="T21" fmla="*/ 18 h 74"/>
                <a:gd name="T22" fmla="*/ 14 w 60"/>
                <a:gd name="T23" fmla="*/ 32 h 74"/>
                <a:gd name="T24" fmla="*/ 60 w 60"/>
                <a:gd name="T25" fmla="*/ 32 h 74"/>
                <a:gd name="T26" fmla="*/ 60 w 60"/>
                <a:gd name="T2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74">
                  <a:moveTo>
                    <a:pt x="60" y="42"/>
                  </a:moveTo>
                  <a:cubicBezTo>
                    <a:pt x="14" y="42"/>
                    <a:pt x="14" y="42"/>
                    <a:pt x="14" y="42"/>
                  </a:cubicBezTo>
                  <a:cubicBezTo>
                    <a:pt x="14" y="74"/>
                    <a:pt x="14" y="74"/>
                    <a:pt x="14" y="74"/>
                  </a:cubicBezTo>
                  <a:cubicBezTo>
                    <a:pt x="0" y="74"/>
                    <a:pt x="0" y="74"/>
                    <a:pt x="0" y="74"/>
                  </a:cubicBezTo>
                  <a:cubicBezTo>
                    <a:pt x="0" y="15"/>
                    <a:pt x="0" y="15"/>
                    <a:pt x="0" y="15"/>
                  </a:cubicBezTo>
                  <a:cubicBezTo>
                    <a:pt x="0" y="10"/>
                    <a:pt x="2" y="6"/>
                    <a:pt x="6" y="3"/>
                  </a:cubicBezTo>
                  <a:cubicBezTo>
                    <a:pt x="10" y="1"/>
                    <a:pt x="15" y="0"/>
                    <a:pt x="21" y="0"/>
                  </a:cubicBezTo>
                  <a:cubicBezTo>
                    <a:pt x="60" y="0"/>
                    <a:pt x="60" y="0"/>
                    <a:pt x="60" y="0"/>
                  </a:cubicBezTo>
                  <a:cubicBezTo>
                    <a:pt x="60" y="11"/>
                    <a:pt x="60" y="11"/>
                    <a:pt x="60" y="11"/>
                  </a:cubicBezTo>
                  <a:cubicBezTo>
                    <a:pt x="25" y="11"/>
                    <a:pt x="25" y="11"/>
                    <a:pt x="25" y="11"/>
                  </a:cubicBezTo>
                  <a:cubicBezTo>
                    <a:pt x="17" y="11"/>
                    <a:pt x="14" y="13"/>
                    <a:pt x="14" y="18"/>
                  </a:cubicBezTo>
                  <a:cubicBezTo>
                    <a:pt x="14" y="32"/>
                    <a:pt x="14" y="32"/>
                    <a:pt x="14" y="32"/>
                  </a:cubicBezTo>
                  <a:cubicBezTo>
                    <a:pt x="60" y="32"/>
                    <a:pt x="60" y="32"/>
                    <a:pt x="60" y="32"/>
                  </a:cubicBezTo>
                  <a:lnTo>
                    <a:pt x="60"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6" name="Freeform 37"/>
            <p:cNvSpPr>
              <a:spLocks noEditPoints="1"/>
            </p:cNvSpPr>
            <p:nvPr userDrawn="1"/>
          </p:nvSpPr>
          <p:spPr bwMode="auto">
            <a:xfrm>
              <a:off x="2803"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10"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7" name="Freeform 38"/>
            <p:cNvSpPr>
              <a:spLocks/>
            </p:cNvSpPr>
            <p:nvPr userDrawn="1"/>
          </p:nvSpPr>
          <p:spPr bwMode="auto">
            <a:xfrm>
              <a:off x="2931" y="2467"/>
              <a:ext cx="98" cy="112"/>
            </a:xfrm>
            <a:custGeom>
              <a:avLst/>
              <a:gdLst>
                <a:gd name="T0" fmla="*/ 65 w 65"/>
                <a:gd name="T1" fmla="*/ 74 h 74"/>
                <a:gd name="T2" fmla="*/ 48 w 65"/>
                <a:gd name="T3" fmla="*/ 74 h 74"/>
                <a:gd name="T4" fmla="*/ 16 w 65"/>
                <a:gd name="T5" fmla="*/ 45 h 74"/>
                <a:gd name="T6" fmla="*/ 14 w 65"/>
                <a:gd name="T7" fmla="*/ 41 h 74"/>
                <a:gd name="T8" fmla="*/ 23 w 65"/>
                <a:gd name="T9" fmla="*/ 35 h 74"/>
                <a:gd name="T10" fmla="*/ 42 w 65"/>
                <a:gd name="T11" fmla="*/ 34 h 74"/>
                <a:gd name="T12" fmla="*/ 52 w 65"/>
                <a:gd name="T13" fmla="*/ 27 h 74"/>
                <a:gd name="T14" fmla="*/ 52 w 65"/>
                <a:gd name="T15" fmla="*/ 19 h 74"/>
                <a:gd name="T16" fmla="*/ 41 w 65"/>
                <a:gd name="T17" fmla="*/ 11 h 74"/>
                <a:gd name="T18" fmla="*/ 13 w 65"/>
                <a:gd name="T19" fmla="*/ 11 h 74"/>
                <a:gd name="T20" fmla="*/ 13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5"/>
                    <a:pt x="16" y="45"/>
                    <a:pt x="16" y="45"/>
                  </a:cubicBezTo>
                  <a:cubicBezTo>
                    <a:pt x="15" y="45"/>
                    <a:pt x="14" y="43"/>
                    <a:pt x="14" y="41"/>
                  </a:cubicBezTo>
                  <a:cubicBezTo>
                    <a:pt x="14" y="37"/>
                    <a:pt x="17" y="35"/>
                    <a:pt x="23" y="35"/>
                  </a:cubicBezTo>
                  <a:cubicBezTo>
                    <a:pt x="42" y="34"/>
                    <a:pt x="42" y="34"/>
                    <a:pt x="42" y="34"/>
                  </a:cubicBezTo>
                  <a:cubicBezTo>
                    <a:pt x="48" y="34"/>
                    <a:pt x="52" y="32"/>
                    <a:pt x="52" y="27"/>
                  </a:cubicBezTo>
                  <a:cubicBezTo>
                    <a:pt x="52" y="19"/>
                    <a:pt x="52" y="19"/>
                    <a:pt x="52" y="19"/>
                  </a:cubicBezTo>
                  <a:cubicBezTo>
                    <a:pt x="52" y="13"/>
                    <a:pt x="48" y="11"/>
                    <a:pt x="41" y="11"/>
                  </a:cubicBezTo>
                  <a:cubicBezTo>
                    <a:pt x="13" y="11"/>
                    <a:pt x="13" y="11"/>
                    <a:pt x="13" y="11"/>
                  </a:cubicBezTo>
                  <a:cubicBezTo>
                    <a:pt x="13" y="74"/>
                    <a:pt x="13" y="74"/>
                    <a:pt x="13"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3" y="37"/>
                    <a:pt x="60" y="40"/>
                  </a:cubicBezTo>
                  <a:cubicBezTo>
                    <a:pt x="56" y="42"/>
                    <a:pt x="51"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8" name="Freeform 39"/>
            <p:cNvSpPr>
              <a:spLocks/>
            </p:cNvSpPr>
            <p:nvPr userDrawn="1"/>
          </p:nvSpPr>
          <p:spPr bwMode="auto">
            <a:xfrm>
              <a:off x="3058" y="2467"/>
              <a:ext cx="137" cy="115"/>
            </a:xfrm>
            <a:custGeom>
              <a:avLst/>
              <a:gdLst>
                <a:gd name="T0" fmla="*/ 91 w 91"/>
                <a:gd name="T1" fmla="*/ 74 h 76"/>
                <a:gd name="T2" fmla="*/ 79 w 91"/>
                <a:gd name="T3" fmla="*/ 74 h 76"/>
                <a:gd name="T4" fmla="*/ 79 w 91"/>
                <a:gd name="T5" fmla="*/ 16 h 76"/>
                <a:gd name="T6" fmla="*/ 55 w 91"/>
                <a:gd name="T7" fmla="*/ 68 h 76"/>
                <a:gd name="T8" fmla="*/ 46 w 91"/>
                <a:gd name="T9" fmla="*/ 76 h 76"/>
                <a:gd name="T10" fmla="*/ 40 w 91"/>
                <a:gd name="T11" fmla="*/ 73 h 76"/>
                <a:gd name="T12" fmla="*/ 37 w 91"/>
                <a:gd name="T13" fmla="*/ 68 h 76"/>
                <a:gd name="T14" fmla="*/ 13 w 91"/>
                <a:gd name="T15" fmla="*/ 16 h 76"/>
                <a:gd name="T16" fmla="*/ 13 w 91"/>
                <a:gd name="T17" fmla="*/ 74 h 76"/>
                <a:gd name="T18" fmla="*/ 0 w 91"/>
                <a:gd name="T19" fmla="*/ 74 h 76"/>
                <a:gd name="T20" fmla="*/ 0 w 91"/>
                <a:gd name="T21" fmla="*/ 10 h 76"/>
                <a:gd name="T22" fmla="*/ 3 w 91"/>
                <a:gd name="T23" fmla="*/ 3 h 76"/>
                <a:gd name="T24" fmla="*/ 12 w 91"/>
                <a:gd name="T25" fmla="*/ 0 h 76"/>
                <a:gd name="T26" fmla="*/ 23 w 91"/>
                <a:gd name="T27" fmla="*/ 7 h 76"/>
                <a:gd name="T28" fmla="*/ 46 w 91"/>
                <a:gd name="T29" fmla="*/ 59 h 76"/>
                <a:gd name="T30" fmla="*/ 69 w 91"/>
                <a:gd name="T31" fmla="*/ 7 h 76"/>
                <a:gd name="T32" fmla="*/ 80 w 91"/>
                <a:gd name="T33" fmla="*/ 0 h 76"/>
                <a:gd name="T34" fmla="*/ 89 w 91"/>
                <a:gd name="T35" fmla="*/ 3 h 76"/>
                <a:gd name="T36" fmla="*/ 91 w 91"/>
                <a:gd name="T37" fmla="*/ 10 h 76"/>
                <a:gd name="T38" fmla="*/ 91 w 91"/>
                <a:gd name="T3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 h="76">
                  <a:moveTo>
                    <a:pt x="91" y="74"/>
                  </a:moveTo>
                  <a:cubicBezTo>
                    <a:pt x="79" y="74"/>
                    <a:pt x="79" y="74"/>
                    <a:pt x="79" y="74"/>
                  </a:cubicBezTo>
                  <a:cubicBezTo>
                    <a:pt x="79" y="16"/>
                    <a:pt x="79" y="16"/>
                    <a:pt x="79" y="16"/>
                  </a:cubicBezTo>
                  <a:cubicBezTo>
                    <a:pt x="55" y="68"/>
                    <a:pt x="55" y="68"/>
                    <a:pt x="55" y="68"/>
                  </a:cubicBezTo>
                  <a:cubicBezTo>
                    <a:pt x="53" y="73"/>
                    <a:pt x="50" y="76"/>
                    <a:pt x="46" y="76"/>
                  </a:cubicBezTo>
                  <a:cubicBezTo>
                    <a:pt x="43" y="76"/>
                    <a:pt x="41" y="75"/>
                    <a:pt x="40" y="73"/>
                  </a:cubicBezTo>
                  <a:cubicBezTo>
                    <a:pt x="39" y="72"/>
                    <a:pt x="38" y="71"/>
                    <a:pt x="37" y="68"/>
                  </a:cubicBezTo>
                  <a:cubicBezTo>
                    <a:pt x="13" y="16"/>
                    <a:pt x="13" y="16"/>
                    <a:pt x="13" y="16"/>
                  </a:cubicBezTo>
                  <a:cubicBezTo>
                    <a:pt x="13" y="74"/>
                    <a:pt x="13" y="74"/>
                    <a:pt x="13" y="74"/>
                  </a:cubicBezTo>
                  <a:cubicBezTo>
                    <a:pt x="0" y="74"/>
                    <a:pt x="0" y="74"/>
                    <a:pt x="0" y="74"/>
                  </a:cubicBezTo>
                  <a:cubicBezTo>
                    <a:pt x="0" y="10"/>
                    <a:pt x="0" y="10"/>
                    <a:pt x="0" y="10"/>
                  </a:cubicBezTo>
                  <a:cubicBezTo>
                    <a:pt x="0" y="7"/>
                    <a:pt x="1" y="5"/>
                    <a:pt x="3" y="3"/>
                  </a:cubicBezTo>
                  <a:cubicBezTo>
                    <a:pt x="5" y="1"/>
                    <a:pt x="8" y="0"/>
                    <a:pt x="12" y="0"/>
                  </a:cubicBezTo>
                  <a:cubicBezTo>
                    <a:pt x="17" y="0"/>
                    <a:pt x="21" y="2"/>
                    <a:pt x="23" y="7"/>
                  </a:cubicBezTo>
                  <a:cubicBezTo>
                    <a:pt x="46" y="59"/>
                    <a:pt x="46" y="59"/>
                    <a:pt x="46" y="59"/>
                  </a:cubicBezTo>
                  <a:cubicBezTo>
                    <a:pt x="69" y="7"/>
                    <a:pt x="69" y="7"/>
                    <a:pt x="69" y="7"/>
                  </a:cubicBezTo>
                  <a:cubicBezTo>
                    <a:pt x="71" y="2"/>
                    <a:pt x="75" y="0"/>
                    <a:pt x="80" y="0"/>
                  </a:cubicBezTo>
                  <a:cubicBezTo>
                    <a:pt x="84" y="0"/>
                    <a:pt x="87" y="1"/>
                    <a:pt x="89" y="3"/>
                  </a:cubicBezTo>
                  <a:cubicBezTo>
                    <a:pt x="90" y="5"/>
                    <a:pt x="91" y="7"/>
                    <a:pt x="91" y="10"/>
                  </a:cubicBezTo>
                  <a:lnTo>
                    <a:pt x="91"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39" name="Freeform 40"/>
            <p:cNvSpPr>
              <a:spLocks noEditPoints="1"/>
            </p:cNvSpPr>
            <p:nvPr userDrawn="1"/>
          </p:nvSpPr>
          <p:spPr bwMode="auto">
            <a:xfrm>
              <a:off x="3216" y="2467"/>
              <a:ext cx="121" cy="112"/>
            </a:xfrm>
            <a:custGeom>
              <a:avLst/>
              <a:gdLst>
                <a:gd name="T0" fmla="*/ 80 w 80"/>
                <a:gd name="T1" fmla="*/ 74 h 74"/>
                <a:gd name="T2" fmla="*/ 66 w 80"/>
                <a:gd name="T3" fmla="*/ 74 h 74"/>
                <a:gd name="T4" fmla="*/ 58 w 80"/>
                <a:gd name="T5" fmla="*/ 56 h 74"/>
                <a:gd name="T6" fmla="*/ 22 w 80"/>
                <a:gd name="T7" fmla="*/ 56 h 74"/>
                <a:gd name="T8" fmla="*/ 14 w 80"/>
                <a:gd name="T9" fmla="*/ 74 h 74"/>
                <a:gd name="T10" fmla="*/ 0 w 80"/>
                <a:gd name="T11" fmla="*/ 74 h 74"/>
                <a:gd name="T12" fmla="*/ 30 w 80"/>
                <a:gd name="T13" fmla="*/ 7 h 74"/>
                <a:gd name="T14" fmla="*/ 40 w 80"/>
                <a:gd name="T15" fmla="*/ 0 h 74"/>
                <a:gd name="T16" fmla="*/ 51 w 80"/>
                <a:gd name="T17" fmla="*/ 7 h 74"/>
                <a:gd name="T18" fmla="*/ 80 w 80"/>
                <a:gd name="T19" fmla="*/ 74 h 74"/>
                <a:gd name="T20" fmla="*/ 54 w 80"/>
                <a:gd name="T21" fmla="*/ 46 h 74"/>
                <a:gd name="T22" fmla="*/ 40 w 80"/>
                <a:gd name="T23" fmla="*/ 13 h 74"/>
                <a:gd name="T24" fmla="*/ 27 w 80"/>
                <a:gd name="T25" fmla="*/ 46 h 74"/>
                <a:gd name="T26" fmla="*/ 54 w 80"/>
                <a:gd name="T27" fmla="*/ 4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6"/>
                    <a:pt x="58" y="56"/>
                    <a:pt x="58" y="56"/>
                  </a:cubicBezTo>
                  <a:cubicBezTo>
                    <a:pt x="22" y="56"/>
                    <a:pt x="22" y="56"/>
                    <a:pt x="22" y="56"/>
                  </a:cubicBezTo>
                  <a:cubicBezTo>
                    <a:pt x="14" y="74"/>
                    <a:pt x="14" y="74"/>
                    <a:pt x="14" y="74"/>
                  </a:cubicBezTo>
                  <a:cubicBezTo>
                    <a:pt x="0" y="74"/>
                    <a:pt x="0" y="74"/>
                    <a:pt x="0" y="74"/>
                  </a:cubicBezTo>
                  <a:cubicBezTo>
                    <a:pt x="30" y="7"/>
                    <a:pt x="30" y="7"/>
                    <a:pt x="30" y="7"/>
                  </a:cubicBezTo>
                  <a:cubicBezTo>
                    <a:pt x="32" y="2"/>
                    <a:pt x="35" y="0"/>
                    <a:pt x="40" y="0"/>
                  </a:cubicBezTo>
                  <a:cubicBezTo>
                    <a:pt x="45" y="0"/>
                    <a:pt x="49" y="2"/>
                    <a:pt x="51" y="7"/>
                  </a:cubicBezTo>
                  <a:lnTo>
                    <a:pt x="80" y="74"/>
                  </a:lnTo>
                  <a:close/>
                  <a:moveTo>
                    <a:pt x="54" y="46"/>
                  </a:moveTo>
                  <a:cubicBezTo>
                    <a:pt x="40" y="13"/>
                    <a:pt x="40" y="13"/>
                    <a:pt x="40" y="13"/>
                  </a:cubicBezTo>
                  <a:cubicBezTo>
                    <a:pt x="27" y="46"/>
                    <a:pt x="27" y="46"/>
                    <a:pt x="27" y="46"/>
                  </a:cubicBezTo>
                  <a:lnTo>
                    <a:pt x="54" y="4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0" name="Freeform 41"/>
            <p:cNvSpPr>
              <a:spLocks/>
            </p:cNvSpPr>
            <p:nvPr userDrawn="1"/>
          </p:nvSpPr>
          <p:spPr bwMode="auto">
            <a:xfrm>
              <a:off x="3338" y="2467"/>
              <a:ext cx="88" cy="112"/>
            </a:xfrm>
            <a:custGeom>
              <a:avLst/>
              <a:gdLst>
                <a:gd name="T0" fmla="*/ 88 w 88"/>
                <a:gd name="T1" fmla="*/ 15 h 112"/>
                <a:gd name="T2" fmla="*/ 55 w 88"/>
                <a:gd name="T3" fmla="*/ 15 h 112"/>
                <a:gd name="T4" fmla="*/ 55 w 88"/>
                <a:gd name="T5" fmla="*/ 112 h 112"/>
                <a:gd name="T6" fmla="*/ 35 w 88"/>
                <a:gd name="T7" fmla="*/ 112 h 112"/>
                <a:gd name="T8" fmla="*/ 35 w 88"/>
                <a:gd name="T9" fmla="*/ 15 h 112"/>
                <a:gd name="T10" fmla="*/ 0 w 88"/>
                <a:gd name="T11" fmla="*/ 15 h 112"/>
                <a:gd name="T12" fmla="*/ 0 w 88"/>
                <a:gd name="T13" fmla="*/ 0 h 112"/>
                <a:gd name="T14" fmla="*/ 88 w 88"/>
                <a:gd name="T15" fmla="*/ 0 h 112"/>
                <a:gd name="T16" fmla="*/ 88 w 88"/>
                <a:gd name="T17" fmla="*/ 1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2">
                  <a:moveTo>
                    <a:pt x="88" y="15"/>
                  </a:moveTo>
                  <a:lnTo>
                    <a:pt x="55" y="15"/>
                  </a:lnTo>
                  <a:lnTo>
                    <a:pt x="55" y="112"/>
                  </a:lnTo>
                  <a:lnTo>
                    <a:pt x="35" y="112"/>
                  </a:lnTo>
                  <a:lnTo>
                    <a:pt x="35" y="15"/>
                  </a:lnTo>
                  <a:lnTo>
                    <a:pt x="0" y="15"/>
                  </a:lnTo>
                  <a:lnTo>
                    <a:pt x="0" y="0"/>
                  </a:lnTo>
                  <a:lnTo>
                    <a:pt x="88" y="0"/>
                  </a:lnTo>
                  <a:lnTo>
                    <a:pt x="88" y="1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1" name="Rectangle 42"/>
            <p:cNvSpPr>
              <a:spLocks noChangeArrowheads="1"/>
            </p:cNvSpPr>
            <p:nvPr userDrawn="1"/>
          </p:nvSpPr>
          <p:spPr bwMode="auto">
            <a:xfrm>
              <a:off x="3448" y="2467"/>
              <a:ext cx="22"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2" name="Freeform 43"/>
            <p:cNvSpPr>
              <a:spLocks noEditPoints="1"/>
            </p:cNvSpPr>
            <p:nvPr userDrawn="1"/>
          </p:nvSpPr>
          <p:spPr bwMode="auto">
            <a:xfrm>
              <a:off x="3501" y="2467"/>
              <a:ext cx="97" cy="112"/>
            </a:xfrm>
            <a:custGeom>
              <a:avLst/>
              <a:gdLst>
                <a:gd name="T0" fmla="*/ 64 w 64"/>
                <a:gd name="T1" fmla="*/ 57 h 74"/>
                <a:gd name="T2" fmla="*/ 42 w 64"/>
                <a:gd name="T3" fmla="*/ 74 h 74"/>
                <a:gd name="T4" fmla="*/ 22 w 64"/>
                <a:gd name="T5" fmla="*/ 74 h 74"/>
                <a:gd name="T6" fmla="*/ 6 w 64"/>
                <a:gd name="T7" fmla="*/ 70 h 74"/>
                <a:gd name="T8" fmla="*/ 0 w 64"/>
                <a:gd name="T9" fmla="*/ 57 h 74"/>
                <a:gd name="T10" fmla="*/ 0 w 64"/>
                <a:gd name="T11" fmla="*/ 17 h 74"/>
                <a:gd name="T12" fmla="*/ 6 w 64"/>
                <a:gd name="T13" fmla="*/ 4 h 74"/>
                <a:gd name="T14" fmla="*/ 22 w 64"/>
                <a:gd name="T15" fmla="*/ 0 h 74"/>
                <a:gd name="T16" fmla="*/ 42 w 64"/>
                <a:gd name="T17" fmla="*/ 0 h 74"/>
                <a:gd name="T18" fmla="*/ 64 w 64"/>
                <a:gd name="T19" fmla="*/ 17 h 74"/>
                <a:gd name="T20" fmla="*/ 64 w 64"/>
                <a:gd name="T21" fmla="*/ 57 h 74"/>
                <a:gd name="T22" fmla="*/ 51 w 64"/>
                <a:gd name="T23" fmla="*/ 54 h 74"/>
                <a:gd name="T24" fmla="*/ 51 w 64"/>
                <a:gd name="T25" fmla="*/ 20 h 74"/>
                <a:gd name="T26" fmla="*/ 48 w 64"/>
                <a:gd name="T27" fmla="*/ 13 h 74"/>
                <a:gd name="T28" fmla="*/ 39 w 64"/>
                <a:gd name="T29" fmla="*/ 11 h 74"/>
                <a:gd name="T30" fmla="*/ 25 w 64"/>
                <a:gd name="T31" fmla="*/ 11 h 74"/>
                <a:gd name="T32" fmla="*/ 16 w 64"/>
                <a:gd name="T33" fmla="*/ 13 h 74"/>
                <a:gd name="T34" fmla="*/ 13 w 64"/>
                <a:gd name="T35" fmla="*/ 20 h 74"/>
                <a:gd name="T36" fmla="*/ 13 w 64"/>
                <a:gd name="T37" fmla="*/ 54 h 74"/>
                <a:gd name="T38" fmla="*/ 16 w 64"/>
                <a:gd name="T39" fmla="*/ 61 h 74"/>
                <a:gd name="T40" fmla="*/ 25 w 64"/>
                <a:gd name="T41" fmla="*/ 63 h 74"/>
                <a:gd name="T42" fmla="*/ 39 w 64"/>
                <a:gd name="T43" fmla="*/ 63 h 74"/>
                <a:gd name="T44" fmla="*/ 48 w 64"/>
                <a:gd name="T45" fmla="*/ 61 h 74"/>
                <a:gd name="T46" fmla="*/ 51 w 64"/>
                <a:gd name="T47" fmla="*/ 5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8"/>
                    <a:pt x="56" y="74"/>
                    <a:pt x="42" y="74"/>
                  </a:cubicBezTo>
                  <a:cubicBezTo>
                    <a:pt x="22" y="74"/>
                    <a:pt x="22" y="74"/>
                    <a:pt x="22" y="74"/>
                  </a:cubicBezTo>
                  <a:cubicBezTo>
                    <a:pt x="15" y="74"/>
                    <a:pt x="9" y="73"/>
                    <a:pt x="6" y="70"/>
                  </a:cubicBezTo>
                  <a:cubicBezTo>
                    <a:pt x="2" y="67"/>
                    <a:pt x="0" y="63"/>
                    <a:pt x="0" y="57"/>
                  </a:cubicBezTo>
                  <a:cubicBezTo>
                    <a:pt x="0" y="17"/>
                    <a:pt x="0" y="17"/>
                    <a:pt x="0" y="17"/>
                  </a:cubicBezTo>
                  <a:cubicBezTo>
                    <a:pt x="0" y="11"/>
                    <a:pt x="2" y="7"/>
                    <a:pt x="6" y="4"/>
                  </a:cubicBezTo>
                  <a:cubicBezTo>
                    <a:pt x="10" y="1"/>
                    <a:pt x="15" y="0"/>
                    <a:pt x="22" y="0"/>
                  </a:cubicBezTo>
                  <a:cubicBezTo>
                    <a:pt x="42" y="0"/>
                    <a:pt x="42" y="0"/>
                    <a:pt x="42" y="0"/>
                  </a:cubicBezTo>
                  <a:cubicBezTo>
                    <a:pt x="56" y="0"/>
                    <a:pt x="64" y="6"/>
                    <a:pt x="64" y="17"/>
                  </a:cubicBezTo>
                  <a:lnTo>
                    <a:pt x="64" y="57"/>
                  </a:lnTo>
                  <a:close/>
                  <a:moveTo>
                    <a:pt x="51" y="54"/>
                  </a:moveTo>
                  <a:cubicBezTo>
                    <a:pt x="51" y="20"/>
                    <a:pt x="51" y="20"/>
                    <a:pt x="51" y="20"/>
                  </a:cubicBezTo>
                  <a:cubicBezTo>
                    <a:pt x="51" y="16"/>
                    <a:pt x="50" y="14"/>
                    <a:pt x="48" y="13"/>
                  </a:cubicBezTo>
                  <a:cubicBezTo>
                    <a:pt x="46" y="11"/>
                    <a:pt x="43" y="11"/>
                    <a:pt x="39" y="11"/>
                  </a:cubicBezTo>
                  <a:cubicBezTo>
                    <a:pt x="25" y="11"/>
                    <a:pt x="25" y="11"/>
                    <a:pt x="25" y="11"/>
                  </a:cubicBezTo>
                  <a:cubicBezTo>
                    <a:pt x="21" y="11"/>
                    <a:pt x="18" y="11"/>
                    <a:pt x="16" y="13"/>
                  </a:cubicBezTo>
                  <a:cubicBezTo>
                    <a:pt x="14" y="14"/>
                    <a:pt x="13" y="16"/>
                    <a:pt x="13" y="20"/>
                  </a:cubicBezTo>
                  <a:cubicBezTo>
                    <a:pt x="13" y="54"/>
                    <a:pt x="13" y="54"/>
                    <a:pt x="13" y="54"/>
                  </a:cubicBezTo>
                  <a:cubicBezTo>
                    <a:pt x="13" y="57"/>
                    <a:pt x="14" y="60"/>
                    <a:pt x="16" y="61"/>
                  </a:cubicBezTo>
                  <a:cubicBezTo>
                    <a:pt x="18" y="62"/>
                    <a:pt x="21" y="63"/>
                    <a:pt x="25" y="63"/>
                  </a:cubicBezTo>
                  <a:cubicBezTo>
                    <a:pt x="39" y="63"/>
                    <a:pt x="39" y="63"/>
                    <a:pt x="39" y="63"/>
                  </a:cubicBezTo>
                  <a:cubicBezTo>
                    <a:pt x="43" y="63"/>
                    <a:pt x="46" y="62"/>
                    <a:pt x="48" y="61"/>
                  </a:cubicBezTo>
                  <a:cubicBezTo>
                    <a:pt x="50" y="60"/>
                    <a:pt x="51" y="58"/>
                    <a:pt x="51" y="54"/>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3" name="Freeform 44"/>
            <p:cNvSpPr>
              <a:spLocks/>
            </p:cNvSpPr>
            <p:nvPr userDrawn="1"/>
          </p:nvSpPr>
          <p:spPr bwMode="auto">
            <a:xfrm>
              <a:off x="3629" y="2467"/>
              <a:ext cx="100" cy="113"/>
            </a:xfrm>
            <a:custGeom>
              <a:avLst/>
              <a:gdLst>
                <a:gd name="T0" fmla="*/ 66 w 66"/>
                <a:gd name="T1" fmla="*/ 65 h 75"/>
                <a:gd name="T2" fmla="*/ 63 w 66"/>
                <a:gd name="T3" fmla="*/ 72 h 75"/>
                <a:gd name="T4" fmla="*/ 55 w 66"/>
                <a:gd name="T5" fmla="*/ 75 h 75"/>
                <a:gd name="T6" fmla="*/ 47 w 66"/>
                <a:gd name="T7" fmla="*/ 73 h 75"/>
                <a:gd name="T8" fmla="*/ 43 w 66"/>
                <a:gd name="T9" fmla="*/ 67 h 75"/>
                <a:gd name="T10" fmla="*/ 13 w 66"/>
                <a:gd name="T11" fmla="*/ 15 h 75"/>
                <a:gd name="T12" fmla="*/ 13 w 66"/>
                <a:gd name="T13" fmla="*/ 74 h 75"/>
                <a:gd name="T14" fmla="*/ 0 w 66"/>
                <a:gd name="T15" fmla="*/ 74 h 75"/>
                <a:gd name="T16" fmla="*/ 0 w 66"/>
                <a:gd name="T17" fmla="*/ 11 h 75"/>
                <a:gd name="T18" fmla="*/ 11 w 66"/>
                <a:gd name="T19" fmla="*/ 0 h 75"/>
                <a:gd name="T20" fmla="*/ 18 w 66"/>
                <a:gd name="T21" fmla="*/ 2 h 75"/>
                <a:gd name="T22" fmla="*/ 22 w 66"/>
                <a:gd name="T23" fmla="*/ 8 h 75"/>
                <a:gd name="T24" fmla="*/ 53 w 66"/>
                <a:gd name="T25" fmla="*/ 60 h 75"/>
                <a:gd name="T26" fmla="*/ 53 w 66"/>
                <a:gd name="T27" fmla="*/ 1 h 75"/>
                <a:gd name="T28" fmla="*/ 66 w 66"/>
                <a:gd name="T29" fmla="*/ 1 h 75"/>
                <a:gd name="T30" fmla="*/ 66 w 66"/>
                <a:gd name="T31" fmla="*/ 6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75">
                  <a:moveTo>
                    <a:pt x="66" y="65"/>
                  </a:moveTo>
                  <a:cubicBezTo>
                    <a:pt x="66" y="68"/>
                    <a:pt x="65" y="70"/>
                    <a:pt x="63" y="72"/>
                  </a:cubicBezTo>
                  <a:cubicBezTo>
                    <a:pt x="61" y="74"/>
                    <a:pt x="58" y="75"/>
                    <a:pt x="55" y="75"/>
                  </a:cubicBezTo>
                  <a:cubicBezTo>
                    <a:pt x="52" y="75"/>
                    <a:pt x="49" y="74"/>
                    <a:pt x="47" y="73"/>
                  </a:cubicBezTo>
                  <a:cubicBezTo>
                    <a:pt x="47" y="72"/>
                    <a:pt x="45" y="70"/>
                    <a:pt x="43" y="67"/>
                  </a:cubicBezTo>
                  <a:cubicBezTo>
                    <a:pt x="13" y="15"/>
                    <a:pt x="13" y="15"/>
                    <a:pt x="13" y="15"/>
                  </a:cubicBezTo>
                  <a:cubicBezTo>
                    <a:pt x="13" y="74"/>
                    <a:pt x="13" y="74"/>
                    <a:pt x="13" y="74"/>
                  </a:cubicBezTo>
                  <a:cubicBezTo>
                    <a:pt x="0" y="74"/>
                    <a:pt x="0" y="74"/>
                    <a:pt x="0" y="74"/>
                  </a:cubicBezTo>
                  <a:cubicBezTo>
                    <a:pt x="0" y="11"/>
                    <a:pt x="0" y="11"/>
                    <a:pt x="0" y="11"/>
                  </a:cubicBezTo>
                  <a:cubicBezTo>
                    <a:pt x="0" y="3"/>
                    <a:pt x="4" y="0"/>
                    <a:pt x="11" y="0"/>
                  </a:cubicBezTo>
                  <a:cubicBezTo>
                    <a:pt x="14" y="0"/>
                    <a:pt x="17" y="1"/>
                    <a:pt x="18" y="2"/>
                  </a:cubicBezTo>
                  <a:cubicBezTo>
                    <a:pt x="19" y="3"/>
                    <a:pt x="21" y="5"/>
                    <a:pt x="22" y="8"/>
                  </a:cubicBezTo>
                  <a:cubicBezTo>
                    <a:pt x="53" y="60"/>
                    <a:pt x="53" y="60"/>
                    <a:pt x="53" y="60"/>
                  </a:cubicBezTo>
                  <a:cubicBezTo>
                    <a:pt x="53" y="1"/>
                    <a:pt x="53" y="1"/>
                    <a:pt x="53" y="1"/>
                  </a:cubicBezTo>
                  <a:cubicBezTo>
                    <a:pt x="66" y="1"/>
                    <a:pt x="66" y="1"/>
                    <a:pt x="66" y="1"/>
                  </a:cubicBezTo>
                  <a:lnTo>
                    <a:pt x="66" y="6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4" name="Freeform 45"/>
            <p:cNvSpPr>
              <a:spLocks/>
            </p:cNvSpPr>
            <p:nvPr userDrawn="1"/>
          </p:nvSpPr>
          <p:spPr bwMode="auto">
            <a:xfrm>
              <a:off x="2023" y="2726"/>
              <a:ext cx="98" cy="114"/>
            </a:xfrm>
            <a:custGeom>
              <a:avLst/>
              <a:gdLst>
                <a:gd name="T0" fmla="*/ 65 w 65"/>
                <a:gd name="T1" fmla="*/ 57 h 75"/>
                <a:gd name="T2" fmla="*/ 60 w 65"/>
                <a:gd name="T3" fmla="*/ 70 h 75"/>
                <a:gd name="T4" fmla="*/ 45 w 65"/>
                <a:gd name="T5" fmla="*/ 75 h 75"/>
                <a:gd name="T6" fmla="*/ 22 w 65"/>
                <a:gd name="T7" fmla="*/ 75 h 75"/>
                <a:gd name="T8" fmla="*/ 5 w 65"/>
                <a:gd name="T9" fmla="*/ 70 h 75"/>
                <a:gd name="T10" fmla="*/ 0 w 65"/>
                <a:gd name="T11" fmla="*/ 63 h 75"/>
                <a:gd name="T12" fmla="*/ 0 w 65"/>
                <a:gd name="T13" fmla="*/ 55 h 75"/>
                <a:gd name="T14" fmla="*/ 0 w 65"/>
                <a:gd name="T15" fmla="*/ 18 h 75"/>
                <a:gd name="T16" fmla="*/ 1 w 65"/>
                <a:gd name="T17" fmla="*/ 10 h 75"/>
                <a:gd name="T18" fmla="*/ 6 w 65"/>
                <a:gd name="T19" fmla="*/ 4 h 75"/>
                <a:gd name="T20" fmla="*/ 22 w 65"/>
                <a:gd name="T21" fmla="*/ 0 h 75"/>
                <a:gd name="T22" fmla="*/ 60 w 65"/>
                <a:gd name="T23" fmla="*/ 0 h 75"/>
                <a:gd name="T24" fmla="*/ 60 w 65"/>
                <a:gd name="T25" fmla="*/ 11 h 75"/>
                <a:gd name="T26" fmla="*/ 24 w 65"/>
                <a:gd name="T27" fmla="*/ 11 h 75"/>
                <a:gd name="T28" fmla="*/ 16 w 65"/>
                <a:gd name="T29" fmla="*/ 13 h 75"/>
                <a:gd name="T30" fmla="*/ 13 w 65"/>
                <a:gd name="T31" fmla="*/ 20 h 75"/>
                <a:gd name="T32" fmla="*/ 13 w 65"/>
                <a:gd name="T33" fmla="*/ 55 h 75"/>
                <a:gd name="T34" fmla="*/ 16 w 65"/>
                <a:gd name="T35" fmla="*/ 62 h 75"/>
                <a:gd name="T36" fmla="*/ 24 w 65"/>
                <a:gd name="T37" fmla="*/ 64 h 75"/>
                <a:gd name="T38" fmla="*/ 41 w 65"/>
                <a:gd name="T39" fmla="*/ 64 h 75"/>
                <a:gd name="T40" fmla="*/ 51 w 65"/>
                <a:gd name="T41" fmla="*/ 55 h 75"/>
                <a:gd name="T42" fmla="*/ 51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3" y="67"/>
                    <a:pt x="60" y="70"/>
                  </a:cubicBezTo>
                  <a:cubicBezTo>
                    <a:pt x="56" y="73"/>
                    <a:pt x="51" y="75"/>
                    <a:pt x="45" y="75"/>
                  </a:cubicBezTo>
                  <a:cubicBezTo>
                    <a:pt x="22" y="75"/>
                    <a:pt x="22" y="75"/>
                    <a:pt x="22" y="75"/>
                  </a:cubicBezTo>
                  <a:cubicBezTo>
                    <a:pt x="15" y="75"/>
                    <a:pt x="9" y="73"/>
                    <a:pt x="5" y="70"/>
                  </a:cubicBezTo>
                  <a:cubicBezTo>
                    <a:pt x="3" y="68"/>
                    <a:pt x="1" y="66"/>
                    <a:pt x="0" y="63"/>
                  </a:cubicBezTo>
                  <a:cubicBezTo>
                    <a:pt x="0" y="62"/>
                    <a:pt x="0" y="59"/>
                    <a:pt x="0" y="55"/>
                  </a:cubicBezTo>
                  <a:cubicBezTo>
                    <a:pt x="0" y="18"/>
                    <a:pt x="0" y="18"/>
                    <a:pt x="0" y="18"/>
                  </a:cubicBezTo>
                  <a:cubicBezTo>
                    <a:pt x="0" y="15"/>
                    <a:pt x="0" y="12"/>
                    <a:pt x="1" y="10"/>
                  </a:cubicBezTo>
                  <a:cubicBezTo>
                    <a:pt x="2" y="8"/>
                    <a:pt x="4" y="6"/>
                    <a:pt x="6" y="4"/>
                  </a:cubicBezTo>
                  <a:cubicBezTo>
                    <a:pt x="10" y="2"/>
                    <a:pt x="15" y="0"/>
                    <a:pt x="22" y="0"/>
                  </a:cubicBezTo>
                  <a:cubicBezTo>
                    <a:pt x="60" y="0"/>
                    <a:pt x="60" y="0"/>
                    <a:pt x="60" y="0"/>
                  </a:cubicBezTo>
                  <a:cubicBezTo>
                    <a:pt x="60" y="11"/>
                    <a:pt x="60" y="11"/>
                    <a:pt x="60" y="11"/>
                  </a:cubicBezTo>
                  <a:cubicBezTo>
                    <a:pt x="24" y="11"/>
                    <a:pt x="24" y="11"/>
                    <a:pt x="24" y="11"/>
                  </a:cubicBezTo>
                  <a:cubicBezTo>
                    <a:pt x="20" y="11"/>
                    <a:pt x="17" y="12"/>
                    <a:pt x="16" y="13"/>
                  </a:cubicBezTo>
                  <a:cubicBezTo>
                    <a:pt x="14" y="14"/>
                    <a:pt x="13" y="16"/>
                    <a:pt x="13" y="20"/>
                  </a:cubicBezTo>
                  <a:cubicBezTo>
                    <a:pt x="13" y="55"/>
                    <a:pt x="13" y="55"/>
                    <a:pt x="13" y="55"/>
                  </a:cubicBezTo>
                  <a:cubicBezTo>
                    <a:pt x="13" y="58"/>
                    <a:pt x="14" y="61"/>
                    <a:pt x="16" y="62"/>
                  </a:cubicBezTo>
                  <a:cubicBezTo>
                    <a:pt x="18" y="63"/>
                    <a:pt x="20" y="64"/>
                    <a:pt x="24" y="64"/>
                  </a:cubicBezTo>
                  <a:cubicBezTo>
                    <a:pt x="41" y="64"/>
                    <a:pt x="41" y="64"/>
                    <a:pt x="41" y="64"/>
                  </a:cubicBezTo>
                  <a:cubicBezTo>
                    <a:pt x="48" y="64"/>
                    <a:pt x="51" y="61"/>
                    <a:pt x="51" y="55"/>
                  </a:cubicBezTo>
                  <a:cubicBezTo>
                    <a:pt x="51" y="34"/>
                    <a:pt x="51" y="34"/>
                    <a:pt x="51"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5" name="Freeform 46"/>
            <p:cNvSpPr>
              <a:spLocks noEditPoints="1"/>
            </p:cNvSpPr>
            <p:nvPr userDrawn="1"/>
          </p:nvSpPr>
          <p:spPr bwMode="auto">
            <a:xfrm>
              <a:off x="2179" y="2698"/>
              <a:ext cx="89" cy="142"/>
            </a:xfrm>
            <a:custGeom>
              <a:avLst/>
              <a:gdLst>
                <a:gd name="T0" fmla="*/ 59 w 59"/>
                <a:gd name="T1" fmla="*/ 94 h 94"/>
                <a:gd name="T2" fmla="*/ 21 w 59"/>
                <a:gd name="T3" fmla="*/ 94 h 94"/>
                <a:gd name="T4" fmla="*/ 6 w 59"/>
                <a:gd name="T5" fmla="*/ 90 h 94"/>
                <a:gd name="T6" fmla="*/ 0 w 59"/>
                <a:gd name="T7" fmla="*/ 78 h 94"/>
                <a:gd name="T8" fmla="*/ 0 w 59"/>
                <a:gd name="T9" fmla="*/ 36 h 94"/>
                <a:gd name="T10" fmla="*/ 5 w 59"/>
                <a:gd name="T11" fmla="*/ 24 h 94"/>
                <a:gd name="T12" fmla="*/ 20 w 59"/>
                <a:gd name="T13" fmla="*/ 19 h 94"/>
                <a:gd name="T14" fmla="*/ 59 w 59"/>
                <a:gd name="T15" fmla="*/ 19 h 94"/>
                <a:gd name="T16" fmla="*/ 59 w 59"/>
                <a:gd name="T17" fmla="*/ 30 h 94"/>
                <a:gd name="T18" fmla="*/ 24 w 59"/>
                <a:gd name="T19" fmla="*/ 30 h 94"/>
                <a:gd name="T20" fmla="*/ 13 w 59"/>
                <a:gd name="T21" fmla="*/ 39 h 94"/>
                <a:gd name="T22" fmla="*/ 13 w 59"/>
                <a:gd name="T23" fmla="*/ 51 h 94"/>
                <a:gd name="T24" fmla="*/ 59 w 59"/>
                <a:gd name="T25" fmla="*/ 51 h 94"/>
                <a:gd name="T26" fmla="*/ 59 w 59"/>
                <a:gd name="T27" fmla="*/ 62 h 94"/>
                <a:gd name="T28" fmla="*/ 13 w 59"/>
                <a:gd name="T29" fmla="*/ 62 h 94"/>
                <a:gd name="T30" fmla="*/ 13 w 59"/>
                <a:gd name="T31" fmla="*/ 74 h 94"/>
                <a:gd name="T32" fmla="*/ 24 w 59"/>
                <a:gd name="T33" fmla="*/ 83 h 94"/>
                <a:gd name="T34" fmla="*/ 59 w 59"/>
                <a:gd name="T35" fmla="*/ 83 h 94"/>
                <a:gd name="T36" fmla="*/ 59 w 59"/>
                <a:gd name="T37" fmla="*/ 94 h 94"/>
                <a:gd name="T38" fmla="*/ 44 w 59"/>
                <a:gd name="T39" fmla="*/ 0 h 94"/>
                <a:gd name="T40" fmla="*/ 34 w 59"/>
                <a:gd name="T41" fmla="*/ 13 h 94"/>
                <a:gd name="T42" fmla="*/ 24 w 59"/>
                <a:gd name="T43" fmla="*/ 13 h 94"/>
                <a:gd name="T44" fmla="*/ 33 w 59"/>
                <a:gd name="T45" fmla="*/ 0 h 94"/>
                <a:gd name="T46" fmla="*/ 44 w 59"/>
                <a:gd name="T47"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4">
                  <a:moveTo>
                    <a:pt x="59" y="94"/>
                  </a:moveTo>
                  <a:cubicBezTo>
                    <a:pt x="21" y="94"/>
                    <a:pt x="21" y="94"/>
                    <a:pt x="21" y="94"/>
                  </a:cubicBezTo>
                  <a:cubicBezTo>
                    <a:pt x="14" y="94"/>
                    <a:pt x="9" y="92"/>
                    <a:pt x="6" y="90"/>
                  </a:cubicBezTo>
                  <a:cubicBezTo>
                    <a:pt x="2" y="87"/>
                    <a:pt x="0" y="83"/>
                    <a:pt x="0" y="78"/>
                  </a:cubicBezTo>
                  <a:cubicBezTo>
                    <a:pt x="0" y="36"/>
                    <a:pt x="0" y="36"/>
                    <a:pt x="0" y="36"/>
                  </a:cubicBezTo>
                  <a:cubicBezTo>
                    <a:pt x="0" y="31"/>
                    <a:pt x="1" y="27"/>
                    <a:pt x="5" y="24"/>
                  </a:cubicBezTo>
                  <a:cubicBezTo>
                    <a:pt x="8" y="21"/>
                    <a:pt x="13" y="19"/>
                    <a:pt x="20" y="19"/>
                  </a:cubicBezTo>
                  <a:cubicBezTo>
                    <a:pt x="59" y="19"/>
                    <a:pt x="59" y="19"/>
                    <a:pt x="59" y="19"/>
                  </a:cubicBezTo>
                  <a:cubicBezTo>
                    <a:pt x="59" y="30"/>
                    <a:pt x="59" y="30"/>
                    <a:pt x="59" y="30"/>
                  </a:cubicBezTo>
                  <a:cubicBezTo>
                    <a:pt x="24" y="30"/>
                    <a:pt x="24" y="30"/>
                    <a:pt x="24" y="30"/>
                  </a:cubicBezTo>
                  <a:cubicBezTo>
                    <a:pt x="17" y="30"/>
                    <a:pt x="13" y="33"/>
                    <a:pt x="13" y="39"/>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3"/>
                    <a:pt x="24" y="83"/>
                  </a:cubicBezTo>
                  <a:cubicBezTo>
                    <a:pt x="59" y="83"/>
                    <a:pt x="59" y="83"/>
                    <a:pt x="59" y="83"/>
                  </a:cubicBezTo>
                  <a:lnTo>
                    <a:pt x="59" y="94"/>
                  </a:lnTo>
                  <a:close/>
                  <a:moveTo>
                    <a:pt x="44" y="0"/>
                  </a:moveTo>
                  <a:cubicBezTo>
                    <a:pt x="34" y="13"/>
                    <a:pt x="34" y="13"/>
                    <a:pt x="34" y="13"/>
                  </a:cubicBezTo>
                  <a:cubicBezTo>
                    <a:pt x="24" y="13"/>
                    <a:pt x="24" y="13"/>
                    <a:pt x="24" y="13"/>
                  </a:cubicBezTo>
                  <a:cubicBezTo>
                    <a:pt x="33" y="0"/>
                    <a:pt x="33" y="0"/>
                    <a:pt x="33" y="0"/>
                  </a:cubicBezTo>
                  <a:lnTo>
                    <a:pt x="44" y="0"/>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6" name="Freeform 47"/>
            <p:cNvSpPr>
              <a:spLocks noEditPoints="1"/>
            </p:cNvSpPr>
            <p:nvPr userDrawn="1"/>
          </p:nvSpPr>
          <p:spPr bwMode="auto">
            <a:xfrm>
              <a:off x="2322" y="2726"/>
              <a:ext cx="97" cy="114"/>
            </a:xfrm>
            <a:custGeom>
              <a:avLst/>
              <a:gdLst>
                <a:gd name="T0" fmla="*/ 64 w 64"/>
                <a:gd name="T1" fmla="*/ 58 h 75"/>
                <a:gd name="T2" fmla="*/ 42 w 64"/>
                <a:gd name="T3" fmla="*/ 75 h 75"/>
                <a:gd name="T4" fmla="*/ 22 w 64"/>
                <a:gd name="T5" fmla="*/ 75 h 75"/>
                <a:gd name="T6" fmla="*/ 7 w 64"/>
                <a:gd name="T7" fmla="*/ 71 h 75"/>
                <a:gd name="T8" fmla="*/ 0 w 64"/>
                <a:gd name="T9" fmla="*/ 58 h 75"/>
                <a:gd name="T10" fmla="*/ 0 w 64"/>
                <a:gd name="T11" fmla="*/ 17 h 75"/>
                <a:gd name="T12" fmla="*/ 7 w 64"/>
                <a:gd name="T13" fmla="*/ 4 h 75"/>
                <a:gd name="T14" fmla="*/ 22 w 64"/>
                <a:gd name="T15" fmla="*/ 0 h 75"/>
                <a:gd name="T16" fmla="*/ 43 w 64"/>
                <a:gd name="T17" fmla="*/ 0 h 75"/>
                <a:gd name="T18" fmla="*/ 64 w 64"/>
                <a:gd name="T19" fmla="*/ 17 h 75"/>
                <a:gd name="T20" fmla="*/ 64 w 64"/>
                <a:gd name="T21" fmla="*/ 58 h 75"/>
                <a:gd name="T22" fmla="*/ 51 w 64"/>
                <a:gd name="T23" fmla="*/ 55 h 75"/>
                <a:gd name="T24" fmla="*/ 51 w 64"/>
                <a:gd name="T25" fmla="*/ 21 h 75"/>
                <a:gd name="T26" fmla="*/ 48 w 64"/>
                <a:gd name="T27" fmla="*/ 13 h 75"/>
                <a:gd name="T28" fmla="*/ 39 w 64"/>
                <a:gd name="T29" fmla="*/ 11 h 75"/>
                <a:gd name="T30" fmla="*/ 26 w 64"/>
                <a:gd name="T31" fmla="*/ 11 h 75"/>
                <a:gd name="T32" fmla="*/ 16 w 64"/>
                <a:gd name="T33" fmla="*/ 13 h 75"/>
                <a:gd name="T34" fmla="*/ 14 w 64"/>
                <a:gd name="T35" fmla="*/ 21 h 75"/>
                <a:gd name="T36" fmla="*/ 14 w 64"/>
                <a:gd name="T37" fmla="*/ 55 h 75"/>
                <a:gd name="T38" fmla="*/ 17 w 64"/>
                <a:gd name="T39" fmla="*/ 62 h 75"/>
                <a:gd name="T40" fmla="*/ 26 w 64"/>
                <a:gd name="T41" fmla="*/ 64 h 75"/>
                <a:gd name="T42" fmla="*/ 39 w 64"/>
                <a:gd name="T43" fmla="*/ 64 h 75"/>
                <a:gd name="T44" fmla="*/ 48 w 64"/>
                <a:gd name="T45" fmla="*/ 62 h 75"/>
                <a:gd name="T46" fmla="*/ 51 w 64"/>
                <a:gd name="T47"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5">
                  <a:moveTo>
                    <a:pt x="64" y="58"/>
                  </a:moveTo>
                  <a:cubicBezTo>
                    <a:pt x="64" y="69"/>
                    <a:pt x="57" y="75"/>
                    <a:pt x="42" y="75"/>
                  </a:cubicBezTo>
                  <a:cubicBezTo>
                    <a:pt x="22" y="75"/>
                    <a:pt x="22" y="75"/>
                    <a:pt x="22" y="75"/>
                  </a:cubicBezTo>
                  <a:cubicBezTo>
                    <a:pt x="15" y="75"/>
                    <a:pt x="10" y="73"/>
                    <a:pt x="7" y="71"/>
                  </a:cubicBezTo>
                  <a:cubicBezTo>
                    <a:pt x="3" y="68"/>
                    <a:pt x="0" y="64"/>
                    <a:pt x="0" y="58"/>
                  </a:cubicBezTo>
                  <a:cubicBezTo>
                    <a:pt x="0" y="17"/>
                    <a:pt x="0" y="17"/>
                    <a:pt x="0" y="17"/>
                  </a:cubicBezTo>
                  <a:cubicBezTo>
                    <a:pt x="0" y="12"/>
                    <a:pt x="3" y="7"/>
                    <a:pt x="7" y="4"/>
                  </a:cubicBezTo>
                  <a:cubicBezTo>
                    <a:pt x="10" y="2"/>
                    <a:pt x="15" y="0"/>
                    <a:pt x="22" y="0"/>
                  </a:cubicBezTo>
                  <a:cubicBezTo>
                    <a:pt x="43" y="0"/>
                    <a:pt x="43" y="0"/>
                    <a:pt x="43" y="0"/>
                  </a:cubicBezTo>
                  <a:cubicBezTo>
                    <a:pt x="57" y="0"/>
                    <a:pt x="64" y="6"/>
                    <a:pt x="64" y="17"/>
                  </a:cubicBezTo>
                  <a:lnTo>
                    <a:pt x="64" y="58"/>
                  </a:lnTo>
                  <a:close/>
                  <a:moveTo>
                    <a:pt x="51" y="55"/>
                  </a:moveTo>
                  <a:cubicBezTo>
                    <a:pt x="51" y="21"/>
                    <a:pt x="51" y="21"/>
                    <a:pt x="51" y="21"/>
                  </a:cubicBezTo>
                  <a:cubicBezTo>
                    <a:pt x="51" y="17"/>
                    <a:pt x="50" y="15"/>
                    <a:pt x="48" y="13"/>
                  </a:cubicBezTo>
                  <a:cubicBezTo>
                    <a:pt x="47" y="12"/>
                    <a:pt x="44" y="11"/>
                    <a:pt x="39" y="11"/>
                  </a:cubicBezTo>
                  <a:cubicBezTo>
                    <a:pt x="26" y="11"/>
                    <a:pt x="26" y="11"/>
                    <a:pt x="26" y="11"/>
                  </a:cubicBezTo>
                  <a:cubicBezTo>
                    <a:pt x="21" y="11"/>
                    <a:pt x="18" y="12"/>
                    <a:pt x="16" y="13"/>
                  </a:cubicBezTo>
                  <a:cubicBezTo>
                    <a:pt x="15" y="15"/>
                    <a:pt x="14" y="17"/>
                    <a:pt x="14" y="21"/>
                  </a:cubicBezTo>
                  <a:cubicBezTo>
                    <a:pt x="14" y="55"/>
                    <a:pt x="14" y="55"/>
                    <a:pt x="14" y="55"/>
                  </a:cubicBezTo>
                  <a:cubicBezTo>
                    <a:pt x="14" y="58"/>
                    <a:pt x="15" y="60"/>
                    <a:pt x="17" y="62"/>
                  </a:cubicBezTo>
                  <a:cubicBezTo>
                    <a:pt x="18" y="63"/>
                    <a:pt x="21" y="64"/>
                    <a:pt x="26" y="64"/>
                  </a:cubicBezTo>
                  <a:cubicBezTo>
                    <a:pt x="39" y="64"/>
                    <a:pt x="39" y="64"/>
                    <a:pt x="39" y="64"/>
                  </a:cubicBezTo>
                  <a:cubicBezTo>
                    <a:pt x="44" y="64"/>
                    <a:pt x="47" y="63"/>
                    <a:pt x="48" y="62"/>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7" name="Freeform 48"/>
            <p:cNvSpPr>
              <a:spLocks/>
            </p:cNvSpPr>
            <p:nvPr userDrawn="1"/>
          </p:nvSpPr>
          <p:spPr bwMode="auto">
            <a:xfrm>
              <a:off x="2476" y="2726"/>
              <a:ext cx="98" cy="114"/>
            </a:xfrm>
            <a:custGeom>
              <a:avLst/>
              <a:gdLst>
                <a:gd name="T0" fmla="*/ 65 w 65"/>
                <a:gd name="T1" fmla="*/ 57 h 75"/>
                <a:gd name="T2" fmla="*/ 60 w 65"/>
                <a:gd name="T3" fmla="*/ 70 h 75"/>
                <a:gd name="T4" fmla="*/ 45 w 65"/>
                <a:gd name="T5" fmla="*/ 75 h 75"/>
                <a:gd name="T6" fmla="*/ 22 w 65"/>
                <a:gd name="T7" fmla="*/ 75 h 75"/>
                <a:gd name="T8" fmla="*/ 6 w 65"/>
                <a:gd name="T9" fmla="*/ 70 h 75"/>
                <a:gd name="T10" fmla="*/ 1 w 65"/>
                <a:gd name="T11" fmla="*/ 63 h 75"/>
                <a:gd name="T12" fmla="*/ 0 w 65"/>
                <a:gd name="T13" fmla="*/ 55 h 75"/>
                <a:gd name="T14" fmla="*/ 0 w 65"/>
                <a:gd name="T15" fmla="*/ 18 h 75"/>
                <a:gd name="T16" fmla="*/ 1 w 65"/>
                <a:gd name="T17" fmla="*/ 10 h 75"/>
                <a:gd name="T18" fmla="*/ 7 w 65"/>
                <a:gd name="T19" fmla="*/ 4 h 75"/>
                <a:gd name="T20" fmla="*/ 22 w 65"/>
                <a:gd name="T21" fmla="*/ 0 h 75"/>
                <a:gd name="T22" fmla="*/ 60 w 65"/>
                <a:gd name="T23" fmla="*/ 0 h 75"/>
                <a:gd name="T24" fmla="*/ 60 w 65"/>
                <a:gd name="T25" fmla="*/ 11 h 75"/>
                <a:gd name="T26" fmla="*/ 25 w 65"/>
                <a:gd name="T27" fmla="*/ 11 h 75"/>
                <a:gd name="T28" fmla="*/ 16 w 65"/>
                <a:gd name="T29" fmla="*/ 13 h 75"/>
                <a:gd name="T30" fmla="*/ 14 w 65"/>
                <a:gd name="T31" fmla="*/ 20 h 75"/>
                <a:gd name="T32" fmla="*/ 14 w 65"/>
                <a:gd name="T33" fmla="*/ 55 h 75"/>
                <a:gd name="T34" fmla="*/ 17 w 65"/>
                <a:gd name="T35" fmla="*/ 62 h 75"/>
                <a:gd name="T36" fmla="*/ 25 w 65"/>
                <a:gd name="T37" fmla="*/ 64 h 75"/>
                <a:gd name="T38" fmla="*/ 42 w 65"/>
                <a:gd name="T39" fmla="*/ 64 h 75"/>
                <a:gd name="T40" fmla="*/ 52 w 65"/>
                <a:gd name="T41" fmla="*/ 55 h 75"/>
                <a:gd name="T42" fmla="*/ 52 w 65"/>
                <a:gd name="T43" fmla="*/ 34 h 75"/>
                <a:gd name="T44" fmla="*/ 65 w 65"/>
                <a:gd name="T45" fmla="*/ 34 h 75"/>
                <a:gd name="T46" fmla="*/ 65 w 65"/>
                <a:gd name="T4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5">
                  <a:moveTo>
                    <a:pt x="65" y="57"/>
                  </a:moveTo>
                  <a:cubicBezTo>
                    <a:pt x="65" y="62"/>
                    <a:pt x="64" y="67"/>
                    <a:pt x="60" y="70"/>
                  </a:cubicBezTo>
                  <a:cubicBezTo>
                    <a:pt x="57" y="73"/>
                    <a:pt x="52" y="75"/>
                    <a:pt x="45" y="75"/>
                  </a:cubicBezTo>
                  <a:cubicBezTo>
                    <a:pt x="22" y="75"/>
                    <a:pt x="22" y="75"/>
                    <a:pt x="22" y="75"/>
                  </a:cubicBezTo>
                  <a:cubicBezTo>
                    <a:pt x="15" y="75"/>
                    <a:pt x="10" y="73"/>
                    <a:pt x="6" y="70"/>
                  </a:cubicBezTo>
                  <a:cubicBezTo>
                    <a:pt x="4" y="68"/>
                    <a:pt x="2" y="66"/>
                    <a:pt x="1" y="63"/>
                  </a:cubicBezTo>
                  <a:cubicBezTo>
                    <a:pt x="1" y="62"/>
                    <a:pt x="0" y="59"/>
                    <a:pt x="0" y="55"/>
                  </a:cubicBezTo>
                  <a:cubicBezTo>
                    <a:pt x="0" y="18"/>
                    <a:pt x="0" y="18"/>
                    <a:pt x="0" y="18"/>
                  </a:cubicBezTo>
                  <a:cubicBezTo>
                    <a:pt x="0" y="15"/>
                    <a:pt x="1" y="12"/>
                    <a:pt x="1" y="10"/>
                  </a:cubicBezTo>
                  <a:cubicBezTo>
                    <a:pt x="2" y="8"/>
                    <a:pt x="4" y="6"/>
                    <a:pt x="7" y="4"/>
                  </a:cubicBezTo>
                  <a:cubicBezTo>
                    <a:pt x="11" y="2"/>
                    <a:pt x="16" y="0"/>
                    <a:pt x="22" y="0"/>
                  </a:cubicBezTo>
                  <a:cubicBezTo>
                    <a:pt x="60" y="0"/>
                    <a:pt x="60" y="0"/>
                    <a:pt x="60" y="0"/>
                  </a:cubicBezTo>
                  <a:cubicBezTo>
                    <a:pt x="60" y="11"/>
                    <a:pt x="60" y="11"/>
                    <a:pt x="60" y="11"/>
                  </a:cubicBezTo>
                  <a:cubicBezTo>
                    <a:pt x="25" y="11"/>
                    <a:pt x="25" y="11"/>
                    <a:pt x="25" y="11"/>
                  </a:cubicBezTo>
                  <a:cubicBezTo>
                    <a:pt x="21" y="11"/>
                    <a:pt x="18" y="12"/>
                    <a:pt x="16" y="13"/>
                  </a:cubicBezTo>
                  <a:cubicBezTo>
                    <a:pt x="15" y="14"/>
                    <a:pt x="14" y="16"/>
                    <a:pt x="14" y="20"/>
                  </a:cubicBezTo>
                  <a:cubicBezTo>
                    <a:pt x="14" y="55"/>
                    <a:pt x="14" y="55"/>
                    <a:pt x="14" y="55"/>
                  </a:cubicBezTo>
                  <a:cubicBezTo>
                    <a:pt x="14" y="58"/>
                    <a:pt x="15" y="61"/>
                    <a:pt x="17" y="62"/>
                  </a:cubicBezTo>
                  <a:cubicBezTo>
                    <a:pt x="18" y="63"/>
                    <a:pt x="21" y="64"/>
                    <a:pt x="25" y="64"/>
                  </a:cubicBezTo>
                  <a:cubicBezTo>
                    <a:pt x="42" y="64"/>
                    <a:pt x="42" y="64"/>
                    <a:pt x="42" y="64"/>
                  </a:cubicBezTo>
                  <a:cubicBezTo>
                    <a:pt x="49" y="64"/>
                    <a:pt x="52" y="61"/>
                    <a:pt x="52" y="55"/>
                  </a:cubicBezTo>
                  <a:cubicBezTo>
                    <a:pt x="52" y="34"/>
                    <a:pt x="52" y="34"/>
                    <a:pt x="52" y="34"/>
                  </a:cubicBezTo>
                  <a:cubicBezTo>
                    <a:pt x="65" y="34"/>
                    <a:pt x="65" y="34"/>
                    <a:pt x="65" y="34"/>
                  </a:cubicBezTo>
                  <a:lnTo>
                    <a:pt x="65" y="5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8" name="Freeform 49"/>
            <p:cNvSpPr>
              <a:spLocks/>
            </p:cNvSpPr>
            <p:nvPr userDrawn="1"/>
          </p:nvSpPr>
          <p:spPr bwMode="auto">
            <a:xfrm>
              <a:off x="2631" y="2728"/>
              <a:ext cx="98" cy="112"/>
            </a:xfrm>
            <a:custGeom>
              <a:avLst/>
              <a:gdLst>
                <a:gd name="T0" fmla="*/ 65 w 65"/>
                <a:gd name="T1" fmla="*/ 74 h 74"/>
                <a:gd name="T2" fmla="*/ 49 w 65"/>
                <a:gd name="T3" fmla="*/ 74 h 74"/>
                <a:gd name="T4" fmla="*/ 16 w 65"/>
                <a:gd name="T5" fmla="*/ 45 h 74"/>
                <a:gd name="T6" fmla="*/ 15 w 65"/>
                <a:gd name="T7" fmla="*/ 40 h 74"/>
                <a:gd name="T8" fmla="*/ 23 w 65"/>
                <a:gd name="T9" fmla="*/ 34 h 74"/>
                <a:gd name="T10" fmla="*/ 42 w 65"/>
                <a:gd name="T11" fmla="*/ 34 h 74"/>
                <a:gd name="T12" fmla="*/ 52 w 65"/>
                <a:gd name="T13" fmla="*/ 27 h 74"/>
                <a:gd name="T14" fmla="*/ 52 w 65"/>
                <a:gd name="T15" fmla="*/ 18 h 74"/>
                <a:gd name="T16" fmla="*/ 41 w 65"/>
                <a:gd name="T17" fmla="*/ 10 h 74"/>
                <a:gd name="T18" fmla="*/ 14 w 65"/>
                <a:gd name="T19" fmla="*/ 10 h 74"/>
                <a:gd name="T20" fmla="*/ 14 w 65"/>
                <a:gd name="T21" fmla="*/ 74 h 74"/>
                <a:gd name="T22" fmla="*/ 0 w 65"/>
                <a:gd name="T23" fmla="*/ 74 h 74"/>
                <a:gd name="T24" fmla="*/ 0 w 65"/>
                <a:gd name="T25" fmla="*/ 0 h 74"/>
                <a:gd name="T26" fmla="*/ 45 w 65"/>
                <a:gd name="T27" fmla="*/ 0 h 74"/>
                <a:gd name="T28" fmla="*/ 65 w 65"/>
                <a:gd name="T29" fmla="*/ 15 h 74"/>
                <a:gd name="T30" fmla="*/ 65 w 65"/>
                <a:gd name="T31" fmla="*/ 28 h 74"/>
                <a:gd name="T32" fmla="*/ 60 w 65"/>
                <a:gd name="T33" fmla="*/ 39 h 74"/>
                <a:gd name="T34" fmla="*/ 46 w 65"/>
                <a:gd name="T35" fmla="*/ 43 h 74"/>
                <a:gd name="T36" fmla="*/ 31 w 65"/>
                <a:gd name="T37" fmla="*/ 43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5"/>
                    <a:pt x="16" y="45"/>
                    <a:pt x="16" y="45"/>
                  </a:cubicBezTo>
                  <a:cubicBezTo>
                    <a:pt x="15" y="44"/>
                    <a:pt x="15" y="43"/>
                    <a:pt x="15" y="40"/>
                  </a:cubicBezTo>
                  <a:cubicBezTo>
                    <a:pt x="15" y="36"/>
                    <a:pt x="17" y="34"/>
                    <a:pt x="23" y="34"/>
                  </a:cubicBezTo>
                  <a:cubicBezTo>
                    <a:pt x="42" y="34"/>
                    <a:pt x="42" y="34"/>
                    <a:pt x="42" y="34"/>
                  </a:cubicBezTo>
                  <a:cubicBezTo>
                    <a:pt x="49" y="34"/>
                    <a:pt x="52" y="32"/>
                    <a:pt x="52" y="27"/>
                  </a:cubicBezTo>
                  <a:cubicBezTo>
                    <a:pt x="52" y="18"/>
                    <a:pt x="52" y="18"/>
                    <a:pt x="52" y="18"/>
                  </a:cubicBezTo>
                  <a:cubicBezTo>
                    <a:pt x="52" y="13"/>
                    <a:pt x="48" y="10"/>
                    <a:pt x="41" y="10"/>
                  </a:cubicBezTo>
                  <a:cubicBezTo>
                    <a:pt x="14" y="10"/>
                    <a:pt x="14" y="10"/>
                    <a:pt x="14" y="10"/>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5"/>
                  </a:cubicBezTo>
                  <a:cubicBezTo>
                    <a:pt x="65" y="28"/>
                    <a:pt x="65" y="28"/>
                    <a:pt x="65" y="28"/>
                  </a:cubicBezTo>
                  <a:cubicBezTo>
                    <a:pt x="65" y="33"/>
                    <a:pt x="63" y="36"/>
                    <a:pt x="60" y="39"/>
                  </a:cubicBezTo>
                  <a:cubicBezTo>
                    <a:pt x="56" y="42"/>
                    <a:pt x="52" y="43"/>
                    <a:pt x="46" y="43"/>
                  </a:cubicBezTo>
                  <a:cubicBezTo>
                    <a:pt x="31" y="43"/>
                    <a:pt x="31" y="43"/>
                    <a:pt x="31" y="43"/>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49" name="Freeform 50"/>
            <p:cNvSpPr>
              <a:spLocks noEditPoints="1"/>
            </p:cNvSpPr>
            <p:nvPr userDrawn="1"/>
          </p:nvSpPr>
          <p:spPr bwMode="auto">
            <a:xfrm>
              <a:off x="2773" y="2728"/>
              <a:ext cx="121" cy="112"/>
            </a:xfrm>
            <a:custGeom>
              <a:avLst/>
              <a:gdLst>
                <a:gd name="T0" fmla="*/ 80 w 80"/>
                <a:gd name="T1" fmla="*/ 74 h 74"/>
                <a:gd name="T2" fmla="*/ 66 w 80"/>
                <a:gd name="T3" fmla="*/ 74 h 74"/>
                <a:gd name="T4" fmla="*/ 58 w 80"/>
                <a:gd name="T5" fmla="*/ 55 h 74"/>
                <a:gd name="T6" fmla="*/ 22 w 80"/>
                <a:gd name="T7" fmla="*/ 55 h 74"/>
                <a:gd name="T8" fmla="*/ 14 w 80"/>
                <a:gd name="T9" fmla="*/ 74 h 74"/>
                <a:gd name="T10" fmla="*/ 0 w 80"/>
                <a:gd name="T11" fmla="*/ 74 h 74"/>
                <a:gd name="T12" fmla="*/ 29 w 80"/>
                <a:gd name="T13" fmla="*/ 6 h 74"/>
                <a:gd name="T14" fmla="*/ 40 w 80"/>
                <a:gd name="T15" fmla="*/ 0 h 74"/>
                <a:gd name="T16" fmla="*/ 50 w 80"/>
                <a:gd name="T17" fmla="*/ 6 h 74"/>
                <a:gd name="T18" fmla="*/ 80 w 80"/>
                <a:gd name="T19" fmla="*/ 74 h 74"/>
                <a:gd name="T20" fmla="*/ 54 w 80"/>
                <a:gd name="T21" fmla="*/ 45 h 74"/>
                <a:gd name="T22" fmla="*/ 39 w 80"/>
                <a:gd name="T23" fmla="*/ 12 h 74"/>
                <a:gd name="T24" fmla="*/ 26 w 80"/>
                <a:gd name="T25" fmla="*/ 45 h 74"/>
                <a:gd name="T26" fmla="*/ 54 w 80"/>
                <a:gd name="T27" fmla="*/ 4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 h="74">
                  <a:moveTo>
                    <a:pt x="80" y="74"/>
                  </a:moveTo>
                  <a:cubicBezTo>
                    <a:pt x="66" y="74"/>
                    <a:pt x="66" y="74"/>
                    <a:pt x="66" y="74"/>
                  </a:cubicBezTo>
                  <a:cubicBezTo>
                    <a:pt x="58" y="55"/>
                    <a:pt x="58" y="55"/>
                    <a:pt x="58" y="55"/>
                  </a:cubicBezTo>
                  <a:cubicBezTo>
                    <a:pt x="22" y="55"/>
                    <a:pt x="22" y="55"/>
                    <a:pt x="22" y="55"/>
                  </a:cubicBezTo>
                  <a:cubicBezTo>
                    <a:pt x="14" y="74"/>
                    <a:pt x="14" y="74"/>
                    <a:pt x="14" y="74"/>
                  </a:cubicBezTo>
                  <a:cubicBezTo>
                    <a:pt x="0" y="74"/>
                    <a:pt x="0" y="74"/>
                    <a:pt x="0" y="74"/>
                  </a:cubicBezTo>
                  <a:cubicBezTo>
                    <a:pt x="29" y="6"/>
                    <a:pt x="29" y="6"/>
                    <a:pt x="29" y="6"/>
                  </a:cubicBezTo>
                  <a:cubicBezTo>
                    <a:pt x="31" y="2"/>
                    <a:pt x="35" y="0"/>
                    <a:pt x="40" y="0"/>
                  </a:cubicBezTo>
                  <a:cubicBezTo>
                    <a:pt x="45" y="0"/>
                    <a:pt x="48" y="2"/>
                    <a:pt x="50" y="6"/>
                  </a:cubicBezTo>
                  <a:lnTo>
                    <a:pt x="80" y="74"/>
                  </a:lnTo>
                  <a:close/>
                  <a:moveTo>
                    <a:pt x="54" y="45"/>
                  </a:moveTo>
                  <a:cubicBezTo>
                    <a:pt x="39" y="12"/>
                    <a:pt x="39" y="12"/>
                    <a:pt x="39" y="12"/>
                  </a:cubicBezTo>
                  <a:cubicBezTo>
                    <a:pt x="26" y="45"/>
                    <a:pt x="26" y="45"/>
                    <a:pt x="26" y="45"/>
                  </a:cubicBezTo>
                  <a:lnTo>
                    <a:pt x="54" y="45"/>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0" name="Freeform 51"/>
            <p:cNvSpPr>
              <a:spLocks noEditPoints="1"/>
            </p:cNvSpPr>
            <p:nvPr userDrawn="1"/>
          </p:nvSpPr>
          <p:spPr bwMode="auto">
            <a:xfrm>
              <a:off x="2939" y="2726"/>
              <a:ext cx="99" cy="114"/>
            </a:xfrm>
            <a:custGeom>
              <a:avLst/>
              <a:gdLst>
                <a:gd name="T0" fmla="*/ 66 w 66"/>
                <a:gd name="T1" fmla="*/ 31 h 75"/>
                <a:gd name="T2" fmla="*/ 60 w 66"/>
                <a:gd name="T3" fmla="*/ 42 h 75"/>
                <a:gd name="T4" fmla="*/ 46 w 66"/>
                <a:gd name="T5" fmla="*/ 47 h 75"/>
                <a:gd name="T6" fmla="*/ 14 w 66"/>
                <a:gd name="T7" fmla="*/ 47 h 75"/>
                <a:gd name="T8" fmla="*/ 14 w 66"/>
                <a:gd name="T9" fmla="*/ 75 h 75"/>
                <a:gd name="T10" fmla="*/ 0 w 66"/>
                <a:gd name="T11" fmla="*/ 75 h 75"/>
                <a:gd name="T12" fmla="*/ 0 w 66"/>
                <a:gd name="T13" fmla="*/ 0 h 75"/>
                <a:gd name="T14" fmla="*/ 45 w 66"/>
                <a:gd name="T15" fmla="*/ 0 h 75"/>
                <a:gd name="T16" fmla="*/ 60 w 66"/>
                <a:gd name="T17" fmla="*/ 4 h 75"/>
                <a:gd name="T18" fmla="*/ 66 w 66"/>
                <a:gd name="T19" fmla="*/ 15 h 75"/>
                <a:gd name="T20" fmla="*/ 66 w 66"/>
                <a:gd name="T21" fmla="*/ 31 h 75"/>
                <a:gd name="T22" fmla="*/ 52 w 66"/>
                <a:gd name="T23" fmla="*/ 27 h 75"/>
                <a:gd name="T24" fmla="*/ 52 w 66"/>
                <a:gd name="T25" fmla="*/ 18 h 75"/>
                <a:gd name="T26" fmla="*/ 42 w 66"/>
                <a:gd name="T27" fmla="*/ 11 h 75"/>
                <a:gd name="T28" fmla="*/ 14 w 66"/>
                <a:gd name="T29" fmla="*/ 11 h 75"/>
                <a:gd name="T30" fmla="*/ 14 w 66"/>
                <a:gd name="T31" fmla="*/ 36 h 75"/>
                <a:gd name="T32" fmla="*/ 41 w 66"/>
                <a:gd name="T33" fmla="*/ 36 h 75"/>
                <a:gd name="T34" fmla="*/ 52 w 66"/>
                <a:gd name="T35" fmla="*/ 2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75">
                  <a:moveTo>
                    <a:pt x="66" y="31"/>
                  </a:moveTo>
                  <a:cubicBezTo>
                    <a:pt x="66" y="36"/>
                    <a:pt x="64" y="40"/>
                    <a:pt x="60" y="42"/>
                  </a:cubicBezTo>
                  <a:cubicBezTo>
                    <a:pt x="57" y="45"/>
                    <a:pt x="52" y="47"/>
                    <a:pt x="46" y="47"/>
                  </a:cubicBezTo>
                  <a:cubicBezTo>
                    <a:pt x="14" y="47"/>
                    <a:pt x="14" y="47"/>
                    <a:pt x="14" y="47"/>
                  </a:cubicBezTo>
                  <a:cubicBezTo>
                    <a:pt x="14" y="75"/>
                    <a:pt x="14" y="75"/>
                    <a:pt x="14" y="75"/>
                  </a:cubicBezTo>
                  <a:cubicBezTo>
                    <a:pt x="0" y="75"/>
                    <a:pt x="0" y="75"/>
                    <a:pt x="0" y="75"/>
                  </a:cubicBezTo>
                  <a:cubicBezTo>
                    <a:pt x="0" y="0"/>
                    <a:pt x="0" y="0"/>
                    <a:pt x="0" y="0"/>
                  </a:cubicBezTo>
                  <a:cubicBezTo>
                    <a:pt x="45" y="0"/>
                    <a:pt x="45" y="0"/>
                    <a:pt x="45" y="0"/>
                  </a:cubicBezTo>
                  <a:cubicBezTo>
                    <a:pt x="51" y="0"/>
                    <a:pt x="56" y="1"/>
                    <a:pt x="60" y="4"/>
                  </a:cubicBezTo>
                  <a:cubicBezTo>
                    <a:pt x="63" y="7"/>
                    <a:pt x="65" y="10"/>
                    <a:pt x="66" y="15"/>
                  </a:cubicBezTo>
                  <a:cubicBezTo>
                    <a:pt x="66" y="20"/>
                    <a:pt x="66" y="25"/>
                    <a:pt x="66" y="31"/>
                  </a:cubicBezTo>
                  <a:close/>
                  <a:moveTo>
                    <a:pt x="52" y="27"/>
                  </a:moveTo>
                  <a:cubicBezTo>
                    <a:pt x="52" y="18"/>
                    <a:pt x="52" y="18"/>
                    <a:pt x="52" y="18"/>
                  </a:cubicBezTo>
                  <a:cubicBezTo>
                    <a:pt x="52" y="14"/>
                    <a:pt x="49" y="11"/>
                    <a:pt x="42" y="11"/>
                  </a:cubicBezTo>
                  <a:cubicBezTo>
                    <a:pt x="14" y="11"/>
                    <a:pt x="14" y="11"/>
                    <a:pt x="14" y="11"/>
                  </a:cubicBezTo>
                  <a:cubicBezTo>
                    <a:pt x="14" y="36"/>
                    <a:pt x="14" y="36"/>
                    <a:pt x="14" y="36"/>
                  </a:cubicBezTo>
                  <a:cubicBezTo>
                    <a:pt x="41" y="36"/>
                    <a:pt x="41" y="36"/>
                    <a:pt x="41" y="36"/>
                  </a:cubicBezTo>
                  <a:cubicBezTo>
                    <a:pt x="49" y="36"/>
                    <a:pt x="52" y="33"/>
                    <a:pt x="52" y="27"/>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1" name="Freeform 52"/>
            <p:cNvSpPr>
              <a:spLocks/>
            </p:cNvSpPr>
            <p:nvPr userDrawn="1"/>
          </p:nvSpPr>
          <p:spPr bwMode="auto">
            <a:xfrm>
              <a:off x="3094" y="2726"/>
              <a:ext cx="100" cy="114"/>
            </a:xfrm>
            <a:custGeom>
              <a:avLst/>
              <a:gdLst>
                <a:gd name="T0" fmla="*/ 100 w 100"/>
                <a:gd name="T1" fmla="*/ 114 h 114"/>
                <a:gd name="T2" fmla="*/ 80 w 100"/>
                <a:gd name="T3" fmla="*/ 114 h 114"/>
                <a:gd name="T4" fmla="*/ 80 w 100"/>
                <a:gd name="T5" fmla="*/ 65 h 114"/>
                <a:gd name="T6" fmla="*/ 20 w 100"/>
                <a:gd name="T7" fmla="*/ 65 h 114"/>
                <a:gd name="T8" fmla="*/ 20 w 100"/>
                <a:gd name="T9" fmla="*/ 114 h 114"/>
                <a:gd name="T10" fmla="*/ 0 w 100"/>
                <a:gd name="T11" fmla="*/ 114 h 114"/>
                <a:gd name="T12" fmla="*/ 0 w 100"/>
                <a:gd name="T13" fmla="*/ 0 h 114"/>
                <a:gd name="T14" fmla="*/ 20 w 100"/>
                <a:gd name="T15" fmla="*/ 0 h 114"/>
                <a:gd name="T16" fmla="*/ 20 w 100"/>
                <a:gd name="T17" fmla="*/ 49 h 114"/>
                <a:gd name="T18" fmla="*/ 80 w 100"/>
                <a:gd name="T19" fmla="*/ 49 h 114"/>
                <a:gd name="T20" fmla="*/ 80 w 100"/>
                <a:gd name="T21" fmla="*/ 0 h 114"/>
                <a:gd name="T22" fmla="*/ 100 w 100"/>
                <a:gd name="T23" fmla="*/ 0 h 114"/>
                <a:gd name="T24" fmla="*/ 100 w 100"/>
                <a:gd name="T25"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14">
                  <a:moveTo>
                    <a:pt x="100" y="114"/>
                  </a:moveTo>
                  <a:lnTo>
                    <a:pt x="80" y="114"/>
                  </a:lnTo>
                  <a:lnTo>
                    <a:pt x="80" y="65"/>
                  </a:lnTo>
                  <a:lnTo>
                    <a:pt x="20" y="65"/>
                  </a:lnTo>
                  <a:lnTo>
                    <a:pt x="20" y="114"/>
                  </a:lnTo>
                  <a:lnTo>
                    <a:pt x="0" y="114"/>
                  </a:lnTo>
                  <a:lnTo>
                    <a:pt x="0" y="0"/>
                  </a:lnTo>
                  <a:lnTo>
                    <a:pt x="20" y="0"/>
                  </a:lnTo>
                  <a:lnTo>
                    <a:pt x="20" y="49"/>
                  </a:lnTo>
                  <a:lnTo>
                    <a:pt x="80" y="49"/>
                  </a:lnTo>
                  <a:lnTo>
                    <a:pt x="80" y="0"/>
                  </a:lnTo>
                  <a:lnTo>
                    <a:pt x="100" y="0"/>
                  </a:lnTo>
                  <a:lnTo>
                    <a:pt x="100" y="11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2" name="Rectangle 53"/>
            <p:cNvSpPr>
              <a:spLocks noChangeArrowheads="1"/>
            </p:cNvSpPr>
            <p:nvPr userDrawn="1"/>
          </p:nvSpPr>
          <p:spPr bwMode="auto">
            <a:xfrm>
              <a:off x="3251" y="2726"/>
              <a:ext cx="20" cy="114"/>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3" name="Freeform 54"/>
            <p:cNvSpPr>
              <a:spLocks noEditPoints="1"/>
            </p:cNvSpPr>
            <p:nvPr userDrawn="1"/>
          </p:nvSpPr>
          <p:spPr bwMode="auto">
            <a:xfrm>
              <a:off x="3328" y="2726"/>
              <a:ext cx="98" cy="129"/>
            </a:xfrm>
            <a:custGeom>
              <a:avLst/>
              <a:gdLst>
                <a:gd name="T0" fmla="*/ 65 w 65"/>
                <a:gd name="T1" fmla="*/ 58 h 85"/>
                <a:gd name="T2" fmla="*/ 51 w 65"/>
                <a:gd name="T3" fmla="*/ 74 h 85"/>
                <a:gd name="T4" fmla="*/ 64 w 65"/>
                <a:gd name="T5" fmla="*/ 85 h 85"/>
                <a:gd name="T6" fmla="*/ 46 w 65"/>
                <a:gd name="T7" fmla="*/ 85 h 85"/>
                <a:gd name="T8" fmla="*/ 33 w 65"/>
                <a:gd name="T9" fmla="*/ 75 h 85"/>
                <a:gd name="T10" fmla="*/ 22 w 65"/>
                <a:gd name="T11" fmla="*/ 75 h 85"/>
                <a:gd name="T12" fmla="*/ 7 w 65"/>
                <a:gd name="T13" fmla="*/ 71 h 85"/>
                <a:gd name="T14" fmla="*/ 0 w 65"/>
                <a:gd name="T15" fmla="*/ 58 h 85"/>
                <a:gd name="T16" fmla="*/ 0 w 65"/>
                <a:gd name="T17" fmla="*/ 17 h 85"/>
                <a:gd name="T18" fmla="*/ 7 w 65"/>
                <a:gd name="T19" fmla="*/ 4 h 85"/>
                <a:gd name="T20" fmla="*/ 22 w 65"/>
                <a:gd name="T21" fmla="*/ 0 h 85"/>
                <a:gd name="T22" fmla="*/ 43 w 65"/>
                <a:gd name="T23" fmla="*/ 0 h 85"/>
                <a:gd name="T24" fmla="*/ 58 w 65"/>
                <a:gd name="T25" fmla="*/ 4 h 85"/>
                <a:gd name="T26" fmla="*/ 65 w 65"/>
                <a:gd name="T27" fmla="*/ 17 h 85"/>
                <a:gd name="T28" fmla="*/ 65 w 65"/>
                <a:gd name="T29" fmla="*/ 58 h 85"/>
                <a:gd name="T30" fmla="*/ 52 w 65"/>
                <a:gd name="T31" fmla="*/ 56 h 85"/>
                <a:gd name="T32" fmla="*/ 52 w 65"/>
                <a:gd name="T33" fmla="*/ 20 h 85"/>
                <a:gd name="T34" fmla="*/ 49 w 65"/>
                <a:gd name="T35" fmla="*/ 13 h 85"/>
                <a:gd name="T36" fmla="*/ 39 w 65"/>
                <a:gd name="T37" fmla="*/ 11 h 85"/>
                <a:gd name="T38" fmla="*/ 26 w 65"/>
                <a:gd name="T39" fmla="*/ 11 h 85"/>
                <a:gd name="T40" fmla="*/ 16 w 65"/>
                <a:gd name="T41" fmla="*/ 13 h 85"/>
                <a:gd name="T42" fmla="*/ 14 w 65"/>
                <a:gd name="T43" fmla="*/ 20 h 85"/>
                <a:gd name="T44" fmla="*/ 14 w 65"/>
                <a:gd name="T45" fmla="*/ 55 h 85"/>
                <a:gd name="T46" fmla="*/ 17 w 65"/>
                <a:gd name="T47" fmla="*/ 62 h 85"/>
                <a:gd name="T48" fmla="*/ 26 w 65"/>
                <a:gd name="T49" fmla="*/ 64 h 85"/>
                <a:gd name="T50" fmla="*/ 39 w 65"/>
                <a:gd name="T51" fmla="*/ 64 h 85"/>
                <a:gd name="T52" fmla="*/ 49 w 65"/>
                <a:gd name="T53" fmla="*/ 62 h 85"/>
                <a:gd name="T54" fmla="*/ 52 w 65"/>
                <a:gd name="T55" fmla="*/ 5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85">
                  <a:moveTo>
                    <a:pt x="65" y="58"/>
                  </a:moveTo>
                  <a:cubicBezTo>
                    <a:pt x="65" y="67"/>
                    <a:pt x="60" y="72"/>
                    <a:pt x="51" y="74"/>
                  </a:cubicBezTo>
                  <a:cubicBezTo>
                    <a:pt x="64" y="85"/>
                    <a:pt x="64" y="85"/>
                    <a:pt x="64" y="85"/>
                  </a:cubicBezTo>
                  <a:cubicBezTo>
                    <a:pt x="46" y="85"/>
                    <a:pt x="46" y="85"/>
                    <a:pt x="46" y="85"/>
                  </a:cubicBezTo>
                  <a:cubicBezTo>
                    <a:pt x="33" y="75"/>
                    <a:pt x="33" y="75"/>
                    <a:pt x="33" y="75"/>
                  </a:cubicBezTo>
                  <a:cubicBezTo>
                    <a:pt x="22" y="75"/>
                    <a:pt x="22" y="75"/>
                    <a:pt x="22" y="75"/>
                  </a:cubicBezTo>
                  <a:cubicBezTo>
                    <a:pt x="15" y="75"/>
                    <a:pt x="10" y="74"/>
                    <a:pt x="7" y="71"/>
                  </a:cubicBezTo>
                  <a:cubicBezTo>
                    <a:pt x="2" y="69"/>
                    <a:pt x="0" y="64"/>
                    <a:pt x="0" y="58"/>
                  </a:cubicBezTo>
                  <a:cubicBezTo>
                    <a:pt x="0" y="17"/>
                    <a:pt x="0" y="17"/>
                    <a:pt x="0" y="17"/>
                  </a:cubicBezTo>
                  <a:cubicBezTo>
                    <a:pt x="0" y="11"/>
                    <a:pt x="2" y="7"/>
                    <a:pt x="7" y="4"/>
                  </a:cubicBezTo>
                  <a:cubicBezTo>
                    <a:pt x="10" y="2"/>
                    <a:pt x="15" y="0"/>
                    <a:pt x="22" y="0"/>
                  </a:cubicBezTo>
                  <a:cubicBezTo>
                    <a:pt x="43" y="0"/>
                    <a:pt x="43" y="0"/>
                    <a:pt x="43" y="0"/>
                  </a:cubicBezTo>
                  <a:cubicBezTo>
                    <a:pt x="50" y="0"/>
                    <a:pt x="55" y="2"/>
                    <a:pt x="58" y="4"/>
                  </a:cubicBezTo>
                  <a:cubicBezTo>
                    <a:pt x="63" y="7"/>
                    <a:pt x="65" y="11"/>
                    <a:pt x="65" y="17"/>
                  </a:cubicBezTo>
                  <a:lnTo>
                    <a:pt x="65" y="58"/>
                  </a:lnTo>
                  <a:close/>
                  <a:moveTo>
                    <a:pt x="52" y="56"/>
                  </a:moveTo>
                  <a:cubicBezTo>
                    <a:pt x="52" y="20"/>
                    <a:pt x="52" y="20"/>
                    <a:pt x="52" y="20"/>
                  </a:cubicBezTo>
                  <a:cubicBezTo>
                    <a:pt x="52" y="17"/>
                    <a:pt x="51" y="14"/>
                    <a:pt x="49" y="13"/>
                  </a:cubicBezTo>
                  <a:cubicBezTo>
                    <a:pt x="47" y="12"/>
                    <a:pt x="44" y="11"/>
                    <a:pt x="39" y="11"/>
                  </a:cubicBezTo>
                  <a:cubicBezTo>
                    <a:pt x="26" y="11"/>
                    <a:pt x="26" y="11"/>
                    <a:pt x="26" y="11"/>
                  </a:cubicBezTo>
                  <a:cubicBezTo>
                    <a:pt x="21" y="11"/>
                    <a:pt x="18" y="12"/>
                    <a:pt x="16" y="13"/>
                  </a:cubicBezTo>
                  <a:cubicBezTo>
                    <a:pt x="14" y="14"/>
                    <a:pt x="14" y="17"/>
                    <a:pt x="14" y="20"/>
                  </a:cubicBezTo>
                  <a:cubicBezTo>
                    <a:pt x="14" y="55"/>
                    <a:pt x="14" y="55"/>
                    <a:pt x="14" y="55"/>
                  </a:cubicBezTo>
                  <a:cubicBezTo>
                    <a:pt x="14" y="59"/>
                    <a:pt x="15" y="61"/>
                    <a:pt x="17" y="62"/>
                  </a:cubicBezTo>
                  <a:cubicBezTo>
                    <a:pt x="18" y="63"/>
                    <a:pt x="21" y="64"/>
                    <a:pt x="26" y="64"/>
                  </a:cubicBezTo>
                  <a:cubicBezTo>
                    <a:pt x="39" y="64"/>
                    <a:pt x="39" y="64"/>
                    <a:pt x="39" y="64"/>
                  </a:cubicBezTo>
                  <a:cubicBezTo>
                    <a:pt x="44" y="64"/>
                    <a:pt x="47" y="63"/>
                    <a:pt x="49" y="62"/>
                  </a:cubicBezTo>
                  <a:cubicBezTo>
                    <a:pt x="51" y="61"/>
                    <a:pt x="52" y="59"/>
                    <a:pt x="52" y="56"/>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4" name="Freeform 55"/>
            <p:cNvSpPr>
              <a:spLocks/>
            </p:cNvSpPr>
            <p:nvPr userDrawn="1"/>
          </p:nvSpPr>
          <p:spPr bwMode="auto">
            <a:xfrm>
              <a:off x="3483" y="2726"/>
              <a:ext cx="98" cy="114"/>
            </a:xfrm>
            <a:custGeom>
              <a:avLst/>
              <a:gdLst>
                <a:gd name="T0" fmla="*/ 65 w 65"/>
                <a:gd name="T1" fmla="*/ 56 h 75"/>
                <a:gd name="T2" fmla="*/ 64 w 65"/>
                <a:gd name="T3" fmla="*/ 64 h 75"/>
                <a:gd name="T4" fmla="*/ 60 w 65"/>
                <a:gd name="T5" fmla="*/ 70 h 75"/>
                <a:gd name="T6" fmla="*/ 52 w 65"/>
                <a:gd name="T7" fmla="*/ 74 h 75"/>
                <a:gd name="T8" fmla="*/ 43 w 65"/>
                <a:gd name="T9" fmla="*/ 75 h 75"/>
                <a:gd name="T10" fmla="*/ 22 w 65"/>
                <a:gd name="T11" fmla="*/ 75 h 75"/>
                <a:gd name="T12" fmla="*/ 13 w 65"/>
                <a:gd name="T13" fmla="*/ 74 h 75"/>
                <a:gd name="T14" fmla="*/ 6 w 65"/>
                <a:gd name="T15" fmla="*/ 70 h 75"/>
                <a:gd name="T16" fmla="*/ 1 w 65"/>
                <a:gd name="T17" fmla="*/ 64 h 75"/>
                <a:gd name="T18" fmla="*/ 0 w 65"/>
                <a:gd name="T19" fmla="*/ 56 h 75"/>
                <a:gd name="T20" fmla="*/ 0 w 65"/>
                <a:gd name="T21" fmla="*/ 0 h 75"/>
                <a:gd name="T22" fmla="*/ 13 w 65"/>
                <a:gd name="T23" fmla="*/ 0 h 75"/>
                <a:gd name="T24" fmla="*/ 13 w 65"/>
                <a:gd name="T25" fmla="*/ 54 h 75"/>
                <a:gd name="T26" fmla="*/ 16 w 65"/>
                <a:gd name="T27" fmla="*/ 62 h 75"/>
                <a:gd name="T28" fmla="*/ 26 w 65"/>
                <a:gd name="T29" fmla="*/ 64 h 75"/>
                <a:gd name="T30" fmla="*/ 40 w 65"/>
                <a:gd name="T31" fmla="*/ 64 h 75"/>
                <a:gd name="T32" fmla="*/ 49 w 65"/>
                <a:gd name="T33" fmla="*/ 62 h 75"/>
                <a:gd name="T34" fmla="*/ 52 w 65"/>
                <a:gd name="T35" fmla="*/ 54 h 75"/>
                <a:gd name="T36" fmla="*/ 52 w 65"/>
                <a:gd name="T37" fmla="*/ 0 h 75"/>
                <a:gd name="T38" fmla="*/ 65 w 65"/>
                <a:gd name="T39" fmla="*/ 0 h 75"/>
                <a:gd name="T40" fmla="*/ 65 w 65"/>
                <a:gd name="T41" fmla="*/ 5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75">
                  <a:moveTo>
                    <a:pt x="65" y="56"/>
                  </a:moveTo>
                  <a:cubicBezTo>
                    <a:pt x="65" y="59"/>
                    <a:pt x="65" y="62"/>
                    <a:pt x="64" y="64"/>
                  </a:cubicBezTo>
                  <a:cubicBezTo>
                    <a:pt x="64" y="66"/>
                    <a:pt x="62" y="68"/>
                    <a:pt x="60" y="70"/>
                  </a:cubicBezTo>
                  <a:cubicBezTo>
                    <a:pt x="57" y="72"/>
                    <a:pt x="55" y="73"/>
                    <a:pt x="52" y="74"/>
                  </a:cubicBezTo>
                  <a:cubicBezTo>
                    <a:pt x="50" y="74"/>
                    <a:pt x="47" y="75"/>
                    <a:pt x="43" y="75"/>
                  </a:cubicBezTo>
                  <a:cubicBezTo>
                    <a:pt x="22" y="75"/>
                    <a:pt x="22" y="75"/>
                    <a:pt x="22" y="75"/>
                  </a:cubicBezTo>
                  <a:cubicBezTo>
                    <a:pt x="18" y="75"/>
                    <a:pt x="15" y="74"/>
                    <a:pt x="13" y="74"/>
                  </a:cubicBezTo>
                  <a:cubicBezTo>
                    <a:pt x="11" y="73"/>
                    <a:pt x="8" y="72"/>
                    <a:pt x="6" y="70"/>
                  </a:cubicBezTo>
                  <a:cubicBezTo>
                    <a:pt x="3" y="68"/>
                    <a:pt x="2" y="66"/>
                    <a:pt x="1" y="64"/>
                  </a:cubicBezTo>
                  <a:cubicBezTo>
                    <a:pt x="0" y="62"/>
                    <a:pt x="0" y="59"/>
                    <a:pt x="0" y="56"/>
                  </a:cubicBezTo>
                  <a:cubicBezTo>
                    <a:pt x="0" y="0"/>
                    <a:pt x="0" y="0"/>
                    <a:pt x="0" y="0"/>
                  </a:cubicBezTo>
                  <a:cubicBezTo>
                    <a:pt x="13" y="0"/>
                    <a:pt x="13" y="0"/>
                    <a:pt x="13" y="0"/>
                  </a:cubicBezTo>
                  <a:cubicBezTo>
                    <a:pt x="13" y="54"/>
                    <a:pt x="13" y="54"/>
                    <a:pt x="13" y="54"/>
                  </a:cubicBezTo>
                  <a:cubicBezTo>
                    <a:pt x="13" y="58"/>
                    <a:pt x="14" y="60"/>
                    <a:pt x="16" y="62"/>
                  </a:cubicBezTo>
                  <a:cubicBezTo>
                    <a:pt x="18" y="63"/>
                    <a:pt x="21" y="64"/>
                    <a:pt x="26" y="64"/>
                  </a:cubicBezTo>
                  <a:cubicBezTo>
                    <a:pt x="40" y="64"/>
                    <a:pt x="40" y="64"/>
                    <a:pt x="40" y="64"/>
                  </a:cubicBezTo>
                  <a:cubicBezTo>
                    <a:pt x="44" y="64"/>
                    <a:pt x="48" y="63"/>
                    <a:pt x="49" y="62"/>
                  </a:cubicBezTo>
                  <a:cubicBezTo>
                    <a:pt x="51" y="60"/>
                    <a:pt x="52" y="58"/>
                    <a:pt x="52" y="54"/>
                  </a:cubicBezTo>
                  <a:cubicBezTo>
                    <a:pt x="52" y="0"/>
                    <a:pt x="52" y="0"/>
                    <a:pt x="52" y="0"/>
                  </a:cubicBezTo>
                  <a:cubicBezTo>
                    <a:pt x="65" y="0"/>
                    <a:pt x="65" y="0"/>
                    <a:pt x="65" y="0"/>
                  </a:cubicBezTo>
                  <a:lnTo>
                    <a:pt x="65" y="5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5" name="Freeform 56"/>
            <p:cNvSpPr>
              <a:spLocks/>
            </p:cNvSpPr>
            <p:nvPr userDrawn="1"/>
          </p:nvSpPr>
          <p:spPr bwMode="auto">
            <a:xfrm>
              <a:off x="3638" y="2728"/>
              <a:ext cx="89" cy="112"/>
            </a:xfrm>
            <a:custGeom>
              <a:avLst/>
              <a:gdLst>
                <a:gd name="T0" fmla="*/ 57 w 59"/>
                <a:gd name="T1" fmla="*/ 42 h 74"/>
                <a:gd name="T2" fmla="*/ 14 w 59"/>
                <a:gd name="T3" fmla="*/ 42 h 74"/>
                <a:gd name="T4" fmla="*/ 14 w 59"/>
                <a:gd name="T5" fmla="*/ 54 h 74"/>
                <a:gd name="T6" fmla="*/ 25 w 59"/>
                <a:gd name="T7" fmla="*/ 63 h 74"/>
                <a:gd name="T8" fmla="*/ 59 w 59"/>
                <a:gd name="T9" fmla="*/ 63 h 74"/>
                <a:gd name="T10" fmla="*/ 59 w 59"/>
                <a:gd name="T11" fmla="*/ 74 h 74"/>
                <a:gd name="T12" fmla="*/ 22 w 59"/>
                <a:gd name="T13" fmla="*/ 74 h 74"/>
                <a:gd name="T14" fmla="*/ 6 w 59"/>
                <a:gd name="T15" fmla="*/ 70 h 74"/>
                <a:gd name="T16" fmla="*/ 0 w 59"/>
                <a:gd name="T17" fmla="*/ 58 h 74"/>
                <a:gd name="T18" fmla="*/ 0 w 59"/>
                <a:gd name="T19" fmla="*/ 16 h 74"/>
                <a:gd name="T20" fmla="*/ 6 w 59"/>
                <a:gd name="T21" fmla="*/ 4 h 74"/>
                <a:gd name="T22" fmla="*/ 20 w 59"/>
                <a:gd name="T23" fmla="*/ 0 h 74"/>
                <a:gd name="T24" fmla="*/ 59 w 59"/>
                <a:gd name="T25" fmla="*/ 0 h 74"/>
                <a:gd name="T26" fmla="*/ 59 w 59"/>
                <a:gd name="T27" fmla="*/ 10 h 74"/>
                <a:gd name="T28" fmla="*/ 25 w 59"/>
                <a:gd name="T29" fmla="*/ 10 h 74"/>
                <a:gd name="T30" fmla="*/ 14 w 59"/>
                <a:gd name="T31" fmla="*/ 19 h 74"/>
                <a:gd name="T32" fmla="*/ 14 w 59"/>
                <a:gd name="T33" fmla="*/ 31 h 74"/>
                <a:gd name="T34" fmla="*/ 57 w 59"/>
                <a:gd name="T35" fmla="*/ 31 h 74"/>
                <a:gd name="T36" fmla="*/ 57 w 59"/>
                <a:gd name="T37"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2"/>
                  </a:moveTo>
                  <a:cubicBezTo>
                    <a:pt x="14" y="42"/>
                    <a:pt x="14" y="42"/>
                    <a:pt x="14" y="42"/>
                  </a:cubicBezTo>
                  <a:cubicBezTo>
                    <a:pt x="14" y="54"/>
                    <a:pt x="14" y="54"/>
                    <a:pt x="14" y="54"/>
                  </a:cubicBezTo>
                  <a:cubicBezTo>
                    <a:pt x="14" y="60"/>
                    <a:pt x="17" y="63"/>
                    <a:pt x="25" y="63"/>
                  </a:cubicBezTo>
                  <a:cubicBezTo>
                    <a:pt x="59" y="63"/>
                    <a:pt x="59" y="63"/>
                    <a:pt x="59" y="63"/>
                  </a:cubicBezTo>
                  <a:cubicBezTo>
                    <a:pt x="59" y="74"/>
                    <a:pt x="59" y="74"/>
                    <a:pt x="59" y="74"/>
                  </a:cubicBezTo>
                  <a:cubicBezTo>
                    <a:pt x="22" y="74"/>
                    <a:pt x="22" y="74"/>
                    <a:pt x="22" y="74"/>
                  </a:cubicBezTo>
                  <a:cubicBezTo>
                    <a:pt x="15" y="74"/>
                    <a:pt x="10" y="72"/>
                    <a:pt x="6" y="70"/>
                  </a:cubicBezTo>
                  <a:cubicBezTo>
                    <a:pt x="2" y="67"/>
                    <a:pt x="0" y="63"/>
                    <a:pt x="0" y="58"/>
                  </a:cubicBezTo>
                  <a:cubicBezTo>
                    <a:pt x="0" y="16"/>
                    <a:pt x="0" y="16"/>
                    <a:pt x="0" y="16"/>
                  </a:cubicBezTo>
                  <a:cubicBezTo>
                    <a:pt x="0" y="11"/>
                    <a:pt x="2" y="7"/>
                    <a:pt x="6" y="4"/>
                  </a:cubicBezTo>
                  <a:cubicBezTo>
                    <a:pt x="9" y="1"/>
                    <a:pt x="14" y="0"/>
                    <a:pt x="20" y="0"/>
                  </a:cubicBezTo>
                  <a:cubicBezTo>
                    <a:pt x="59" y="0"/>
                    <a:pt x="59" y="0"/>
                    <a:pt x="59" y="0"/>
                  </a:cubicBezTo>
                  <a:cubicBezTo>
                    <a:pt x="59" y="10"/>
                    <a:pt x="59" y="10"/>
                    <a:pt x="59" y="10"/>
                  </a:cubicBezTo>
                  <a:cubicBezTo>
                    <a:pt x="25" y="10"/>
                    <a:pt x="25" y="10"/>
                    <a:pt x="25" y="10"/>
                  </a:cubicBezTo>
                  <a:cubicBezTo>
                    <a:pt x="17" y="10"/>
                    <a:pt x="14" y="13"/>
                    <a:pt x="14" y="19"/>
                  </a:cubicBezTo>
                  <a:cubicBezTo>
                    <a:pt x="14" y="31"/>
                    <a:pt x="14" y="31"/>
                    <a:pt x="14" y="31"/>
                  </a:cubicBezTo>
                  <a:cubicBezTo>
                    <a:pt x="57" y="31"/>
                    <a:pt x="57" y="31"/>
                    <a:pt x="57" y="31"/>
                  </a:cubicBezTo>
                  <a:lnTo>
                    <a:pt x="57" y="42"/>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6" name="Freeform 57"/>
            <p:cNvSpPr>
              <a:spLocks/>
            </p:cNvSpPr>
            <p:nvPr userDrawn="1"/>
          </p:nvSpPr>
          <p:spPr bwMode="auto">
            <a:xfrm>
              <a:off x="2023" y="2987"/>
              <a:ext cx="89" cy="112"/>
            </a:xfrm>
            <a:custGeom>
              <a:avLst/>
              <a:gdLst>
                <a:gd name="T0" fmla="*/ 56 w 59"/>
                <a:gd name="T1" fmla="*/ 43 h 74"/>
                <a:gd name="T2" fmla="*/ 13 w 59"/>
                <a:gd name="T3" fmla="*/ 43 h 74"/>
                <a:gd name="T4" fmla="*/ 13 w 59"/>
                <a:gd name="T5" fmla="*/ 55 h 74"/>
                <a:gd name="T6" fmla="*/ 24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4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4" y="63"/>
                  </a:cubicBezTo>
                  <a:cubicBezTo>
                    <a:pt x="59" y="63"/>
                    <a:pt x="59" y="63"/>
                    <a:pt x="59" y="63"/>
                  </a:cubicBezTo>
                  <a:cubicBezTo>
                    <a:pt x="59" y="74"/>
                    <a:pt x="59" y="74"/>
                    <a:pt x="59" y="74"/>
                  </a:cubicBezTo>
                  <a:cubicBezTo>
                    <a:pt x="21" y="74"/>
                    <a:pt x="21" y="74"/>
                    <a:pt x="21" y="74"/>
                  </a:cubicBezTo>
                  <a:cubicBezTo>
                    <a:pt x="14" y="74"/>
                    <a:pt x="9" y="73"/>
                    <a:pt x="6" y="70"/>
                  </a:cubicBezTo>
                  <a:cubicBezTo>
                    <a:pt x="2" y="68"/>
                    <a:pt x="0" y="64"/>
                    <a:pt x="0" y="58"/>
                  </a:cubicBezTo>
                  <a:cubicBezTo>
                    <a:pt x="0" y="17"/>
                    <a:pt x="0" y="17"/>
                    <a:pt x="0" y="17"/>
                  </a:cubicBezTo>
                  <a:cubicBezTo>
                    <a:pt x="0" y="12"/>
                    <a:pt x="1" y="8"/>
                    <a:pt x="5" y="5"/>
                  </a:cubicBezTo>
                  <a:cubicBezTo>
                    <a:pt x="9" y="2"/>
                    <a:pt x="13" y="0"/>
                    <a:pt x="20" y="0"/>
                  </a:cubicBezTo>
                  <a:cubicBezTo>
                    <a:pt x="59" y="0"/>
                    <a:pt x="59" y="0"/>
                    <a:pt x="59" y="0"/>
                  </a:cubicBezTo>
                  <a:cubicBezTo>
                    <a:pt x="59" y="11"/>
                    <a:pt x="59" y="11"/>
                    <a:pt x="59" y="11"/>
                  </a:cubicBezTo>
                  <a:cubicBezTo>
                    <a:pt x="24" y="11"/>
                    <a:pt x="24" y="11"/>
                    <a:pt x="24"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7" name="Freeform 58"/>
            <p:cNvSpPr>
              <a:spLocks/>
            </p:cNvSpPr>
            <p:nvPr userDrawn="1"/>
          </p:nvSpPr>
          <p:spPr bwMode="auto">
            <a:xfrm>
              <a:off x="2164"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8" name="Freeform 59"/>
            <p:cNvSpPr>
              <a:spLocks/>
            </p:cNvSpPr>
            <p:nvPr userDrawn="1"/>
          </p:nvSpPr>
          <p:spPr bwMode="auto">
            <a:xfrm>
              <a:off x="2394" y="2987"/>
              <a:ext cx="89" cy="112"/>
            </a:xfrm>
            <a:custGeom>
              <a:avLst/>
              <a:gdLst>
                <a:gd name="T0" fmla="*/ 59 w 59"/>
                <a:gd name="T1" fmla="*/ 43 h 74"/>
                <a:gd name="T2" fmla="*/ 13 w 59"/>
                <a:gd name="T3" fmla="*/ 43 h 74"/>
                <a:gd name="T4" fmla="*/ 13 w 59"/>
                <a:gd name="T5" fmla="*/ 74 h 74"/>
                <a:gd name="T6" fmla="*/ 0 w 59"/>
                <a:gd name="T7" fmla="*/ 74 h 74"/>
                <a:gd name="T8" fmla="*/ 0 w 59"/>
                <a:gd name="T9" fmla="*/ 15 h 74"/>
                <a:gd name="T10" fmla="*/ 6 w 59"/>
                <a:gd name="T11" fmla="*/ 4 h 74"/>
                <a:gd name="T12" fmla="*/ 20 w 59"/>
                <a:gd name="T13" fmla="*/ 0 h 74"/>
                <a:gd name="T14" fmla="*/ 59 w 59"/>
                <a:gd name="T15" fmla="*/ 0 h 74"/>
                <a:gd name="T16" fmla="*/ 59 w 59"/>
                <a:gd name="T17" fmla="*/ 11 h 74"/>
                <a:gd name="T18" fmla="*/ 24 w 59"/>
                <a:gd name="T19" fmla="*/ 11 h 74"/>
                <a:gd name="T20" fmla="*/ 13 w 59"/>
                <a:gd name="T21" fmla="*/ 19 h 74"/>
                <a:gd name="T22" fmla="*/ 13 w 59"/>
                <a:gd name="T23" fmla="*/ 32 h 74"/>
                <a:gd name="T24" fmla="*/ 59 w 59"/>
                <a:gd name="T25" fmla="*/ 32 h 74"/>
                <a:gd name="T26" fmla="*/ 59 w 59"/>
                <a:gd name="T2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 h="74">
                  <a:moveTo>
                    <a:pt x="59" y="43"/>
                  </a:moveTo>
                  <a:cubicBezTo>
                    <a:pt x="13" y="43"/>
                    <a:pt x="13" y="43"/>
                    <a:pt x="13" y="43"/>
                  </a:cubicBezTo>
                  <a:cubicBezTo>
                    <a:pt x="13" y="74"/>
                    <a:pt x="13" y="74"/>
                    <a:pt x="13" y="74"/>
                  </a:cubicBezTo>
                  <a:cubicBezTo>
                    <a:pt x="0" y="74"/>
                    <a:pt x="0" y="74"/>
                    <a:pt x="0" y="74"/>
                  </a:cubicBezTo>
                  <a:cubicBezTo>
                    <a:pt x="0" y="15"/>
                    <a:pt x="0" y="15"/>
                    <a:pt x="0" y="15"/>
                  </a:cubicBezTo>
                  <a:cubicBezTo>
                    <a:pt x="0" y="11"/>
                    <a:pt x="2" y="7"/>
                    <a:pt x="6" y="4"/>
                  </a:cubicBezTo>
                  <a:cubicBezTo>
                    <a:pt x="9" y="1"/>
                    <a:pt x="14" y="0"/>
                    <a:pt x="20" y="0"/>
                  </a:cubicBezTo>
                  <a:cubicBezTo>
                    <a:pt x="59" y="0"/>
                    <a:pt x="59" y="0"/>
                    <a:pt x="59" y="0"/>
                  </a:cubicBezTo>
                  <a:cubicBezTo>
                    <a:pt x="59" y="11"/>
                    <a:pt x="59" y="11"/>
                    <a:pt x="59" y="11"/>
                  </a:cubicBezTo>
                  <a:cubicBezTo>
                    <a:pt x="24" y="11"/>
                    <a:pt x="24" y="11"/>
                    <a:pt x="24" y="11"/>
                  </a:cubicBezTo>
                  <a:cubicBezTo>
                    <a:pt x="16" y="11"/>
                    <a:pt x="13" y="14"/>
                    <a:pt x="13" y="19"/>
                  </a:cubicBezTo>
                  <a:cubicBezTo>
                    <a:pt x="13" y="32"/>
                    <a:pt x="13" y="32"/>
                    <a:pt x="13" y="32"/>
                  </a:cubicBezTo>
                  <a:cubicBezTo>
                    <a:pt x="59" y="32"/>
                    <a:pt x="59" y="32"/>
                    <a:pt x="59" y="32"/>
                  </a:cubicBezTo>
                  <a:lnTo>
                    <a:pt x="59"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59" name="Freeform 60"/>
            <p:cNvSpPr>
              <a:spLocks noEditPoints="1"/>
            </p:cNvSpPr>
            <p:nvPr userDrawn="1"/>
          </p:nvSpPr>
          <p:spPr bwMode="auto">
            <a:xfrm>
              <a:off x="2542" y="2987"/>
              <a:ext cx="97" cy="112"/>
            </a:xfrm>
            <a:custGeom>
              <a:avLst/>
              <a:gdLst>
                <a:gd name="T0" fmla="*/ 64 w 64"/>
                <a:gd name="T1" fmla="*/ 57 h 74"/>
                <a:gd name="T2" fmla="*/ 42 w 64"/>
                <a:gd name="T3" fmla="*/ 74 h 74"/>
                <a:gd name="T4" fmla="*/ 22 w 64"/>
                <a:gd name="T5" fmla="*/ 74 h 74"/>
                <a:gd name="T6" fmla="*/ 7 w 64"/>
                <a:gd name="T7" fmla="*/ 70 h 74"/>
                <a:gd name="T8" fmla="*/ 0 w 64"/>
                <a:gd name="T9" fmla="*/ 57 h 74"/>
                <a:gd name="T10" fmla="*/ 0 w 64"/>
                <a:gd name="T11" fmla="*/ 17 h 74"/>
                <a:gd name="T12" fmla="*/ 7 w 64"/>
                <a:gd name="T13" fmla="*/ 4 h 74"/>
                <a:gd name="T14" fmla="*/ 22 w 64"/>
                <a:gd name="T15" fmla="*/ 0 h 74"/>
                <a:gd name="T16" fmla="*/ 42 w 64"/>
                <a:gd name="T17" fmla="*/ 0 h 74"/>
                <a:gd name="T18" fmla="*/ 64 w 64"/>
                <a:gd name="T19" fmla="*/ 17 h 74"/>
                <a:gd name="T20" fmla="*/ 64 w 64"/>
                <a:gd name="T21" fmla="*/ 57 h 74"/>
                <a:gd name="T22" fmla="*/ 51 w 64"/>
                <a:gd name="T23" fmla="*/ 55 h 74"/>
                <a:gd name="T24" fmla="*/ 51 w 64"/>
                <a:gd name="T25" fmla="*/ 20 h 74"/>
                <a:gd name="T26" fmla="*/ 48 w 64"/>
                <a:gd name="T27" fmla="*/ 13 h 74"/>
                <a:gd name="T28" fmla="*/ 39 w 64"/>
                <a:gd name="T29" fmla="*/ 11 h 74"/>
                <a:gd name="T30" fmla="*/ 25 w 64"/>
                <a:gd name="T31" fmla="*/ 11 h 74"/>
                <a:gd name="T32" fmla="*/ 16 w 64"/>
                <a:gd name="T33" fmla="*/ 13 h 74"/>
                <a:gd name="T34" fmla="*/ 14 w 64"/>
                <a:gd name="T35" fmla="*/ 20 h 74"/>
                <a:gd name="T36" fmla="*/ 14 w 64"/>
                <a:gd name="T37" fmla="*/ 54 h 74"/>
                <a:gd name="T38" fmla="*/ 17 w 64"/>
                <a:gd name="T39" fmla="*/ 61 h 74"/>
                <a:gd name="T40" fmla="*/ 25 w 64"/>
                <a:gd name="T41" fmla="*/ 63 h 74"/>
                <a:gd name="T42" fmla="*/ 39 w 64"/>
                <a:gd name="T43" fmla="*/ 63 h 74"/>
                <a:gd name="T44" fmla="*/ 48 w 64"/>
                <a:gd name="T45" fmla="*/ 61 h 74"/>
                <a:gd name="T46" fmla="*/ 51 w 64"/>
                <a:gd name="T4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74">
                  <a:moveTo>
                    <a:pt x="64" y="57"/>
                  </a:moveTo>
                  <a:cubicBezTo>
                    <a:pt x="64" y="69"/>
                    <a:pt x="57" y="74"/>
                    <a:pt x="42" y="74"/>
                  </a:cubicBezTo>
                  <a:cubicBezTo>
                    <a:pt x="22" y="74"/>
                    <a:pt x="22" y="74"/>
                    <a:pt x="22" y="74"/>
                  </a:cubicBezTo>
                  <a:cubicBezTo>
                    <a:pt x="15" y="74"/>
                    <a:pt x="10" y="73"/>
                    <a:pt x="7" y="70"/>
                  </a:cubicBezTo>
                  <a:cubicBezTo>
                    <a:pt x="2" y="67"/>
                    <a:pt x="0" y="63"/>
                    <a:pt x="0" y="57"/>
                  </a:cubicBezTo>
                  <a:cubicBezTo>
                    <a:pt x="0" y="17"/>
                    <a:pt x="0" y="17"/>
                    <a:pt x="0" y="17"/>
                  </a:cubicBezTo>
                  <a:cubicBezTo>
                    <a:pt x="0" y="11"/>
                    <a:pt x="2" y="7"/>
                    <a:pt x="7" y="4"/>
                  </a:cubicBezTo>
                  <a:cubicBezTo>
                    <a:pt x="10" y="1"/>
                    <a:pt x="15" y="0"/>
                    <a:pt x="22" y="0"/>
                  </a:cubicBezTo>
                  <a:cubicBezTo>
                    <a:pt x="42" y="0"/>
                    <a:pt x="42" y="0"/>
                    <a:pt x="42" y="0"/>
                  </a:cubicBezTo>
                  <a:cubicBezTo>
                    <a:pt x="57" y="0"/>
                    <a:pt x="64" y="6"/>
                    <a:pt x="64" y="17"/>
                  </a:cubicBezTo>
                  <a:lnTo>
                    <a:pt x="64" y="57"/>
                  </a:lnTo>
                  <a:close/>
                  <a:moveTo>
                    <a:pt x="51" y="55"/>
                  </a:moveTo>
                  <a:cubicBezTo>
                    <a:pt x="51" y="20"/>
                    <a:pt x="51" y="20"/>
                    <a:pt x="51" y="20"/>
                  </a:cubicBezTo>
                  <a:cubicBezTo>
                    <a:pt x="51" y="17"/>
                    <a:pt x="50" y="14"/>
                    <a:pt x="48" y="13"/>
                  </a:cubicBezTo>
                  <a:cubicBezTo>
                    <a:pt x="46" y="12"/>
                    <a:pt x="43" y="11"/>
                    <a:pt x="39" y="11"/>
                  </a:cubicBezTo>
                  <a:cubicBezTo>
                    <a:pt x="25" y="11"/>
                    <a:pt x="25" y="11"/>
                    <a:pt x="25" y="11"/>
                  </a:cubicBezTo>
                  <a:cubicBezTo>
                    <a:pt x="21" y="11"/>
                    <a:pt x="18" y="12"/>
                    <a:pt x="16" y="13"/>
                  </a:cubicBezTo>
                  <a:cubicBezTo>
                    <a:pt x="14" y="14"/>
                    <a:pt x="14" y="17"/>
                    <a:pt x="14" y="20"/>
                  </a:cubicBezTo>
                  <a:cubicBezTo>
                    <a:pt x="14" y="54"/>
                    <a:pt x="14" y="54"/>
                    <a:pt x="14" y="54"/>
                  </a:cubicBezTo>
                  <a:cubicBezTo>
                    <a:pt x="14" y="57"/>
                    <a:pt x="15" y="60"/>
                    <a:pt x="17" y="61"/>
                  </a:cubicBezTo>
                  <a:cubicBezTo>
                    <a:pt x="18" y="63"/>
                    <a:pt x="21" y="63"/>
                    <a:pt x="25" y="63"/>
                  </a:cubicBezTo>
                  <a:cubicBezTo>
                    <a:pt x="39" y="63"/>
                    <a:pt x="39" y="63"/>
                    <a:pt x="39" y="63"/>
                  </a:cubicBezTo>
                  <a:cubicBezTo>
                    <a:pt x="43" y="63"/>
                    <a:pt x="46" y="63"/>
                    <a:pt x="48" y="61"/>
                  </a:cubicBezTo>
                  <a:cubicBezTo>
                    <a:pt x="50" y="60"/>
                    <a:pt x="51" y="58"/>
                    <a:pt x="51" y="55"/>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0" name="Freeform 61"/>
            <p:cNvSpPr>
              <a:spLocks/>
            </p:cNvSpPr>
            <p:nvPr userDrawn="1"/>
          </p:nvSpPr>
          <p:spPr bwMode="auto">
            <a:xfrm>
              <a:off x="2696" y="2987"/>
              <a:ext cx="98" cy="112"/>
            </a:xfrm>
            <a:custGeom>
              <a:avLst/>
              <a:gdLst>
                <a:gd name="T0" fmla="*/ 65 w 65"/>
                <a:gd name="T1" fmla="*/ 74 h 74"/>
                <a:gd name="T2" fmla="*/ 48 w 65"/>
                <a:gd name="T3" fmla="*/ 74 h 74"/>
                <a:gd name="T4" fmla="*/ 16 w 65"/>
                <a:gd name="T5" fmla="*/ 46 h 74"/>
                <a:gd name="T6" fmla="*/ 14 w 65"/>
                <a:gd name="T7" fmla="*/ 41 h 74"/>
                <a:gd name="T8" fmla="*/ 22 w 65"/>
                <a:gd name="T9" fmla="*/ 35 h 74"/>
                <a:gd name="T10" fmla="*/ 42 w 65"/>
                <a:gd name="T11" fmla="*/ 35 h 74"/>
                <a:gd name="T12" fmla="*/ 51 w 65"/>
                <a:gd name="T13" fmla="*/ 27 h 74"/>
                <a:gd name="T14" fmla="*/ 51 w 65"/>
                <a:gd name="T15" fmla="*/ 19 h 74"/>
                <a:gd name="T16" fmla="*/ 40 w 65"/>
                <a:gd name="T17" fmla="*/ 11 h 74"/>
                <a:gd name="T18" fmla="*/ 13 w 65"/>
                <a:gd name="T19" fmla="*/ 11 h 74"/>
                <a:gd name="T20" fmla="*/ 13 w 65"/>
                <a:gd name="T21" fmla="*/ 74 h 74"/>
                <a:gd name="T22" fmla="*/ 0 w 65"/>
                <a:gd name="T23" fmla="*/ 74 h 74"/>
                <a:gd name="T24" fmla="*/ 0 w 65"/>
                <a:gd name="T25" fmla="*/ 0 h 74"/>
                <a:gd name="T26" fmla="*/ 44 w 65"/>
                <a:gd name="T27" fmla="*/ 0 h 74"/>
                <a:gd name="T28" fmla="*/ 65 w 65"/>
                <a:gd name="T29" fmla="*/ 16 h 74"/>
                <a:gd name="T30" fmla="*/ 65 w 65"/>
                <a:gd name="T31" fmla="*/ 29 h 74"/>
                <a:gd name="T32" fmla="*/ 59 w 65"/>
                <a:gd name="T33" fmla="*/ 40 h 74"/>
                <a:gd name="T34" fmla="*/ 45 w 65"/>
                <a:gd name="T35" fmla="*/ 44 h 74"/>
                <a:gd name="T36" fmla="*/ 30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8" y="74"/>
                    <a:pt x="48" y="74"/>
                    <a:pt x="48" y="74"/>
                  </a:cubicBezTo>
                  <a:cubicBezTo>
                    <a:pt x="16" y="46"/>
                    <a:pt x="16" y="46"/>
                    <a:pt x="16" y="46"/>
                  </a:cubicBezTo>
                  <a:cubicBezTo>
                    <a:pt x="15" y="45"/>
                    <a:pt x="14" y="43"/>
                    <a:pt x="14" y="41"/>
                  </a:cubicBezTo>
                  <a:cubicBezTo>
                    <a:pt x="14" y="37"/>
                    <a:pt x="17" y="35"/>
                    <a:pt x="22" y="35"/>
                  </a:cubicBezTo>
                  <a:cubicBezTo>
                    <a:pt x="42" y="35"/>
                    <a:pt x="42" y="35"/>
                    <a:pt x="42" y="35"/>
                  </a:cubicBezTo>
                  <a:cubicBezTo>
                    <a:pt x="48" y="35"/>
                    <a:pt x="51" y="32"/>
                    <a:pt x="51" y="27"/>
                  </a:cubicBezTo>
                  <a:cubicBezTo>
                    <a:pt x="51" y="19"/>
                    <a:pt x="51" y="19"/>
                    <a:pt x="51" y="19"/>
                  </a:cubicBezTo>
                  <a:cubicBezTo>
                    <a:pt x="51" y="14"/>
                    <a:pt x="48" y="11"/>
                    <a:pt x="40" y="11"/>
                  </a:cubicBezTo>
                  <a:cubicBezTo>
                    <a:pt x="13" y="11"/>
                    <a:pt x="13" y="11"/>
                    <a:pt x="13" y="11"/>
                  </a:cubicBezTo>
                  <a:cubicBezTo>
                    <a:pt x="13" y="74"/>
                    <a:pt x="13" y="74"/>
                    <a:pt x="13" y="74"/>
                  </a:cubicBezTo>
                  <a:cubicBezTo>
                    <a:pt x="0" y="74"/>
                    <a:pt x="0" y="74"/>
                    <a:pt x="0" y="74"/>
                  </a:cubicBezTo>
                  <a:cubicBezTo>
                    <a:pt x="0" y="0"/>
                    <a:pt x="0" y="0"/>
                    <a:pt x="0" y="0"/>
                  </a:cubicBezTo>
                  <a:cubicBezTo>
                    <a:pt x="44" y="0"/>
                    <a:pt x="44" y="0"/>
                    <a:pt x="44" y="0"/>
                  </a:cubicBezTo>
                  <a:cubicBezTo>
                    <a:pt x="58" y="0"/>
                    <a:pt x="65" y="5"/>
                    <a:pt x="65" y="16"/>
                  </a:cubicBezTo>
                  <a:cubicBezTo>
                    <a:pt x="65" y="29"/>
                    <a:pt x="65" y="29"/>
                    <a:pt x="65" y="29"/>
                  </a:cubicBezTo>
                  <a:cubicBezTo>
                    <a:pt x="65" y="33"/>
                    <a:pt x="63" y="37"/>
                    <a:pt x="59" y="40"/>
                  </a:cubicBezTo>
                  <a:cubicBezTo>
                    <a:pt x="56" y="43"/>
                    <a:pt x="51" y="44"/>
                    <a:pt x="45" y="44"/>
                  </a:cubicBezTo>
                  <a:cubicBezTo>
                    <a:pt x="30" y="44"/>
                    <a:pt x="30" y="44"/>
                    <a:pt x="30"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1" name="Freeform 62"/>
            <p:cNvSpPr>
              <a:spLocks/>
            </p:cNvSpPr>
            <p:nvPr userDrawn="1"/>
          </p:nvSpPr>
          <p:spPr bwMode="auto">
            <a:xfrm>
              <a:off x="2847" y="2987"/>
              <a:ext cx="89" cy="112"/>
            </a:xfrm>
            <a:custGeom>
              <a:avLst/>
              <a:gdLst>
                <a:gd name="T0" fmla="*/ 57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6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7 w 59"/>
                <a:gd name="T35" fmla="*/ 32 h 74"/>
                <a:gd name="T36" fmla="*/ 57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7"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6"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7" y="32"/>
                    <a:pt x="57" y="32"/>
                    <a:pt x="57" y="32"/>
                  </a:cubicBezTo>
                  <a:lnTo>
                    <a:pt x="57"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2" name="Freeform 63"/>
            <p:cNvSpPr>
              <a:spLocks/>
            </p:cNvSpPr>
            <p:nvPr userDrawn="1"/>
          </p:nvSpPr>
          <p:spPr bwMode="auto">
            <a:xfrm>
              <a:off x="2995" y="2987"/>
              <a:ext cx="89" cy="112"/>
            </a:xfrm>
            <a:custGeom>
              <a:avLst/>
              <a:gdLst>
                <a:gd name="T0" fmla="*/ 59 w 59"/>
                <a:gd name="T1" fmla="*/ 11 h 74"/>
                <a:gd name="T2" fmla="*/ 25 w 59"/>
                <a:gd name="T3" fmla="*/ 11 h 74"/>
                <a:gd name="T4" fmla="*/ 14 w 59"/>
                <a:gd name="T5" fmla="*/ 14 h 74"/>
                <a:gd name="T6" fmla="*/ 13 w 59"/>
                <a:gd name="T7" fmla="*/ 24 h 74"/>
                <a:gd name="T8" fmla="*/ 16 w 59"/>
                <a:gd name="T9" fmla="*/ 30 h 74"/>
                <a:gd name="T10" fmla="*/ 25 w 59"/>
                <a:gd name="T11" fmla="*/ 31 h 74"/>
                <a:gd name="T12" fmla="*/ 39 w 59"/>
                <a:gd name="T13" fmla="*/ 31 h 74"/>
                <a:gd name="T14" fmla="*/ 53 w 59"/>
                <a:gd name="T15" fmla="*/ 35 h 74"/>
                <a:gd name="T16" fmla="*/ 58 w 59"/>
                <a:gd name="T17" fmla="*/ 47 h 74"/>
                <a:gd name="T18" fmla="*/ 58 w 59"/>
                <a:gd name="T19" fmla="*/ 58 h 74"/>
                <a:gd name="T20" fmla="*/ 53 w 59"/>
                <a:gd name="T21" fmla="*/ 70 h 74"/>
                <a:gd name="T22" fmla="*/ 38 w 59"/>
                <a:gd name="T23" fmla="*/ 74 h 74"/>
                <a:gd name="T24" fmla="*/ 0 w 59"/>
                <a:gd name="T25" fmla="*/ 74 h 74"/>
                <a:gd name="T26" fmla="*/ 0 w 59"/>
                <a:gd name="T27" fmla="*/ 63 h 74"/>
                <a:gd name="T28" fmla="*/ 34 w 59"/>
                <a:gd name="T29" fmla="*/ 63 h 74"/>
                <a:gd name="T30" fmla="*/ 44 w 59"/>
                <a:gd name="T31" fmla="*/ 60 h 74"/>
                <a:gd name="T32" fmla="*/ 45 w 59"/>
                <a:gd name="T33" fmla="*/ 50 h 74"/>
                <a:gd name="T34" fmla="*/ 34 w 59"/>
                <a:gd name="T35" fmla="*/ 42 h 74"/>
                <a:gd name="T36" fmla="*/ 20 w 59"/>
                <a:gd name="T37" fmla="*/ 42 h 74"/>
                <a:gd name="T38" fmla="*/ 6 w 59"/>
                <a:gd name="T39" fmla="*/ 38 h 74"/>
                <a:gd name="T40" fmla="*/ 0 w 59"/>
                <a:gd name="T41" fmla="*/ 27 h 74"/>
                <a:gd name="T42" fmla="*/ 0 w 59"/>
                <a:gd name="T43" fmla="*/ 16 h 74"/>
                <a:gd name="T44" fmla="*/ 6 w 59"/>
                <a:gd name="T45" fmla="*/ 3 h 74"/>
                <a:gd name="T46" fmla="*/ 20 w 59"/>
                <a:gd name="T47" fmla="*/ 0 h 74"/>
                <a:gd name="T48" fmla="*/ 59 w 59"/>
                <a:gd name="T49" fmla="*/ 0 h 74"/>
                <a:gd name="T50" fmla="*/ 59 w 59"/>
                <a:gd name="T51" fmla="*/ 1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 h="74">
                  <a:moveTo>
                    <a:pt x="59" y="11"/>
                  </a:moveTo>
                  <a:cubicBezTo>
                    <a:pt x="25" y="11"/>
                    <a:pt x="25" y="11"/>
                    <a:pt x="25" y="11"/>
                  </a:cubicBezTo>
                  <a:cubicBezTo>
                    <a:pt x="19" y="11"/>
                    <a:pt x="16" y="12"/>
                    <a:pt x="14" y="14"/>
                  </a:cubicBezTo>
                  <a:cubicBezTo>
                    <a:pt x="13" y="16"/>
                    <a:pt x="13" y="19"/>
                    <a:pt x="13" y="24"/>
                  </a:cubicBezTo>
                  <a:cubicBezTo>
                    <a:pt x="13" y="26"/>
                    <a:pt x="14" y="28"/>
                    <a:pt x="16" y="30"/>
                  </a:cubicBezTo>
                  <a:cubicBezTo>
                    <a:pt x="18" y="31"/>
                    <a:pt x="21" y="31"/>
                    <a:pt x="25" y="31"/>
                  </a:cubicBezTo>
                  <a:cubicBezTo>
                    <a:pt x="39" y="31"/>
                    <a:pt x="39" y="31"/>
                    <a:pt x="39" y="31"/>
                  </a:cubicBezTo>
                  <a:cubicBezTo>
                    <a:pt x="45" y="31"/>
                    <a:pt x="49" y="33"/>
                    <a:pt x="53" y="35"/>
                  </a:cubicBezTo>
                  <a:cubicBezTo>
                    <a:pt x="57" y="38"/>
                    <a:pt x="58" y="42"/>
                    <a:pt x="58" y="47"/>
                  </a:cubicBezTo>
                  <a:cubicBezTo>
                    <a:pt x="58" y="58"/>
                    <a:pt x="58" y="58"/>
                    <a:pt x="58" y="58"/>
                  </a:cubicBezTo>
                  <a:cubicBezTo>
                    <a:pt x="58" y="63"/>
                    <a:pt x="57" y="67"/>
                    <a:pt x="53" y="70"/>
                  </a:cubicBezTo>
                  <a:cubicBezTo>
                    <a:pt x="49" y="73"/>
                    <a:pt x="44" y="74"/>
                    <a:pt x="38" y="74"/>
                  </a:cubicBezTo>
                  <a:cubicBezTo>
                    <a:pt x="0" y="74"/>
                    <a:pt x="0" y="74"/>
                    <a:pt x="0" y="74"/>
                  </a:cubicBezTo>
                  <a:cubicBezTo>
                    <a:pt x="0" y="63"/>
                    <a:pt x="0" y="63"/>
                    <a:pt x="0" y="63"/>
                  </a:cubicBezTo>
                  <a:cubicBezTo>
                    <a:pt x="34" y="63"/>
                    <a:pt x="34" y="63"/>
                    <a:pt x="34" y="63"/>
                  </a:cubicBezTo>
                  <a:cubicBezTo>
                    <a:pt x="39" y="63"/>
                    <a:pt x="43" y="62"/>
                    <a:pt x="44" y="60"/>
                  </a:cubicBezTo>
                  <a:cubicBezTo>
                    <a:pt x="45" y="58"/>
                    <a:pt x="45" y="55"/>
                    <a:pt x="45" y="50"/>
                  </a:cubicBezTo>
                  <a:cubicBezTo>
                    <a:pt x="45" y="45"/>
                    <a:pt x="42" y="42"/>
                    <a:pt x="34" y="42"/>
                  </a:cubicBezTo>
                  <a:cubicBezTo>
                    <a:pt x="20" y="42"/>
                    <a:pt x="20" y="42"/>
                    <a:pt x="20" y="42"/>
                  </a:cubicBezTo>
                  <a:cubicBezTo>
                    <a:pt x="14" y="42"/>
                    <a:pt x="10" y="41"/>
                    <a:pt x="6" y="38"/>
                  </a:cubicBezTo>
                  <a:cubicBezTo>
                    <a:pt x="2" y="36"/>
                    <a:pt x="0" y="32"/>
                    <a:pt x="0" y="27"/>
                  </a:cubicBezTo>
                  <a:cubicBezTo>
                    <a:pt x="0" y="16"/>
                    <a:pt x="0" y="16"/>
                    <a:pt x="0" y="16"/>
                  </a:cubicBezTo>
                  <a:cubicBezTo>
                    <a:pt x="0" y="11"/>
                    <a:pt x="2" y="6"/>
                    <a:pt x="6" y="3"/>
                  </a:cubicBezTo>
                  <a:cubicBezTo>
                    <a:pt x="9" y="1"/>
                    <a:pt x="14" y="0"/>
                    <a:pt x="20" y="0"/>
                  </a:cubicBezTo>
                  <a:cubicBezTo>
                    <a:pt x="59" y="0"/>
                    <a:pt x="59" y="0"/>
                    <a:pt x="59" y="0"/>
                  </a:cubicBezTo>
                  <a:lnTo>
                    <a:pt x="59" y="11"/>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3" name="Freeform 64"/>
            <p:cNvSpPr>
              <a:spLocks/>
            </p:cNvSpPr>
            <p:nvPr userDrawn="1"/>
          </p:nvSpPr>
          <p:spPr bwMode="auto">
            <a:xfrm>
              <a:off x="3132" y="2987"/>
              <a:ext cx="87" cy="112"/>
            </a:xfrm>
            <a:custGeom>
              <a:avLst/>
              <a:gdLst>
                <a:gd name="T0" fmla="*/ 87 w 87"/>
                <a:gd name="T1" fmla="*/ 17 h 112"/>
                <a:gd name="T2" fmla="*/ 54 w 87"/>
                <a:gd name="T3" fmla="*/ 17 h 112"/>
                <a:gd name="T4" fmla="*/ 54 w 87"/>
                <a:gd name="T5" fmla="*/ 112 h 112"/>
                <a:gd name="T6" fmla="*/ 33 w 87"/>
                <a:gd name="T7" fmla="*/ 112 h 112"/>
                <a:gd name="T8" fmla="*/ 33 w 87"/>
                <a:gd name="T9" fmla="*/ 17 h 112"/>
                <a:gd name="T10" fmla="*/ 0 w 87"/>
                <a:gd name="T11" fmla="*/ 17 h 112"/>
                <a:gd name="T12" fmla="*/ 0 w 87"/>
                <a:gd name="T13" fmla="*/ 0 h 112"/>
                <a:gd name="T14" fmla="*/ 87 w 87"/>
                <a:gd name="T15" fmla="*/ 0 h 112"/>
                <a:gd name="T16" fmla="*/ 87 w 87"/>
                <a:gd name="T17"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112">
                  <a:moveTo>
                    <a:pt x="87" y="17"/>
                  </a:moveTo>
                  <a:lnTo>
                    <a:pt x="54" y="17"/>
                  </a:lnTo>
                  <a:lnTo>
                    <a:pt x="54" y="112"/>
                  </a:lnTo>
                  <a:lnTo>
                    <a:pt x="33" y="112"/>
                  </a:lnTo>
                  <a:lnTo>
                    <a:pt x="33" y="17"/>
                  </a:lnTo>
                  <a:lnTo>
                    <a:pt x="0" y="17"/>
                  </a:lnTo>
                  <a:lnTo>
                    <a:pt x="0" y="0"/>
                  </a:lnTo>
                  <a:lnTo>
                    <a:pt x="87" y="0"/>
                  </a:lnTo>
                  <a:lnTo>
                    <a:pt x="87" y="17"/>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4" name="Rectangle 65"/>
            <p:cNvSpPr>
              <a:spLocks noChangeArrowheads="1"/>
            </p:cNvSpPr>
            <p:nvPr userDrawn="1"/>
          </p:nvSpPr>
          <p:spPr bwMode="auto">
            <a:xfrm>
              <a:off x="3266" y="2987"/>
              <a:ext cx="21" cy="112"/>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5" name="Freeform 66"/>
            <p:cNvSpPr>
              <a:spLocks noEditPoints="1"/>
            </p:cNvSpPr>
            <p:nvPr userDrawn="1"/>
          </p:nvSpPr>
          <p:spPr bwMode="auto">
            <a:xfrm>
              <a:off x="3343" y="2959"/>
              <a:ext cx="89" cy="140"/>
            </a:xfrm>
            <a:custGeom>
              <a:avLst/>
              <a:gdLst>
                <a:gd name="T0" fmla="*/ 59 w 59"/>
                <a:gd name="T1" fmla="*/ 93 h 93"/>
                <a:gd name="T2" fmla="*/ 21 w 59"/>
                <a:gd name="T3" fmla="*/ 93 h 93"/>
                <a:gd name="T4" fmla="*/ 6 w 59"/>
                <a:gd name="T5" fmla="*/ 89 h 93"/>
                <a:gd name="T6" fmla="*/ 0 w 59"/>
                <a:gd name="T7" fmla="*/ 77 h 93"/>
                <a:gd name="T8" fmla="*/ 0 w 59"/>
                <a:gd name="T9" fmla="*/ 36 h 93"/>
                <a:gd name="T10" fmla="*/ 5 w 59"/>
                <a:gd name="T11" fmla="*/ 23 h 93"/>
                <a:gd name="T12" fmla="*/ 20 w 59"/>
                <a:gd name="T13" fmla="*/ 19 h 93"/>
                <a:gd name="T14" fmla="*/ 59 w 59"/>
                <a:gd name="T15" fmla="*/ 19 h 93"/>
                <a:gd name="T16" fmla="*/ 59 w 59"/>
                <a:gd name="T17" fmla="*/ 30 h 93"/>
                <a:gd name="T18" fmla="*/ 25 w 59"/>
                <a:gd name="T19" fmla="*/ 30 h 93"/>
                <a:gd name="T20" fmla="*/ 13 w 59"/>
                <a:gd name="T21" fmla="*/ 38 h 93"/>
                <a:gd name="T22" fmla="*/ 13 w 59"/>
                <a:gd name="T23" fmla="*/ 51 h 93"/>
                <a:gd name="T24" fmla="*/ 59 w 59"/>
                <a:gd name="T25" fmla="*/ 51 h 93"/>
                <a:gd name="T26" fmla="*/ 59 w 59"/>
                <a:gd name="T27" fmla="*/ 62 h 93"/>
                <a:gd name="T28" fmla="*/ 13 w 59"/>
                <a:gd name="T29" fmla="*/ 62 h 93"/>
                <a:gd name="T30" fmla="*/ 13 w 59"/>
                <a:gd name="T31" fmla="*/ 74 h 93"/>
                <a:gd name="T32" fmla="*/ 25 w 59"/>
                <a:gd name="T33" fmla="*/ 82 h 93"/>
                <a:gd name="T34" fmla="*/ 59 w 59"/>
                <a:gd name="T35" fmla="*/ 82 h 93"/>
                <a:gd name="T36" fmla="*/ 59 w 59"/>
                <a:gd name="T37" fmla="*/ 93 h 93"/>
                <a:gd name="T38" fmla="*/ 44 w 59"/>
                <a:gd name="T39" fmla="*/ 13 h 93"/>
                <a:gd name="T40" fmla="*/ 34 w 59"/>
                <a:gd name="T41" fmla="*/ 13 h 93"/>
                <a:gd name="T42" fmla="*/ 24 w 59"/>
                <a:gd name="T43" fmla="*/ 0 h 93"/>
                <a:gd name="T44" fmla="*/ 35 w 59"/>
                <a:gd name="T45" fmla="*/ 0 h 93"/>
                <a:gd name="T46" fmla="*/ 44 w 59"/>
                <a:gd name="T47" fmla="*/ 1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93">
                  <a:moveTo>
                    <a:pt x="59" y="93"/>
                  </a:moveTo>
                  <a:cubicBezTo>
                    <a:pt x="21" y="93"/>
                    <a:pt x="21" y="93"/>
                    <a:pt x="21" y="93"/>
                  </a:cubicBezTo>
                  <a:cubicBezTo>
                    <a:pt x="15" y="93"/>
                    <a:pt x="10" y="92"/>
                    <a:pt x="6" y="89"/>
                  </a:cubicBezTo>
                  <a:cubicBezTo>
                    <a:pt x="2" y="87"/>
                    <a:pt x="0" y="83"/>
                    <a:pt x="0" y="77"/>
                  </a:cubicBezTo>
                  <a:cubicBezTo>
                    <a:pt x="0" y="36"/>
                    <a:pt x="0" y="36"/>
                    <a:pt x="0" y="36"/>
                  </a:cubicBezTo>
                  <a:cubicBezTo>
                    <a:pt x="0" y="30"/>
                    <a:pt x="2" y="26"/>
                    <a:pt x="5" y="23"/>
                  </a:cubicBezTo>
                  <a:cubicBezTo>
                    <a:pt x="9" y="21"/>
                    <a:pt x="14" y="19"/>
                    <a:pt x="20" y="19"/>
                  </a:cubicBezTo>
                  <a:cubicBezTo>
                    <a:pt x="59" y="19"/>
                    <a:pt x="59" y="19"/>
                    <a:pt x="59" y="19"/>
                  </a:cubicBezTo>
                  <a:cubicBezTo>
                    <a:pt x="59" y="30"/>
                    <a:pt x="59" y="30"/>
                    <a:pt x="59" y="30"/>
                  </a:cubicBezTo>
                  <a:cubicBezTo>
                    <a:pt x="25" y="30"/>
                    <a:pt x="25" y="30"/>
                    <a:pt x="25" y="30"/>
                  </a:cubicBezTo>
                  <a:cubicBezTo>
                    <a:pt x="17" y="30"/>
                    <a:pt x="13" y="33"/>
                    <a:pt x="13" y="38"/>
                  </a:cubicBezTo>
                  <a:cubicBezTo>
                    <a:pt x="13" y="51"/>
                    <a:pt x="13" y="51"/>
                    <a:pt x="13" y="51"/>
                  </a:cubicBezTo>
                  <a:cubicBezTo>
                    <a:pt x="59" y="51"/>
                    <a:pt x="59" y="51"/>
                    <a:pt x="59" y="51"/>
                  </a:cubicBezTo>
                  <a:cubicBezTo>
                    <a:pt x="59" y="62"/>
                    <a:pt x="59" y="62"/>
                    <a:pt x="59" y="62"/>
                  </a:cubicBezTo>
                  <a:cubicBezTo>
                    <a:pt x="13" y="62"/>
                    <a:pt x="13" y="62"/>
                    <a:pt x="13" y="62"/>
                  </a:cubicBezTo>
                  <a:cubicBezTo>
                    <a:pt x="13" y="74"/>
                    <a:pt x="13" y="74"/>
                    <a:pt x="13" y="74"/>
                  </a:cubicBezTo>
                  <a:cubicBezTo>
                    <a:pt x="13" y="80"/>
                    <a:pt x="17" y="82"/>
                    <a:pt x="25" y="82"/>
                  </a:cubicBezTo>
                  <a:cubicBezTo>
                    <a:pt x="59" y="82"/>
                    <a:pt x="59" y="82"/>
                    <a:pt x="59" y="82"/>
                  </a:cubicBezTo>
                  <a:lnTo>
                    <a:pt x="59" y="93"/>
                  </a:lnTo>
                  <a:close/>
                  <a:moveTo>
                    <a:pt x="44" y="13"/>
                  </a:moveTo>
                  <a:cubicBezTo>
                    <a:pt x="34" y="13"/>
                    <a:pt x="34" y="13"/>
                    <a:pt x="34" y="13"/>
                  </a:cubicBezTo>
                  <a:cubicBezTo>
                    <a:pt x="24" y="0"/>
                    <a:pt x="24" y="0"/>
                    <a:pt x="24" y="0"/>
                  </a:cubicBezTo>
                  <a:cubicBezTo>
                    <a:pt x="35" y="0"/>
                    <a:pt x="35" y="0"/>
                    <a:pt x="35" y="0"/>
                  </a:cubicBezTo>
                  <a:lnTo>
                    <a:pt x="44" y="1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6" name="Freeform 67"/>
            <p:cNvSpPr>
              <a:spLocks/>
            </p:cNvSpPr>
            <p:nvPr userDrawn="1"/>
          </p:nvSpPr>
          <p:spPr bwMode="auto">
            <a:xfrm>
              <a:off x="3486" y="2987"/>
              <a:ext cx="98" cy="112"/>
            </a:xfrm>
            <a:custGeom>
              <a:avLst/>
              <a:gdLst>
                <a:gd name="T0" fmla="*/ 65 w 65"/>
                <a:gd name="T1" fmla="*/ 74 h 74"/>
                <a:gd name="T2" fmla="*/ 49 w 65"/>
                <a:gd name="T3" fmla="*/ 74 h 74"/>
                <a:gd name="T4" fmla="*/ 16 w 65"/>
                <a:gd name="T5" fmla="*/ 46 h 74"/>
                <a:gd name="T6" fmla="*/ 15 w 65"/>
                <a:gd name="T7" fmla="*/ 41 h 74"/>
                <a:gd name="T8" fmla="*/ 23 w 65"/>
                <a:gd name="T9" fmla="*/ 35 h 74"/>
                <a:gd name="T10" fmla="*/ 42 w 65"/>
                <a:gd name="T11" fmla="*/ 35 h 74"/>
                <a:gd name="T12" fmla="*/ 52 w 65"/>
                <a:gd name="T13" fmla="*/ 27 h 74"/>
                <a:gd name="T14" fmla="*/ 52 w 65"/>
                <a:gd name="T15" fmla="*/ 19 h 74"/>
                <a:gd name="T16" fmla="*/ 41 w 65"/>
                <a:gd name="T17" fmla="*/ 11 h 74"/>
                <a:gd name="T18" fmla="*/ 14 w 65"/>
                <a:gd name="T19" fmla="*/ 11 h 74"/>
                <a:gd name="T20" fmla="*/ 14 w 65"/>
                <a:gd name="T21" fmla="*/ 74 h 74"/>
                <a:gd name="T22" fmla="*/ 0 w 65"/>
                <a:gd name="T23" fmla="*/ 74 h 74"/>
                <a:gd name="T24" fmla="*/ 0 w 65"/>
                <a:gd name="T25" fmla="*/ 0 h 74"/>
                <a:gd name="T26" fmla="*/ 45 w 65"/>
                <a:gd name="T27" fmla="*/ 0 h 74"/>
                <a:gd name="T28" fmla="*/ 65 w 65"/>
                <a:gd name="T29" fmla="*/ 16 h 74"/>
                <a:gd name="T30" fmla="*/ 65 w 65"/>
                <a:gd name="T31" fmla="*/ 29 h 74"/>
                <a:gd name="T32" fmla="*/ 60 w 65"/>
                <a:gd name="T33" fmla="*/ 40 h 74"/>
                <a:gd name="T34" fmla="*/ 46 w 65"/>
                <a:gd name="T35" fmla="*/ 44 h 74"/>
                <a:gd name="T36" fmla="*/ 31 w 65"/>
                <a:gd name="T37" fmla="*/ 44 h 74"/>
                <a:gd name="T38" fmla="*/ 65 w 65"/>
                <a:gd name="T3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74">
                  <a:moveTo>
                    <a:pt x="65" y="74"/>
                  </a:moveTo>
                  <a:cubicBezTo>
                    <a:pt x="49" y="74"/>
                    <a:pt x="49" y="74"/>
                    <a:pt x="49" y="74"/>
                  </a:cubicBezTo>
                  <a:cubicBezTo>
                    <a:pt x="16" y="46"/>
                    <a:pt x="16" y="46"/>
                    <a:pt x="16" y="46"/>
                  </a:cubicBezTo>
                  <a:cubicBezTo>
                    <a:pt x="15" y="45"/>
                    <a:pt x="15" y="43"/>
                    <a:pt x="15" y="41"/>
                  </a:cubicBezTo>
                  <a:cubicBezTo>
                    <a:pt x="15" y="37"/>
                    <a:pt x="18" y="35"/>
                    <a:pt x="23" y="35"/>
                  </a:cubicBezTo>
                  <a:cubicBezTo>
                    <a:pt x="42" y="35"/>
                    <a:pt x="42" y="35"/>
                    <a:pt x="42" y="35"/>
                  </a:cubicBezTo>
                  <a:cubicBezTo>
                    <a:pt x="49" y="35"/>
                    <a:pt x="52" y="32"/>
                    <a:pt x="52" y="27"/>
                  </a:cubicBezTo>
                  <a:cubicBezTo>
                    <a:pt x="52" y="19"/>
                    <a:pt x="52" y="19"/>
                    <a:pt x="52" y="19"/>
                  </a:cubicBezTo>
                  <a:cubicBezTo>
                    <a:pt x="52" y="14"/>
                    <a:pt x="48" y="11"/>
                    <a:pt x="41" y="11"/>
                  </a:cubicBezTo>
                  <a:cubicBezTo>
                    <a:pt x="14" y="11"/>
                    <a:pt x="14" y="11"/>
                    <a:pt x="14" y="11"/>
                  </a:cubicBezTo>
                  <a:cubicBezTo>
                    <a:pt x="14" y="74"/>
                    <a:pt x="14" y="74"/>
                    <a:pt x="14" y="74"/>
                  </a:cubicBezTo>
                  <a:cubicBezTo>
                    <a:pt x="0" y="74"/>
                    <a:pt x="0" y="74"/>
                    <a:pt x="0" y="74"/>
                  </a:cubicBezTo>
                  <a:cubicBezTo>
                    <a:pt x="0" y="0"/>
                    <a:pt x="0" y="0"/>
                    <a:pt x="0" y="0"/>
                  </a:cubicBezTo>
                  <a:cubicBezTo>
                    <a:pt x="45" y="0"/>
                    <a:pt x="45" y="0"/>
                    <a:pt x="45" y="0"/>
                  </a:cubicBezTo>
                  <a:cubicBezTo>
                    <a:pt x="58" y="0"/>
                    <a:pt x="65" y="5"/>
                    <a:pt x="65" y="16"/>
                  </a:cubicBezTo>
                  <a:cubicBezTo>
                    <a:pt x="65" y="29"/>
                    <a:pt x="65" y="29"/>
                    <a:pt x="65" y="29"/>
                  </a:cubicBezTo>
                  <a:cubicBezTo>
                    <a:pt x="65" y="33"/>
                    <a:pt x="64" y="37"/>
                    <a:pt x="60" y="40"/>
                  </a:cubicBezTo>
                  <a:cubicBezTo>
                    <a:pt x="57" y="43"/>
                    <a:pt x="52" y="44"/>
                    <a:pt x="46" y="44"/>
                  </a:cubicBezTo>
                  <a:cubicBezTo>
                    <a:pt x="31" y="44"/>
                    <a:pt x="31" y="44"/>
                    <a:pt x="31" y="44"/>
                  </a:cubicBezTo>
                  <a:lnTo>
                    <a:pt x="65" y="74"/>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7" name="Freeform 68"/>
            <p:cNvSpPr>
              <a:spLocks/>
            </p:cNvSpPr>
            <p:nvPr userDrawn="1"/>
          </p:nvSpPr>
          <p:spPr bwMode="auto">
            <a:xfrm>
              <a:off x="3638" y="2987"/>
              <a:ext cx="89" cy="112"/>
            </a:xfrm>
            <a:custGeom>
              <a:avLst/>
              <a:gdLst>
                <a:gd name="T0" fmla="*/ 56 w 59"/>
                <a:gd name="T1" fmla="*/ 43 h 74"/>
                <a:gd name="T2" fmla="*/ 13 w 59"/>
                <a:gd name="T3" fmla="*/ 43 h 74"/>
                <a:gd name="T4" fmla="*/ 13 w 59"/>
                <a:gd name="T5" fmla="*/ 55 h 74"/>
                <a:gd name="T6" fmla="*/ 25 w 59"/>
                <a:gd name="T7" fmla="*/ 63 h 74"/>
                <a:gd name="T8" fmla="*/ 59 w 59"/>
                <a:gd name="T9" fmla="*/ 63 h 74"/>
                <a:gd name="T10" fmla="*/ 59 w 59"/>
                <a:gd name="T11" fmla="*/ 74 h 74"/>
                <a:gd name="T12" fmla="*/ 21 w 59"/>
                <a:gd name="T13" fmla="*/ 74 h 74"/>
                <a:gd name="T14" fmla="*/ 6 w 59"/>
                <a:gd name="T15" fmla="*/ 70 h 74"/>
                <a:gd name="T16" fmla="*/ 0 w 59"/>
                <a:gd name="T17" fmla="*/ 58 h 74"/>
                <a:gd name="T18" fmla="*/ 0 w 59"/>
                <a:gd name="T19" fmla="*/ 17 h 74"/>
                <a:gd name="T20" fmla="*/ 5 w 59"/>
                <a:gd name="T21" fmla="*/ 5 h 74"/>
                <a:gd name="T22" fmla="*/ 20 w 59"/>
                <a:gd name="T23" fmla="*/ 0 h 74"/>
                <a:gd name="T24" fmla="*/ 59 w 59"/>
                <a:gd name="T25" fmla="*/ 0 h 74"/>
                <a:gd name="T26" fmla="*/ 59 w 59"/>
                <a:gd name="T27" fmla="*/ 11 h 74"/>
                <a:gd name="T28" fmla="*/ 25 w 59"/>
                <a:gd name="T29" fmla="*/ 11 h 74"/>
                <a:gd name="T30" fmla="*/ 13 w 59"/>
                <a:gd name="T31" fmla="*/ 19 h 74"/>
                <a:gd name="T32" fmla="*/ 13 w 59"/>
                <a:gd name="T33" fmla="*/ 32 h 74"/>
                <a:gd name="T34" fmla="*/ 56 w 59"/>
                <a:gd name="T35" fmla="*/ 32 h 74"/>
                <a:gd name="T36" fmla="*/ 56 w 59"/>
                <a:gd name="T37" fmla="*/ 4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74">
                  <a:moveTo>
                    <a:pt x="56" y="43"/>
                  </a:moveTo>
                  <a:cubicBezTo>
                    <a:pt x="13" y="43"/>
                    <a:pt x="13" y="43"/>
                    <a:pt x="13" y="43"/>
                  </a:cubicBezTo>
                  <a:cubicBezTo>
                    <a:pt x="13" y="55"/>
                    <a:pt x="13" y="55"/>
                    <a:pt x="13" y="55"/>
                  </a:cubicBezTo>
                  <a:cubicBezTo>
                    <a:pt x="13" y="61"/>
                    <a:pt x="17" y="63"/>
                    <a:pt x="25" y="63"/>
                  </a:cubicBezTo>
                  <a:cubicBezTo>
                    <a:pt x="59" y="63"/>
                    <a:pt x="59" y="63"/>
                    <a:pt x="59" y="63"/>
                  </a:cubicBezTo>
                  <a:cubicBezTo>
                    <a:pt x="59" y="74"/>
                    <a:pt x="59" y="74"/>
                    <a:pt x="59" y="74"/>
                  </a:cubicBezTo>
                  <a:cubicBezTo>
                    <a:pt x="21" y="74"/>
                    <a:pt x="21" y="74"/>
                    <a:pt x="21" y="74"/>
                  </a:cubicBezTo>
                  <a:cubicBezTo>
                    <a:pt x="15" y="74"/>
                    <a:pt x="10" y="73"/>
                    <a:pt x="6" y="70"/>
                  </a:cubicBezTo>
                  <a:cubicBezTo>
                    <a:pt x="2" y="68"/>
                    <a:pt x="0" y="64"/>
                    <a:pt x="0" y="58"/>
                  </a:cubicBezTo>
                  <a:cubicBezTo>
                    <a:pt x="0" y="17"/>
                    <a:pt x="0" y="17"/>
                    <a:pt x="0" y="17"/>
                  </a:cubicBezTo>
                  <a:cubicBezTo>
                    <a:pt x="0" y="12"/>
                    <a:pt x="2" y="8"/>
                    <a:pt x="5" y="5"/>
                  </a:cubicBezTo>
                  <a:cubicBezTo>
                    <a:pt x="9" y="2"/>
                    <a:pt x="14" y="0"/>
                    <a:pt x="20" y="0"/>
                  </a:cubicBezTo>
                  <a:cubicBezTo>
                    <a:pt x="59" y="0"/>
                    <a:pt x="59" y="0"/>
                    <a:pt x="59" y="0"/>
                  </a:cubicBezTo>
                  <a:cubicBezTo>
                    <a:pt x="59" y="11"/>
                    <a:pt x="59" y="11"/>
                    <a:pt x="59" y="11"/>
                  </a:cubicBezTo>
                  <a:cubicBezTo>
                    <a:pt x="25" y="11"/>
                    <a:pt x="25" y="11"/>
                    <a:pt x="25" y="11"/>
                  </a:cubicBezTo>
                  <a:cubicBezTo>
                    <a:pt x="17" y="11"/>
                    <a:pt x="13" y="14"/>
                    <a:pt x="13" y="19"/>
                  </a:cubicBezTo>
                  <a:cubicBezTo>
                    <a:pt x="13" y="32"/>
                    <a:pt x="13" y="32"/>
                    <a:pt x="13" y="32"/>
                  </a:cubicBezTo>
                  <a:cubicBezTo>
                    <a:pt x="56" y="32"/>
                    <a:pt x="56" y="32"/>
                    <a:pt x="56" y="32"/>
                  </a:cubicBezTo>
                  <a:lnTo>
                    <a:pt x="56" y="43"/>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8" name="Rectangle 69"/>
            <p:cNvSpPr>
              <a:spLocks noChangeArrowheads="1"/>
            </p:cNvSpPr>
            <p:nvPr userDrawn="1"/>
          </p:nvSpPr>
          <p:spPr bwMode="auto">
            <a:xfrm>
              <a:off x="2023" y="1245"/>
              <a:ext cx="148" cy="751"/>
            </a:xfrm>
            <a:prstGeom prst="rect">
              <a:avLst/>
            </a:prstGeom>
            <a:solidFill>
              <a:srgbClr val="7070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69" name="Freeform 70"/>
            <p:cNvSpPr>
              <a:spLocks/>
            </p:cNvSpPr>
            <p:nvPr userDrawn="1"/>
          </p:nvSpPr>
          <p:spPr bwMode="auto">
            <a:xfrm>
              <a:off x="3145" y="1221"/>
              <a:ext cx="588" cy="801"/>
            </a:xfrm>
            <a:custGeom>
              <a:avLst/>
              <a:gdLst>
                <a:gd name="T0" fmla="*/ 299 w 390"/>
                <a:gd name="T1" fmla="*/ 16 h 531"/>
                <a:gd name="T2" fmla="*/ 299 w 390"/>
                <a:gd name="T3" fmla="*/ 314 h 531"/>
                <a:gd name="T4" fmla="*/ 15 w 390"/>
                <a:gd name="T5" fmla="*/ 0 h 531"/>
                <a:gd name="T6" fmla="*/ 0 w 390"/>
                <a:gd name="T7" fmla="*/ 0 h 531"/>
                <a:gd name="T8" fmla="*/ 0 w 390"/>
                <a:gd name="T9" fmla="*/ 514 h 531"/>
                <a:gd name="T10" fmla="*/ 91 w 390"/>
                <a:gd name="T11" fmla="*/ 514 h 531"/>
                <a:gd name="T12" fmla="*/ 91 w 390"/>
                <a:gd name="T13" fmla="*/ 220 h 531"/>
                <a:gd name="T14" fmla="*/ 374 w 390"/>
                <a:gd name="T15" fmla="*/ 531 h 531"/>
                <a:gd name="T16" fmla="*/ 390 w 390"/>
                <a:gd name="T17" fmla="*/ 531 h 531"/>
                <a:gd name="T18" fmla="*/ 390 w 390"/>
                <a:gd name="T19" fmla="*/ 16 h 531"/>
                <a:gd name="T20" fmla="*/ 299 w 390"/>
                <a:gd name="T21" fmla="*/ 16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0" h="531">
                  <a:moveTo>
                    <a:pt x="299" y="16"/>
                  </a:moveTo>
                  <a:cubicBezTo>
                    <a:pt x="299" y="314"/>
                    <a:pt x="299" y="314"/>
                    <a:pt x="299" y="314"/>
                  </a:cubicBezTo>
                  <a:cubicBezTo>
                    <a:pt x="283" y="296"/>
                    <a:pt x="15" y="0"/>
                    <a:pt x="15" y="0"/>
                  </a:cubicBezTo>
                  <a:cubicBezTo>
                    <a:pt x="0" y="0"/>
                    <a:pt x="0" y="0"/>
                    <a:pt x="0" y="0"/>
                  </a:cubicBezTo>
                  <a:cubicBezTo>
                    <a:pt x="0" y="514"/>
                    <a:pt x="0" y="514"/>
                    <a:pt x="0" y="514"/>
                  </a:cubicBezTo>
                  <a:cubicBezTo>
                    <a:pt x="91" y="514"/>
                    <a:pt x="91" y="514"/>
                    <a:pt x="91" y="514"/>
                  </a:cubicBezTo>
                  <a:cubicBezTo>
                    <a:pt x="91" y="220"/>
                    <a:pt x="91" y="220"/>
                    <a:pt x="91" y="220"/>
                  </a:cubicBezTo>
                  <a:cubicBezTo>
                    <a:pt x="107" y="238"/>
                    <a:pt x="374" y="531"/>
                    <a:pt x="374" y="531"/>
                  </a:cubicBezTo>
                  <a:cubicBezTo>
                    <a:pt x="390" y="531"/>
                    <a:pt x="390" y="531"/>
                    <a:pt x="390" y="531"/>
                  </a:cubicBezTo>
                  <a:cubicBezTo>
                    <a:pt x="390" y="16"/>
                    <a:pt x="390" y="16"/>
                    <a:pt x="390" y="16"/>
                  </a:cubicBezTo>
                  <a:lnTo>
                    <a:pt x="299" y="16"/>
                  </a:ln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0" name="Freeform 71"/>
            <p:cNvSpPr>
              <a:spLocks/>
            </p:cNvSpPr>
            <p:nvPr userDrawn="1"/>
          </p:nvSpPr>
          <p:spPr bwMode="auto">
            <a:xfrm>
              <a:off x="2286" y="1221"/>
              <a:ext cx="687" cy="801"/>
            </a:xfrm>
            <a:custGeom>
              <a:avLst/>
              <a:gdLst>
                <a:gd name="T0" fmla="*/ 365 w 456"/>
                <a:gd name="T1" fmla="*/ 370 h 531"/>
                <a:gd name="T2" fmla="*/ 360 w 456"/>
                <a:gd name="T3" fmla="*/ 370 h 531"/>
                <a:gd name="T4" fmla="*/ 360 w 456"/>
                <a:gd name="T5" fmla="*/ 422 h 531"/>
                <a:gd name="T6" fmla="*/ 272 w 456"/>
                <a:gd name="T7" fmla="*/ 439 h 531"/>
                <a:gd name="T8" fmla="*/ 97 w 456"/>
                <a:gd name="T9" fmla="*/ 257 h 531"/>
                <a:gd name="T10" fmla="*/ 266 w 456"/>
                <a:gd name="T11" fmla="*/ 88 h 531"/>
                <a:gd name="T12" fmla="*/ 411 w 456"/>
                <a:gd name="T13" fmla="*/ 153 h 531"/>
                <a:gd name="T14" fmla="*/ 419 w 456"/>
                <a:gd name="T15" fmla="*/ 162 h 531"/>
                <a:gd name="T16" fmla="*/ 426 w 456"/>
                <a:gd name="T17" fmla="*/ 49 h 531"/>
                <a:gd name="T18" fmla="*/ 424 w 456"/>
                <a:gd name="T19" fmla="*/ 47 h 531"/>
                <a:gd name="T20" fmla="*/ 382 w 456"/>
                <a:gd name="T21" fmla="*/ 24 h 531"/>
                <a:gd name="T22" fmla="*/ 268 w 456"/>
                <a:gd name="T23" fmla="*/ 0 h 531"/>
                <a:gd name="T24" fmla="*/ 75 w 456"/>
                <a:gd name="T25" fmla="*/ 74 h 531"/>
                <a:gd name="T26" fmla="*/ 0 w 456"/>
                <a:gd name="T27" fmla="*/ 264 h 531"/>
                <a:gd name="T28" fmla="*/ 262 w 456"/>
                <a:gd name="T29" fmla="*/ 531 h 531"/>
                <a:gd name="T30" fmla="*/ 380 w 456"/>
                <a:gd name="T31" fmla="*/ 512 h 531"/>
                <a:gd name="T32" fmla="*/ 453 w 456"/>
                <a:gd name="T33" fmla="*/ 482 h 531"/>
                <a:gd name="T34" fmla="*/ 456 w 456"/>
                <a:gd name="T35" fmla="*/ 481 h 531"/>
                <a:gd name="T36" fmla="*/ 456 w 456"/>
                <a:gd name="T37" fmla="*/ 355 h 531"/>
                <a:gd name="T38" fmla="*/ 450 w 456"/>
                <a:gd name="T39" fmla="*/ 357 h 531"/>
                <a:gd name="T40" fmla="*/ 365 w 456"/>
                <a:gd name="T41" fmla="*/ 37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6" h="531">
                  <a:moveTo>
                    <a:pt x="365" y="370"/>
                  </a:moveTo>
                  <a:cubicBezTo>
                    <a:pt x="360" y="370"/>
                    <a:pt x="360" y="370"/>
                    <a:pt x="360" y="370"/>
                  </a:cubicBezTo>
                  <a:cubicBezTo>
                    <a:pt x="360" y="422"/>
                    <a:pt x="360" y="422"/>
                    <a:pt x="360" y="422"/>
                  </a:cubicBezTo>
                  <a:cubicBezTo>
                    <a:pt x="327" y="434"/>
                    <a:pt x="302" y="439"/>
                    <a:pt x="272" y="439"/>
                  </a:cubicBezTo>
                  <a:cubicBezTo>
                    <a:pt x="166" y="439"/>
                    <a:pt x="97" y="368"/>
                    <a:pt x="97" y="257"/>
                  </a:cubicBezTo>
                  <a:cubicBezTo>
                    <a:pt x="97" y="153"/>
                    <a:pt x="162" y="88"/>
                    <a:pt x="266" y="88"/>
                  </a:cubicBezTo>
                  <a:cubicBezTo>
                    <a:pt x="325" y="88"/>
                    <a:pt x="374" y="110"/>
                    <a:pt x="411" y="153"/>
                  </a:cubicBezTo>
                  <a:cubicBezTo>
                    <a:pt x="419" y="162"/>
                    <a:pt x="419" y="162"/>
                    <a:pt x="419" y="162"/>
                  </a:cubicBezTo>
                  <a:cubicBezTo>
                    <a:pt x="426" y="49"/>
                    <a:pt x="426" y="49"/>
                    <a:pt x="426" y="49"/>
                  </a:cubicBezTo>
                  <a:cubicBezTo>
                    <a:pt x="424" y="47"/>
                    <a:pt x="424" y="47"/>
                    <a:pt x="424" y="47"/>
                  </a:cubicBezTo>
                  <a:cubicBezTo>
                    <a:pt x="408" y="36"/>
                    <a:pt x="401" y="32"/>
                    <a:pt x="382" y="24"/>
                  </a:cubicBezTo>
                  <a:cubicBezTo>
                    <a:pt x="343" y="7"/>
                    <a:pt x="310" y="0"/>
                    <a:pt x="268" y="0"/>
                  </a:cubicBezTo>
                  <a:cubicBezTo>
                    <a:pt x="192" y="0"/>
                    <a:pt x="124" y="26"/>
                    <a:pt x="75" y="74"/>
                  </a:cubicBezTo>
                  <a:cubicBezTo>
                    <a:pt x="27" y="121"/>
                    <a:pt x="0" y="189"/>
                    <a:pt x="0" y="264"/>
                  </a:cubicBezTo>
                  <a:cubicBezTo>
                    <a:pt x="0" y="418"/>
                    <a:pt x="110" y="531"/>
                    <a:pt x="262" y="531"/>
                  </a:cubicBezTo>
                  <a:cubicBezTo>
                    <a:pt x="300" y="531"/>
                    <a:pt x="343" y="524"/>
                    <a:pt x="380" y="512"/>
                  </a:cubicBezTo>
                  <a:cubicBezTo>
                    <a:pt x="406" y="505"/>
                    <a:pt x="420" y="499"/>
                    <a:pt x="453" y="482"/>
                  </a:cubicBezTo>
                  <a:cubicBezTo>
                    <a:pt x="456" y="481"/>
                    <a:pt x="456" y="481"/>
                    <a:pt x="456" y="481"/>
                  </a:cubicBezTo>
                  <a:cubicBezTo>
                    <a:pt x="456" y="355"/>
                    <a:pt x="456" y="355"/>
                    <a:pt x="456" y="355"/>
                  </a:cubicBezTo>
                  <a:cubicBezTo>
                    <a:pt x="450" y="357"/>
                    <a:pt x="450" y="357"/>
                    <a:pt x="450" y="357"/>
                  </a:cubicBezTo>
                  <a:cubicBezTo>
                    <a:pt x="423" y="367"/>
                    <a:pt x="395" y="371"/>
                    <a:pt x="365" y="370"/>
                  </a:cubicBezTo>
                  <a:close/>
                </a:path>
              </a:pathLst>
            </a:custGeom>
            <a:solidFill>
              <a:srgbClr val="7070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sp>
          <p:nvSpPr>
            <p:cNvPr id="71" name="Freeform 72"/>
            <p:cNvSpPr>
              <a:spLocks/>
            </p:cNvSpPr>
            <p:nvPr userDrawn="1"/>
          </p:nvSpPr>
          <p:spPr bwMode="auto">
            <a:xfrm>
              <a:off x="2547" y="1514"/>
              <a:ext cx="469" cy="241"/>
            </a:xfrm>
            <a:custGeom>
              <a:avLst/>
              <a:gdLst>
                <a:gd name="T0" fmla="*/ 173 w 311"/>
                <a:gd name="T1" fmla="*/ 16 h 160"/>
                <a:gd name="T2" fmla="*/ 172 w 311"/>
                <a:gd name="T3" fmla="*/ 16 h 160"/>
                <a:gd name="T4" fmla="*/ 0 w 311"/>
                <a:gd name="T5" fmla="*/ 40 h 160"/>
                <a:gd name="T6" fmla="*/ 139 w 311"/>
                <a:gd name="T7" fmla="*/ 144 h 160"/>
                <a:gd name="T8" fmla="*/ 139 w 311"/>
                <a:gd name="T9" fmla="*/ 144 h 160"/>
                <a:gd name="T10" fmla="*/ 311 w 311"/>
                <a:gd name="T11" fmla="*/ 120 h 160"/>
                <a:gd name="T12" fmla="*/ 173 w 311"/>
                <a:gd name="T13" fmla="*/ 16 h 160"/>
              </a:gdLst>
              <a:ahLst/>
              <a:cxnLst>
                <a:cxn ang="0">
                  <a:pos x="T0" y="T1"/>
                </a:cxn>
                <a:cxn ang="0">
                  <a:pos x="T2" y="T3"/>
                </a:cxn>
                <a:cxn ang="0">
                  <a:pos x="T4" y="T5"/>
                </a:cxn>
                <a:cxn ang="0">
                  <a:pos x="T6" y="T7"/>
                </a:cxn>
                <a:cxn ang="0">
                  <a:pos x="T8" y="T9"/>
                </a:cxn>
                <a:cxn ang="0">
                  <a:pos x="T10" y="T11"/>
                </a:cxn>
                <a:cxn ang="0">
                  <a:pos x="T12" y="T13"/>
                </a:cxn>
              </a:cxnLst>
              <a:rect l="0" t="0" r="r" b="b"/>
              <a:pathLst>
                <a:path w="311" h="160">
                  <a:moveTo>
                    <a:pt x="173" y="16"/>
                  </a:moveTo>
                  <a:cubicBezTo>
                    <a:pt x="172" y="16"/>
                    <a:pt x="172" y="16"/>
                    <a:pt x="172" y="16"/>
                  </a:cubicBezTo>
                  <a:cubicBezTo>
                    <a:pt x="110" y="0"/>
                    <a:pt x="47" y="9"/>
                    <a:pt x="0" y="40"/>
                  </a:cubicBezTo>
                  <a:cubicBezTo>
                    <a:pt x="26" y="89"/>
                    <a:pt x="77" y="127"/>
                    <a:pt x="139" y="144"/>
                  </a:cubicBezTo>
                  <a:cubicBezTo>
                    <a:pt x="139" y="144"/>
                    <a:pt x="139" y="144"/>
                    <a:pt x="139" y="144"/>
                  </a:cubicBezTo>
                  <a:cubicBezTo>
                    <a:pt x="201" y="160"/>
                    <a:pt x="264" y="151"/>
                    <a:pt x="311" y="120"/>
                  </a:cubicBezTo>
                  <a:cubicBezTo>
                    <a:pt x="285" y="71"/>
                    <a:pt x="234" y="32"/>
                    <a:pt x="173" y="16"/>
                  </a:cubicBezTo>
                  <a:close/>
                </a:path>
              </a:pathLst>
            </a:custGeom>
            <a:solidFill>
              <a:srgbClr val="94C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solidFill>
                  <a:srgbClr val="231F20"/>
                </a:solidFill>
              </a:endParaRPr>
            </a:p>
          </p:txBody>
        </p:sp>
      </p:grpSp>
    </p:spTree>
    <p:extLst>
      <p:ext uri="{BB962C8B-B14F-4D97-AF65-F5344CB8AC3E}">
        <p14:creationId xmlns:p14="http://schemas.microsoft.com/office/powerpoint/2010/main" val="34839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04/06/2025</a:t>
            </a:r>
          </a:p>
        </p:txBody>
      </p:sp>
      <p:sp>
        <p:nvSpPr>
          <p:cNvPr id="4" name="Espace réservé du pied de page 3"/>
          <p:cNvSpPr>
            <a:spLocks noGrp="1"/>
          </p:cNvSpPr>
          <p:nvPr>
            <p:ph type="ftr" sz="quarter" idx="11"/>
          </p:nvPr>
        </p:nvSpPr>
        <p:spPr bwMode="gray"/>
        <p:txBody>
          <a:bodyPr/>
          <a:lstStyle/>
          <a:p>
            <a:r>
              <a:rPr lang="fr-FR"/>
              <a:t>Institut national de l’information  géographique et forestière</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359998" y="1891968"/>
            <a:ext cx="2520000" cy="2530800"/>
          </a:xfrm>
        </p:spPr>
        <p:txBody>
          <a:bodyPr/>
          <a:lstStyle>
            <a:lvl1pPr marL="144000" indent="-144000">
              <a:spcBef>
                <a:spcPts val="400"/>
              </a:spcBef>
              <a:spcAft>
                <a:spcPts val="800"/>
              </a:spcAft>
              <a:buFont typeface="+mj-lt"/>
              <a:buAutoNum type="arabicPeriod"/>
              <a:defRPr b="1">
                <a:solidFill>
                  <a:schemeClr val="tx2">
                    <a:lumMod val="75000"/>
                  </a:schemeClr>
                </a:solidFill>
              </a:defRPr>
            </a:lvl1pPr>
            <a:lvl2pPr marL="324000" indent="-144000">
              <a:spcBef>
                <a:spcPts val="600"/>
              </a:spcBef>
              <a:spcAft>
                <a:spcPts val="800"/>
              </a:spcAft>
              <a:buFont typeface="+mj-lt"/>
              <a:buAutoNum type="alphaLcPeriod"/>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3312000" y="1893600"/>
            <a:ext cx="2520000" cy="2530800"/>
          </a:xfrm>
        </p:spPr>
        <p:txBody>
          <a:bodyPr/>
          <a:lstStyle>
            <a:lvl1pPr marL="144000" indent="-144000">
              <a:spcBef>
                <a:spcPts val="400"/>
              </a:spcBef>
              <a:spcAft>
                <a:spcPts val="800"/>
              </a:spcAft>
              <a:buFont typeface="+mj-lt"/>
              <a:buAutoNum type="arabicPeriod"/>
              <a:defRPr b="1">
                <a:solidFill>
                  <a:schemeClr val="tx2">
                    <a:lumMod val="75000"/>
                  </a:schemeClr>
                </a:solidFill>
              </a:defRPr>
            </a:lvl1pPr>
            <a:lvl2pPr marL="324000" indent="-144000">
              <a:spcBef>
                <a:spcPts val="600"/>
              </a:spcBef>
              <a:spcAft>
                <a:spcPts val="800"/>
              </a:spcAft>
              <a:buFont typeface="+mj-lt"/>
              <a:buAutoNum type="alphaLcPeriod"/>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6263999" y="1893600"/>
            <a:ext cx="2520000" cy="2530800"/>
          </a:xfrm>
        </p:spPr>
        <p:txBody>
          <a:bodyPr/>
          <a:lstStyle>
            <a:lvl1pPr marL="144000" indent="-144000">
              <a:spcBef>
                <a:spcPts val="400"/>
              </a:spcBef>
              <a:spcAft>
                <a:spcPts val="800"/>
              </a:spcAft>
              <a:buFont typeface="+mj-lt"/>
              <a:buAutoNum type="arabicPeriod"/>
              <a:defRPr b="1">
                <a:solidFill>
                  <a:schemeClr val="tx2">
                    <a:lumMod val="75000"/>
                  </a:schemeClr>
                </a:solidFill>
              </a:defRPr>
            </a:lvl1pPr>
            <a:lvl2pPr marL="324000" indent="-144000">
              <a:spcBef>
                <a:spcPts val="600"/>
              </a:spcBef>
              <a:spcAft>
                <a:spcPts val="800"/>
              </a:spcAft>
              <a:buFont typeface="+mj-lt"/>
              <a:buAutoNum type="alphaLcPeriod"/>
              <a:defRPr/>
            </a:lvl2pPr>
          </a:lstStyle>
          <a:p>
            <a:pPr lvl="0"/>
            <a:r>
              <a:rPr lang="fr-FR"/>
              <a:t>Titre de la partie</a:t>
            </a:r>
          </a:p>
          <a:p>
            <a:pPr lvl="1"/>
            <a:r>
              <a:rPr lang="fr-FR"/>
              <a:t>Deuxième niveau</a:t>
            </a:r>
          </a:p>
        </p:txBody>
      </p:sp>
      <p:pic>
        <p:nvPicPr>
          <p:cNvPr id="1026" name="Picture 2">
            <a:extLst>
              <a:ext uri="{FF2B5EF4-FFF2-40B4-BE49-F238E27FC236}">
                <a16:creationId xmlns:a16="http://schemas.microsoft.com/office/drawing/2014/main" id="{8114D808-32BB-44CC-B6A9-0601EBE96ED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8175" y="81459"/>
            <a:ext cx="5905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0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738000"/>
            <a:ext cx="9144000" cy="4406400"/>
          </a:xfrm>
          <a:solidFill>
            <a:schemeClr val="bg1">
              <a:lumMod val="85000"/>
            </a:schemeClr>
          </a:solidFill>
        </p:spPr>
        <p:txBody>
          <a:bodyPr tIns="1080000" anchor="ctr" anchorCtr="0"/>
          <a:lstStyle>
            <a:lvl1pPr algn="ctr">
              <a:defRPr cap="all" baseline="0"/>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359999" y="738000"/>
            <a:ext cx="8424000" cy="40464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396000" indent="-396000">
              <a:buFont typeface="+mj-lt"/>
              <a:buAutoNum type="arabicPeriod"/>
              <a:defRPr sz="3250"/>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04/06/2025</a:t>
            </a:r>
          </a:p>
        </p:txBody>
      </p:sp>
      <p:sp>
        <p:nvSpPr>
          <p:cNvPr id="4" name="Espace réservé du pied de page 3"/>
          <p:cNvSpPr>
            <a:spLocks noGrp="1"/>
          </p:cNvSpPr>
          <p:nvPr>
            <p:ph type="ftr" sz="quarter" idx="11"/>
          </p:nvPr>
        </p:nvSpPr>
        <p:spPr bwMode="gray"/>
        <p:txBody>
          <a:bodyPr/>
          <a:lstStyle/>
          <a:p>
            <a:r>
              <a:rPr lang="fr-FR"/>
              <a:t>Institut national de l’information  géographique et forestière</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Tree>
    <p:extLst>
      <p:ext uri="{BB962C8B-B14F-4D97-AF65-F5344CB8AC3E}">
        <p14:creationId xmlns:p14="http://schemas.microsoft.com/office/powerpoint/2010/main" val="190859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359999" y="900000"/>
            <a:ext cx="8424000" cy="720000"/>
          </a:xfrm>
        </p:spPr>
        <p:txBody>
          <a:bodyPr/>
          <a:lstStyle>
            <a:lvl1pPr>
              <a:defRPr/>
            </a:lvl1pPr>
          </a:lstStyle>
          <a:p>
            <a:r>
              <a:rPr lang="fr-FR"/>
              <a:t>Titre</a:t>
            </a:r>
          </a:p>
        </p:txBody>
      </p:sp>
      <p:sp>
        <p:nvSpPr>
          <p:cNvPr id="3" name="Espace réservé de la date 2"/>
          <p:cNvSpPr>
            <a:spLocks noGrp="1"/>
          </p:cNvSpPr>
          <p:nvPr>
            <p:ph type="dt" sz="half" idx="10"/>
          </p:nvPr>
        </p:nvSpPr>
        <p:spPr bwMode="gray"/>
        <p:txBody>
          <a:bodyPr/>
          <a:lstStyle/>
          <a:p>
            <a:pPr algn="r"/>
            <a:r>
              <a:rPr lang="fr-FR" cap="all"/>
              <a:t>04/06/2025</a:t>
            </a:r>
          </a:p>
        </p:txBody>
      </p:sp>
      <p:sp>
        <p:nvSpPr>
          <p:cNvPr id="4" name="Espace réservé du pied de page 3"/>
          <p:cNvSpPr>
            <a:spLocks noGrp="1"/>
          </p:cNvSpPr>
          <p:nvPr>
            <p:ph type="ftr" sz="quarter" idx="11"/>
          </p:nvPr>
        </p:nvSpPr>
        <p:spPr bwMode="gray"/>
        <p:txBody>
          <a:bodyPr/>
          <a:lstStyle/>
          <a:p>
            <a:r>
              <a:rPr lang="fr-FR"/>
              <a:t>Institut national de l’information  géographique et forestière</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10"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sp>
        <p:nvSpPr>
          <p:cNvPr id="12" name="Espace réservé du texte 11"/>
          <p:cNvSpPr>
            <a:spLocks noGrp="1"/>
          </p:cNvSpPr>
          <p:nvPr>
            <p:ph type="body" sz="quarter" idx="14" hasCustomPrompt="1"/>
          </p:nvPr>
        </p:nvSpPr>
        <p:spPr bwMode="gray">
          <a:xfrm>
            <a:off x="359999"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3" name="Espace réservé du texte 11"/>
          <p:cNvSpPr>
            <a:spLocks noGrp="1"/>
          </p:cNvSpPr>
          <p:nvPr>
            <p:ph type="body" sz="quarter" idx="15" hasCustomPrompt="1"/>
          </p:nvPr>
        </p:nvSpPr>
        <p:spPr bwMode="gray">
          <a:xfrm>
            <a:off x="3312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4" name="Espace réservé du texte 11"/>
          <p:cNvSpPr>
            <a:spLocks noGrp="1"/>
          </p:cNvSpPr>
          <p:nvPr>
            <p:ph type="body" sz="quarter" idx="16" hasCustomPrompt="1"/>
          </p:nvPr>
        </p:nvSpPr>
        <p:spPr bwMode="gray">
          <a:xfrm>
            <a:off x="6264000" y="1836000"/>
            <a:ext cx="2520000" cy="2574000"/>
          </a:xfrm>
        </p:spPr>
        <p:txBody>
          <a:bodyPr/>
          <a:lstStyle>
            <a:lvl1pPr>
              <a:defRPr/>
            </a:lvl1pPr>
            <a:lvl2pPr>
              <a:defRPr/>
            </a:lvl2pPr>
            <a:lvl3pPr>
              <a:defRPr baseline="0"/>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pic>
        <p:nvPicPr>
          <p:cNvPr id="11" name="Picture 2">
            <a:extLst>
              <a:ext uri="{FF2B5EF4-FFF2-40B4-BE49-F238E27FC236}">
                <a16:creationId xmlns:a16="http://schemas.microsoft.com/office/drawing/2014/main" id="{5859243D-E315-45C6-88F7-99DA69255BB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8175" y="81459"/>
            <a:ext cx="5905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45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359999" y="900000"/>
            <a:ext cx="8424000" cy="720000"/>
          </a:xfrm>
        </p:spPr>
        <p:txBody>
          <a:bodyPr/>
          <a:lstStyle/>
          <a:p>
            <a:r>
              <a:rPr lang="fr-FR" noProof="0"/>
              <a:t>Titre</a:t>
            </a:r>
            <a:endParaRPr lang="fr-FR"/>
          </a:p>
        </p:txBody>
      </p:sp>
      <p:sp>
        <p:nvSpPr>
          <p:cNvPr id="5" name="Espace réservé de la date 4"/>
          <p:cNvSpPr>
            <a:spLocks noGrp="1"/>
          </p:cNvSpPr>
          <p:nvPr>
            <p:ph type="dt" sz="half" idx="10"/>
          </p:nvPr>
        </p:nvSpPr>
        <p:spPr bwMode="gray"/>
        <p:txBody>
          <a:bodyPr/>
          <a:lstStyle/>
          <a:p>
            <a:pPr algn="r"/>
            <a:r>
              <a:rPr lang="fr-FR" cap="all"/>
              <a:t>04/06/2025</a:t>
            </a:r>
          </a:p>
        </p:txBody>
      </p:sp>
      <p:sp>
        <p:nvSpPr>
          <p:cNvPr id="6" name="Espace réservé du pied de page 5"/>
          <p:cNvSpPr>
            <a:spLocks noGrp="1"/>
          </p:cNvSpPr>
          <p:nvPr>
            <p:ph type="ftr" sz="quarter" idx="11"/>
          </p:nvPr>
        </p:nvSpPr>
        <p:spPr bwMode="gray"/>
        <p:txBody>
          <a:bodyPr/>
          <a:lstStyle/>
          <a:p>
            <a:r>
              <a:rPr lang="fr-FR"/>
              <a:t>Institut national de l’information  géographique et forestière</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a:p>
        </p:txBody>
      </p:sp>
      <p:sp>
        <p:nvSpPr>
          <p:cNvPr id="9" name="Espace réservé du contenu 8"/>
          <p:cNvSpPr>
            <a:spLocks noGrp="1"/>
          </p:cNvSpPr>
          <p:nvPr>
            <p:ph sz="quarter" idx="14" hasCustomPrompt="1"/>
          </p:nvPr>
        </p:nvSpPr>
        <p:spPr bwMode="gray">
          <a:xfrm>
            <a:off x="359998" y="1836000"/>
            <a:ext cx="8424000" cy="2574000"/>
          </a:xfrm>
        </p:spPr>
        <p:txBody>
          <a:bodyPr/>
          <a:lstStyle>
            <a:lvl1pPr>
              <a:defRPr/>
            </a:lvl1pPr>
            <a:lvl2pPr>
              <a:defRPr/>
            </a:lvl2pPr>
            <a:lvl3pPr>
              <a:defRPr/>
            </a:lvl3pPr>
            <a:lvl4pPr>
              <a:defRPr/>
            </a:lvl4pPr>
            <a:lvl5pPr>
              <a:defRPr/>
            </a:lvl5pPr>
          </a:lstStyle>
          <a:p>
            <a:pPr lvl="0"/>
            <a:r>
              <a:rPr lang="fr-FR"/>
              <a:t>Texte de niveau 1</a:t>
            </a:r>
          </a:p>
          <a:p>
            <a:pPr lvl="1"/>
            <a:r>
              <a:rPr lang="fr-FR"/>
              <a:t>Texte de niveau 2</a:t>
            </a:r>
          </a:p>
          <a:p>
            <a:pPr lvl="2"/>
            <a:r>
              <a:rPr lang="fr-FR"/>
              <a:t>Texte de niveau 3</a:t>
            </a:r>
          </a:p>
          <a:p>
            <a:pPr lvl="3"/>
            <a:r>
              <a:rPr lang="fr-FR"/>
              <a:t>Texte de niveau 4</a:t>
            </a:r>
          </a:p>
          <a:p>
            <a:pPr lvl="4"/>
            <a:r>
              <a:rPr lang="fr-FR"/>
              <a:t>Texte de niveau 5</a:t>
            </a:r>
          </a:p>
        </p:txBody>
      </p:sp>
      <p:sp>
        <p:nvSpPr>
          <p:cNvPr id="15" name="Espace réservé du texte 9"/>
          <p:cNvSpPr>
            <a:spLocks noGrp="1"/>
          </p:cNvSpPr>
          <p:nvPr>
            <p:ph type="body" sz="quarter" idx="13" hasCustomPrompt="1"/>
          </p:nvPr>
        </p:nvSpPr>
        <p:spPr bwMode="gray">
          <a:xfrm>
            <a:off x="3312000" y="180000"/>
            <a:ext cx="5472000" cy="360000"/>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a:t>Titre</a:t>
            </a:r>
          </a:p>
          <a:p>
            <a:pPr lvl="1"/>
            <a:r>
              <a:rPr lang="fr-FR"/>
              <a:t>Sous-titre</a:t>
            </a:r>
          </a:p>
        </p:txBody>
      </p:sp>
      <p:pic>
        <p:nvPicPr>
          <p:cNvPr id="8" name="Picture 2">
            <a:extLst>
              <a:ext uri="{FF2B5EF4-FFF2-40B4-BE49-F238E27FC236}">
                <a16:creationId xmlns:a16="http://schemas.microsoft.com/office/drawing/2014/main" id="{0BCD6AC4-D380-42DC-8E9F-2B78ABD7869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8175" y="81459"/>
            <a:ext cx="590550" cy="638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INTERCALAIRE">
    <p:spTree>
      <p:nvGrpSpPr>
        <p:cNvPr id="1" name=""/>
        <p:cNvGrpSpPr/>
        <p:nvPr/>
      </p:nvGrpSpPr>
      <p:grpSpPr>
        <a:xfrm>
          <a:off x="0" y="0"/>
          <a:ext cx="0" cy="0"/>
          <a:chOff x="0" y="0"/>
          <a:chExt cx="0" cy="0"/>
        </a:xfrm>
      </p:grpSpPr>
      <p:grpSp>
        <p:nvGrpSpPr>
          <p:cNvPr id="3880" name="Groupe 3879"/>
          <p:cNvGrpSpPr/>
          <p:nvPr userDrawn="1"/>
        </p:nvGrpSpPr>
        <p:grpSpPr>
          <a:xfrm>
            <a:off x="553804" y="408415"/>
            <a:ext cx="4639963" cy="3893746"/>
            <a:chOff x="553803" y="544553"/>
            <a:chExt cx="4639963" cy="5191661"/>
          </a:xfrm>
        </p:grpSpPr>
        <p:grpSp>
          <p:nvGrpSpPr>
            <p:cNvPr id="9" name="Groupe 8"/>
            <p:cNvGrpSpPr/>
            <p:nvPr userDrawn="1"/>
          </p:nvGrpSpPr>
          <p:grpSpPr>
            <a:xfrm>
              <a:off x="553803" y="544557"/>
              <a:ext cx="3679737" cy="121564"/>
              <a:chOff x="2746375" y="570435"/>
              <a:chExt cx="3387725" cy="111917"/>
            </a:xfrm>
          </p:grpSpPr>
          <p:sp>
            <p:nvSpPr>
              <p:cNvPr id="93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0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0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0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 name="Groupe 9"/>
            <p:cNvGrpSpPr/>
            <p:nvPr userDrawn="1"/>
          </p:nvGrpSpPr>
          <p:grpSpPr>
            <a:xfrm>
              <a:off x="553803" y="760736"/>
              <a:ext cx="3679737" cy="121564"/>
              <a:chOff x="2746375" y="570435"/>
              <a:chExt cx="3387725" cy="111917"/>
            </a:xfrm>
          </p:grpSpPr>
          <p:sp>
            <p:nvSpPr>
              <p:cNvPr id="86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3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1" name="Groupe 10"/>
            <p:cNvGrpSpPr/>
            <p:nvPr userDrawn="1"/>
          </p:nvGrpSpPr>
          <p:grpSpPr>
            <a:xfrm>
              <a:off x="553803" y="976916"/>
              <a:ext cx="3679737" cy="121564"/>
              <a:chOff x="2746375" y="570435"/>
              <a:chExt cx="3387725" cy="111917"/>
            </a:xfrm>
          </p:grpSpPr>
          <p:sp>
            <p:nvSpPr>
              <p:cNvPr id="79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2" name="Groupe 11"/>
            <p:cNvGrpSpPr/>
            <p:nvPr userDrawn="1"/>
          </p:nvGrpSpPr>
          <p:grpSpPr>
            <a:xfrm>
              <a:off x="553803" y="1193095"/>
              <a:ext cx="3679737" cy="121564"/>
              <a:chOff x="2746375" y="570435"/>
              <a:chExt cx="3387725" cy="111917"/>
            </a:xfrm>
          </p:grpSpPr>
          <p:sp>
            <p:nvSpPr>
              <p:cNvPr id="72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3" name="Groupe 12"/>
            <p:cNvGrpSpPr/>
            <p:nvPr userDrawn="1"/>
          </p:nvGrpSpPr>
          <p:grpSpPr>
            <a:xfrm>
              <a:off x="553803" y="1409274"/>
              <a:ext cx="3679737" cy="121564"/>
              <a:chOff x="2746375" y="570435"/>
              <a:chExt cx="3387725" cy="111917"/>
            </a:xfrm>
          </p:grpSpPr>
          <p:sp>
            <p:nvSpPr>
              <p:cNvPr id="65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4" name="Groupe 13"/>
            <p:cNvGrpSpPr/>
            <p:nvPr userDrawn="1"/>
          </p:nvGrpSpPr>
          <p:grpSpPr>
            <a:xfrm>
              <a:off x="553803" y="1625453"/>
              <a:ext cx="3679737" cy="121564"/>
              <a:chOff x="2746375" y="570435"/>
              <a:chExt cx="3387725" cy="111917"/>
            </a:xfrm>
          </p:grpSpPr>
          <p:sp>
            <p:nvSpPr>
              <p:cNvPr id="58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5" name="Groupe 14"/>
            <p:cNvGrpSpPr/>
            <p:nvPr userDrawn="1"/>
          </p:nvGrpSpPr>
          <p:grpSpPr>
            <a:xfrm>
              <a:off x="553803" y="1841633"/>
              <a:ext cx="3679737" cy="121564"/>
              <a:chOff x="2746375" y="570435"/>
              <a:chExt cx="3387725" cy="111917"/>
            </a:xfrm>
          </p:grpSpPr>
          <p:sp>
            <p:nvSpPr>
              <p:cNvPr id="51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6" name="Groupe 15"/>
            <p:cNvGrpSpPr/>
            <p:nvPr userDrawn="1"/>
          </p:nvGrpSpPr>
          <p:grpSpPr>
            <a:xfrm>
              <a:off x="553803" y="2057813"/>
              <a:ext cx="3679737" cy="121564"/>
              <a:chOff x="2746375" y="570435"/>
              <a:chExt cx="3387725" cy="111917"/>
            </a:xfrm>
          </p:grpSpPr>
          <p:sp>
            <p:nvSpPr>
              <p:cNvPr id="44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7" name="Groupe 16"/>
            <p:cNvGrpSpPr/>
            <p:nvPr userDrawn="1"/>
          </p:nvGrpSpPr>
          <p:grpSpPr>
            <a:xfrm>
              <a:off x="553803" y="2273992"/>
              <a:ext cx="3679737" cy="121564"/>
              <a:chOff x="2746375" y="570435"/>
              <a:chExt cx="3387725" cy="111917"/>
            </a:xfrm>
          </p:grpSpPr>
          <p:sp>
            <p:nvSpPr>
              <p:cNvPr id="37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8" name="Groupe 17"/>
            <p:cNvGrpSpPr/>
            <p:nvPr userDrawn="1"/>
          </p:nvGrpSpPr>
          <p:grpSpPr>
            <a:xfrm>
              <a:off x="553803" y="2490170"/>
              <a:ext cx="3679737" cy="121564"/>
              <a:chOff x="2746375" y="570435"/>
              <a:chExt cx="3387725" cy="111917"/>
            </a:xfrm>
          </p:grpSpPr>
          <p:sp>
            <p:nvSpPr>
              <p:cNvPr id="30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9" name="Groupe 18"/>
            <p:cNvGrpSpPr/>
            <p:nvPr userDrawn="1"/>
          </p:nvGrpSpPr>
          <p:grpSpPr>
            <a:xfrm>
              <a:off x="553803" y="2706349"/>
              <a:ext cx="3679737" cy="121564"/>
              <a:chOff x="2746375" y="570435"/>
              <a:chExt cx="3387725" cy="111917"/>
            </a:xfrm>
          </p:grpSpPr>
          <p:sp>
            <p:nvSpPr>
              <p:cNvPr id="23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0" name="Groupe 19"/>
            <p:cNvGrpSpPr/>
            <p:nvPr userDrawn="1"/>
          </p:nvGrpSpPr>
          <p:grpSpPr>
            <a:xfrm>
              <a:off x="553803" y="2922527"/>
              <a:ext cx="3679737" cy="121564"/>
              <a:chOff x="2746375" y="570435"/>
              <a:chExt cx="3387725" cy="111917"/>
            </a:xfrm>
          </p:grpSpPr>
          <p:sp>
            <p:nvSpPr>
              <p:cNvPr id="16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1" name="Groupe 20"/>
            <p:cNvGrpSpPr/>
            <p:nvPr userDrawn="1"/>
          </p:nvGrpSpPr>
          <p:grpSpPr>
            <a:xfrm>
              <a:off x="553803" y="3138703"/>
              <a:ext cx="3679737" cy="121564"/>
              <a:chOff x="2746375" y="570435"/>
              <a:chExt cx="3387725" cy="111917"/>
            </a:xfrm>
          </p:grpSpPr>
          <p:sp>
            <p:nvSpPr>
              <p:cNvPr id="9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2" name="Groupe 21"/>
            <p:cNvGrpSpPr/>
            <p:nvPr userDrawn="1"/>
          </p:nvGrpSpPr>
          <p:grpSpPr>
            <a:xfrm>
              <a:off x="553803" y="3354879"/>
              <a:ext cx="3679737" cy="121564"/>
              <a:chOff x="2746375" y="570435"/>
              <a:chExt cx="3387725" cy="111917"/>
            </a:xfrm>
          </p:grpSpPr>
          <p:sp>
            <p:nvSpPr>
              <p:cNvPr id="23"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9"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0"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2"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3"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4"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5"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6"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7"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8"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9"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0"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1"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2"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3"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4"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5"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6"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3"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4"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5"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6"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7"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8"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9"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0"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1"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2"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04" name="Groupe 1003"/>
            <p:cNvGrpSpPr/>
            <p:nvPr userDrawn="1"/>
          </p:nvGrpSpPr>
          <p:grpSpPr>
            <a:xfrm>
              <a:off x="553803" y="3563809"/>
              <a:ext cx="3679737" cy="121564"/>
              <a:chOff x="2746375" y="570435"/>
              <a:chExt cx="3387725" cy="111917"/>
            </a:xfrm>
          </p:grpSpPr>
          <p:sp>
            <p:nvSpPr>
              <p:cNvPr id="192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3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4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5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6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7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8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9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05" name="Groupe 1004"/>
            <p:cNvGrpSpPr/>
            <p:nvPr userDrawn="1"/>
          </p:nvGrpSpPr>
          <p:grpSpPr>
            <a:xfrm>
              <a:off x="553803" y="3779988"/>
              <a:ext cx="3679737" cy="121564"/>
              <a:chOff x="2746375" y="570435"/>
              <a:chExt cx="3387725" cy="111917"/>
            </a:xfrm>
          </p:grpSpPr>
          <p:sp>
            <p:nvSpPr>
              <p:cNvPr id="185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6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7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8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9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0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1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2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06" name="Groupe 1005"/>
            <p:cNvGrpSpPr/>
            <p:nvPr userDrawn="1"/>
          </p:nvGrpSpPr>
          <p:grpSpPr>
            <a:xfrm>
              <a:off x="553803" y="3996168"/>
              <a:ext cx="3679737" cy="121564"/>
              <a:chOff x="2746375" y="570435"/>
              <a:chExt cx="3387725" cy="111917"/>
            </a:xfrm>
          </p:grpSpPr>
          <p:sp>
            <p:nvSpPr>
              <p:cNvPr id="178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9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0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1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2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3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4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5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07" name="Groupe 1006"/>
            <p:cNvGrpSpPr/>
            <p:nvPr userDrawn="1"/>
          </p:nvGrpSpPr>
          <p:grpSpPr>
            <a:xfrm>
              <a:off x="553803" y="4212347"/>
              <a:ext cx="3679737" cy="121564"/>
              <a:chOff x="2746375" y="570435"/>
              <a:chExt cx="3387725" cy="111917"/>
            </a:xfrm>
          </p:grpSpPr>
          <p:sp>
            <p:nvSpPr>
              <p:cNvPr id="171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2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3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4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5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6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7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8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08" name="Groupe 1007"/>
            <p:cNvGrpSpPr/>
            <p:nvPr userDrawn="1"/>
          </p:nvGrpSpPr>
          <p:grpSpPr>
            <a:xfrm>
              <a:off x="553803" y="4428526"/>
              <a:ext cx="3679737" cy="121564"/>
              <a:chOff x="2746375" y="570435"/>
              <a:chExt cx="3387725" cy="111917"/>
            </a:xfrm>
          </p:grpSpPr>
          <p:sp>
            <p:nvSpPr>
              <p:cNvPr id="164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5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6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7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8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9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0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1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09" name="Groupe 1008"/>
            <p:cNvGrpSpPr/>
            <p:nvPr userDrawn="1"/>
          </p:nvGrpSpPr>
          <p:grpSpPr>
            <a:xfrm>
              <a:off x="553803" y="4644705"/>
              <a:ext cx="3679737" cy="121564"/>
              <a:chOff x="2746375" y="570435"/>
              <a:chExt cx="3387725" cy="111917"/>
            </a:xfrm>
          </p:grpSpPr>
          <p:sp>
            <p:nvSpPr>
              <p:cNvPr id="157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8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9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0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1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2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3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4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10" name="Groupe 1009"/>
            <p:cNvGrpSpPr/>
            <p:nvPr userDrawn="1"/>
          </p:nvGrpSpPr>
          <p:grpSpPr>
            <a:xfrm>
              <a:off x="553803" y="4860885"/>
              <a:ext cx="3679737" cy="121564"/>
              <a:chOff x="2746375" y="570435"/>
              <a:chExt cx="3387725" cy="111917"/>
            </a:xfrm>
          </p:grpSpPr>
          <p:sp>
            <p:nvSpPr>
              <p:cNvPr id="150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1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2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3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4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5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6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7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11" name="Groupe 1010"/>
            <p:cNvGrpSpPr/>
            <p:nvPr userDrawn="1"/>
          </p:nvGrpSpPr>
          <p:grpSpPr>
            <a:xfrm>
              <a:off x="553803" y="5077065"/>
              <a:ext cx="3679737" cy="121564"/>
              <a:chOff x="2746375" y="570435"/>
              <a:chExt cx="3387725" cy="111917"/>
            </a:xfrm>
          </p:grpSpPr>
          <p:sp>
            <p:nvSpPr>
              <p:cNvPr id="143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4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5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6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7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8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9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0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12" name="Groupe 1011"/>
            <p:cNvGrpSpPr/>
            <p:nvPr userDrawn="1"/>
          </p:nvGrpSpPr>
          <p:grpSpPr>
            <a:xfrm>
              <a:off x="553803" y="5293244"/>
              <a:ext cx="3679737" cy="121564"/>
              <a:chOff x="2746375" y="570435"/>
              <a:chExt cx="3387725" cy="111917"/>
            </a:xfrm>
          </p:grpSpPr>
          <p:sp>
            <p:nvSpPr>
              <p:cNvPr id="136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7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8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9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0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1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2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3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1013" name="Groupe 1012"/>
            <p:cNvGrpSpPr/>
            <p:nvPr userDrawn="1"/>
          </p:nvGrpSpPr>
          <p:grpSpPr>
            <a:xfrm>
              <a:off x="553803" y="5509422"/>
              <a:ext cx="3679737" cy="121564"/>
              <a:chOff x="2746375" y="570435"/>
              <a:chExt cx="3387725" cy="111917"/>
            </a:xfrm>
          </p:grpSpPr>
          <p:sp>
            <p:nvSpPr>
              <p:cNvPr id="1298" name="Oval 870"/>
              <p:cNvSpPr>
                <a:spLocks noChangeArrowheads="1"/>
              </p:cNvSpPr>
              <p:nvPr userDrawn="1"/>
            </p:nvSpPr>
            <p:spPr bwMode="auto">
              <a:xfrm flipV="1">
                <a:off x="2746375"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99" name="Oval 871"/>
              <p:cNvSpPr>
                <a:spLocks noChangeArrowheads="1"/>
              </p:cNvSpPr>
              <p:nvPr userDrawn="1"/>
            </p:nvSpPr>
            <p:spPr bwMode="auto">
              <a:xfrm flipV="1">
                <a:off x="284496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0" name="Oval 872"/>
              <p:cNvSpPr>
                <a:spLocks noChangeArrowheads="1"/>
              </p:cNvSpPr>
              <p:nvPr userDrawn="1"/>
            </p:nvSpPr>
            <p:spPr bwMode="auto">
              <a:xfrm flipV="1">
                <a:off x="294356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1" name="Oval 873"/>
              <p:cNvSpPr>
                <a:spLocks noChangeArrowheads="1"/>
              </p:cNvSpPr>
              <p:nvPr userDrawn="1"/>
            </p:nvSpPr>
            <p:spPr bwMode="auto">
              <a:xfrm flipV="1">
                <a:off x="304393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2" name="Oval 874"/>
              <p:cNvSpPr>
                <a:spLocks noChangeArrowheads="1"/>
              </p:cNvSpPr>
              <p:nvPr userDrawn="1"/>
            </p:nvSpPr>
            <p:spPr bwMode="auto">
              <a:xfrm flipV="1">
                <a:off x="3143416"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3" name="Oval 875"/>
              <p:cNvSpPr>
                <a:spLocks noChangeArrowheads="1"/>
              </p:cNvSpPr>
              <p:nvPr userDrawn="1"/>
            </p:nvSpPr>
            <p:spPr bwMode="auto">
              <a:xfrm flipV="1">
                <a:off x="324201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4" name="Oval 876"/>
              <p:cNvSpPr>
                <a:spLocks noChangeArrowheads="1"/>
              </p:cNvSpPr>
              <p:nvPr userDrawn="1"/>
            </p:nvSpPr>
            <p:spPr bwMode="auto">
              <a:xfrm flipV="1">
                <a:off x="334238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5" name="Oval 877"/>
              <p:cNvSpPr>
                <a:spLocks noChangeArrowheads="1"/>
              </p:cNvSpPr>
              <p:nvPr userDrawn="1"/>
            </p:nvSpPr>
            <p:spPr bwMode="auto">
              <a:xfrm flipV="1">
                <a:off x="344097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6" name="Oval 878"/>
              <p:cNvSpPr>
                <a:spLocks noChangeArrowheads="1"/>
              </p:cNvSpPr>
              <p:nvPr userDrawn="1"/>
            </p:nvSpPr>
            <p:spPr bwMode="auto">
              <a:xfrm flipV="1">
                <a:off x="3540456"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7" name="Oval 879"/>
              <p:cNvSpPr>
                <a:spLocks noChangeArrowheads="1"/>
              </p:cNvSpPr>
              <p:nvPr userDrawn="1"/>
            </p:nvSpPr>
            <p:spPr bwMode="auto">
              <a:xfrm flipV="1">
                <a:off x="364082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8" name="Oval 880"/>
              <p:cNvSpPr>
                <a:spLocks noChangeArrowheads="1"/>
              </p:cNvSpPr>
              <p:nvPr userDrawn="1"/>
            </p:nvSpPr>
            <p:spPr bwMode="auto">
              <a:xfrm flipV="1">
                <a:off x="3739421"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09" name="Oval 881"/>
              <p:cNvSpPr>
                <a:spLocks noChangeArrowheads="1"/>
              </p:cNvSpPr>
              <p:nvPr userDrawn="1"/>
            </p:nvSpPr>
            <p:spPr bwMode="auto">
              <a:xfrm flipV="1">
                <a:off x="383801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0" name="Oval 882"/>
              <p:cNvSpPr>
                <a:spLocks noChangeArrowheads="1"/>
              </p:cNvSpPr>
              <p:nvPr userDrawn="1"/>
            </p:nvSpPr>
            <p:spPr bwMode="auto">
              <a:xfrm flipV="1">
                <a:off x="393838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1" name="Oval 883"/>
              <p:cNvSpPr>
                <a:spLocks noChangeArrowheads="1"/>
              </p:cNvSpPr>
              <p:nvPr userDrawn="1"/>
            </p:nvSpPr>
            <p:spPr bwMode="auto">
              <a:xfrm flipV="1">
                <a:off x="4037867"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2" name="Oval 884"/>
              <p:cNvSpPr>
                <a:spLocks noChangeArrowheads="1"/>
              </p:cNvSpPr>
              <p:nvPr userDrawn="1"/>
            </p:nvSpPr>
            <p:spPr bwMode="auto">
              <a:xfrm flipV="1">
                <a:off x="4136461"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3" name="Oval 885"/>
              <p:cNvSpPr>
                <a:spLocks noChangeArrowheads="1"/>
              </p:cNvSpPr>
              <p:nvPr userDrawn="1"/>
            </p:nvSpPr>
            <p:spPr bwMode="auto">
              <a:xfrm flipV="1">
                <a:off x="4236832"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4" name="Oval 886"/>
              <p:cNvSpPr>
                <a:spLocks noChangeArrowheads="1"/>
              </p:cNvSpPr>
              <p:nvPr userDrawn="1"/>
            </p:nvSpPr>
            <p:spPr bwMode="auto">
              <a:xfrm flipV="1">
                <a:off x="4335426"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5" name="Oval 887"/>
              <p:cNvSpPr>
                <a:spLocks noChangeArrowheads="1"/>
              </p:cNvSpPr>
              <p:nvPr userDrawn="1"/>
            </p:nvSpPr>
            <p:spPr bwMode="auto">
              <a:xfrm flipV="1">
                <a:off x="4434908"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6" name="Oval 888"/>
              <p:cNvSpPr>
                <a:spLocks noChangeArrowheads="1"/>
              </p:cNvSpPr>
              <p:nvPr userDrawn="1"/>
            </p:nvSpPr>
            <p:spPr bwMode="auto">
              <a:xfrm flipV="1">
                <a:off x="453527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7" name="Oval 889"/>
              <p:cNvSpPr>
                <a:spLocks noChangeArrowheads="1"/>
              </p:cNvSpPr>
              <p:nvPr userDrawn="1"/>
            </p:nvSpPr>
            <p:spPr bwMode="auto">
              <a:xfrm flipV="1">
                <a:off x="4633873"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8" name="Oval 890"/>
              <p:cNvSpPr>
                <a:spLocks noChangeArrowheads="1"/>
              </p:cNvSpPr>
              <p:nvPr userDrawn="1"/>
            </p:nvSpPr>
            <p:spPr bwMode="auto">
              <a:xfrm flipV="1">
                <a:off x="473246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19" name="Oval 891"/>
              <p:cNvSpPr>
                <a:spLocks noChangeArrowheads="1"/>
              </p:cNvSpPr>
              <p:nvPr userDrawn="1"/>
            </p:nvSpPr>
            <p:spPr bwMode="auto">
              <a:xfrm flipV="1">
                <a:off x="4832837"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0" name="Oval 892"/>
              <p:cNvSpPr>
                <a:spLocks noChangeArrowheads="1"/>
              </p:cNvSpPr>
              <p:nvPr userDrawn="1"/>
            </p:nvSpPr>
            <p:spPr bwMode="auto">
              <a:xfrm flipV="1">
                <a:off x="4932319"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1" name="Oval 893"/>
              <p:cNvSpPr>
                <a:spLocks noChangeArrowheads="1"/>
              </p:cNvSpPr>
              <p:nvPr userDrawn="1"/>
            </p:nvSpPr>
            <p:spPr bwMode="auto">
              <a:xfrm flipV="1">
                <a:off x="5030913"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2" name="Oval 894"/>
              <p:cNvSpPr>
                <a:spLocks noChangeArrowheads="1"/>
              </p:cNvSpPr>
              <p:nvPr userDrawn="1"/>
            </p:nvSpPr>
            <p:spPr bwMode="auto">
              <a:xfrm flipV="1">
                <a:off x="513128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3" name="Oval 895"/>
              <p:cNvSpPr>
                <a:spLocks noChangeArrowheads="1"/>
              </p:cNvSpPr>
              <p:nvPr userDrawn="1"/>
            </p:nvSpPr>
            <p:spPr bwMode="auto">
              <a:xfrm flipV="1">
                <a:off x="5229878"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4" name="Oval 896"/>
              <p:cNvSpPr>
                <a:spLocks noChangeArrowheads="1"/>
              </p:cNvSpPr>
              <p:nvPr userDrawn="1"/>
            </p:nvSpPr>
            <p:spPr bwMode="auto">
              <a:xfrm flipV="1">
                <a:off x="5329360"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5" name="Oval 897"/>
              <p:cNvSpPr>
                <a:spLocks noChangeArrowheads="1"/>
              </p:cNvSpPr>
              <p:nvPr userDrawn="1"/>
            </p:nvSpPr>
            <p:spPr bwMode="auto">
              <a:xfrm flipV="1">
                <a:off x="5429730"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6" name="Oval 898"/>
              <p:cNvSpPr>
                <a:spLocks noChangeArrowheads="1"/>
              </p:cNvSpPr>
              <p:nvPr userDrawn="1"/>
            </p:nvSpPr>
            <p:spPr bwMode="auto">
              <a:xfrm flipV="1">
                <a:off x="5528324"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7" name="Oval 899"/>
              <p:cNvSpPr>
                <a:spLocks noChangeArrowheads="1"/>
              </p:cNvSpPr>
              <p:nvPr userDrawn="1"/>
            </p:nvSpPr>
            <p:spPr bwMode="auto">
              <a:xfrm flipV="1">
                <a:off x="5627807"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8" name="Oval 900"/>
              <p:cNvSpPr>
                <a:spLocks noChangeArrowheads="1"/>
              </p:cNvSpPr>
              <p:nvPr userDrawn="1"/>
            </p:nvSpPr>
            <p:spPr bwMode="auto">
              <a:xfrm flipV="1">
                <a:off x="5727289"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29" name="Oval 901"/>
              <p:cNvSpPr>
                <a:spLocks noChangeArrowheads="1"/>
              </p:cNvSpPr>
              <p:nvPr userDrawn="1"/>
            </p:nvSpPr>
            <p:spPr bwMode="auto">
              <a:xfrm flipV="1">
                <a:off x="5826771"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0" name="Oval 902"/>
              <p:cNvSpPr>
                <a:spLocks noChangeArrowheads="1"/>
              </p:cNvSpPr>
              <p:nvPr userDrawn="1"/>
            </p:nvSpPr>
            <p:spPr bwMode="auto">
              <a:xfrm flipV="1">
                <a:off x="5925365" y="672581"/>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1" name="Oval 903"/>
              <p:cNvSpPr>
                <a:spLocks noChangeArrowheads="1"/>
              </p:cNvSpPr>
              <p:nvPr userDrawn="1"/>
            </p:nvSpPr>
            <p:spPr bwMode="auto">
              <a:xfrm flipV="1">
                <a:off x="6025735" y="672581"/>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2" name="Oval 904"/>
              <p:cNvSpPr>
                <a:spLocks noChangeArrowheads="1"/>
              </p:cNvSpPr>
              <p:nvPr userDrawn="1"/>
            </p:nvSpPr>
            <p:spPr bwMode="auto">
              <a:xfrm flipV="1">
                <a:off x="6125218" y="672581"/>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3" name="Oval 905"/>
              <p:cNvSpPr>
                <a:spLocks noChangeArrowheads="1"/>
              </p:cNvSpPr>
              <p:nvPr userDrawn="1"/>
            </p:nvSpPr>
            <p:spPr bwMode="auto">
              <a:xfrm flipV="1">
                <a:off x="2746375"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4" name="Oval 906"/>
              <p:cNvSpPr>
                <a:spLocks noChangeArrowheads="1"/>
              </p:cNvSpPr>
              <p:nvPr userDrawn="1"/>
            </p:nvSpPr>
            <p:spPr bwMode="auto">
              <a:xfrm flipV="1">
                <a:off x="284496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5" name="Oval 907"/>
              <p:cNvSpPr>
                <a:spLocks noChangeArrowheads="1"/>
              </p:cNvSpPr>
              <p:nvPr userDrawn="1"/>
            </p:nvSpPr>
            <p:spPr bwMode="auto">
              <a:xfrm flipV="1">
                <a:off x="294356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6" name="Oval 908"/>
              <p:cNvSpPr>
                <a:spLocks noChangeArrowheads="1"/>
              </p:cNvSpPr>
              <p:nvPr userDrawn="1"/>
            </p:nvSpPr>
            <p:spPr bwMode="auto">
              <a:xfrm flipV="1">
                <a:off x="304393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7" name="Oval 909"/>
              <p:cNvSpPr>
                <a:spLocks noChangeArrowheads="1"/>
              </p:cNvSpPr>
              <p:nvPr userDrawn="1"/>
            </p:nvSpPr>
            <p:spPr bwMode="auto">
              <a:xfrm flipV="1">
                <a:off x="3143416"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8" name="Oval 910"/>
              <p:cNvSpPr>
                <a:spLocks noChangeArrowheads="1"/>
              </p:cNvSpPr>
              <p:nvPr userDrawn="1"/>
            </p:nvSpPr>
            <p:spPr bwMode="auto">
              <a:xfrm flipV="1">
                <a:off x="324201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39" name="Oval 911"/>
              <p:cNvSpPr>
                <a:spLocks noChangeArrowheads="1"/>
              </p:cNvSpPr>
              <p:nvPr userDrawn="1"/>
            </p:nvSpPr>
            <p:spPr bwMode="auto">
              <a:xfrm flipV="1">
                <a:off x="334238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0" name="Oval 912"/>
              <p:cNvSpPr>
                <a:spLocks noChangeArrowheads="1"/>
              </p:cNvSpPr>
              <p:nvPr userDrawn="1"/>
            </p:nvSpPr>
            <p:spPr bwMode="auto">
              <a:xfrm flipV="1">
                <a:off x="344097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1" name="Oval 913"/>
              <p:cNvSpPr>
                <a:spLocks noChangeArrowheads="1"/>
              </p:cNvSpPr>
              <p:nvPr userDrawn="1"/>
            </p:nvSpPr>
            <p:spPr bwMode="auto">
              <a:xfrm flipV="1">
                <a:off x="3540456"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2" name="Oval 914"/>
              <p:cNvSpPr>
                <a:spLocks noChangeArrowheads="1"/>
              </p:cNvSpPr>
              <p:nvPr userDrawn="1"/>
            </p:nvSpPr>
            <p:spPr bwMode="auto">
              <a:xfrm flipV="1">
                <a:off x="364082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3" name="Oval 915"/>
              <p:cNvSpPr>
                <a:spLocks noChangeArrowheads="1"/>
              </p:cNvSpPr>
              <p:nvPr userDrawn="1"/>
            </p:nvSpPr>
            <p:spPr bwMode="auto">
              <a:xfrm flipV="1">
                <a:off x="3739421"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4" name="Oval 916"/>
              <p:cNvSpPr>
                <a:spLocks noChangeArrowheads="1"/>
              </p:cNvSpPr>
              <p:nvPr userDrawn="1"/>
            </p:nvSpPr>
            <p:spPr bwMode="auto">
              <a:xfrm flipV="1">
                <a:off x="383801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5" name="Oval 917"/>
              <p:cNvSpPr>
                <a:spLocks noChangeArrowheads="1"/>
              </p:cNvSpPr>
              <p:nvPr userDrawn="1"/>
            </p:nvSpPr>
            <p:spPr bwMode="auto">
              <a:xfrm flipV="1">
                <a:off x="393838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6" name="Oval 918"/>
              <p:cNvSpPr>
                <a:spLocks noChangeArrowheads="1"/>
              </p:cNvSpPr>
              <p:nvPr userDrawn="1"/>
            </p:nvSpPr>
            <p:spPr bwMode="auto">
              <a:xfrm flipV="1">
                <a:off x="4037867"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7" name="Oval 919"/>
              <p:cNvSpPr>
                <a:spLocks noChangeArrowheads="1"/>
              </p:cNvSpPr>
              <p:nvPr userDrawn="1"/>
            </p:nvSpPr>
            <p:spPr bwMode="auto">
              <a:xfrm flipV="1">
                <a:off x="4136461"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8" name="Oval 920"/>
              <p:cNvSpPr>
                <a:spLocks noChangeArrowheads="1"/>
              </p:cNvSpPr>
              <p:nvPr userDrawn="1"/>
            </p:nvSpPr>
            <p:spPr bwMode="auto">
              <a:xfrm flipV="1">
                <a:off x="4236832"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49" name="Oval 921"/>
              <p:cNvSpPr>
                <a:spLocks noChangeArrowheads="1"/>
              </p:cNvSpPr>
              <p:nvPr userDrawn="1"/>
            </p:nvSpPr>
            <p:spPr bwMode="auto">
              <a:xfrm flipV="1">
                <a:off x="4335426"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0" name="Oval 922"/>
              <p:cNvSpPr>
                <a:spLocks noChangeArrowheads="1"/>
              </p:cNvSpPr>
              <p:nvPr userDrawn="1"/>
            </p:nvSpPr>
            <p:spPr bwMode="auto">
              <a:xfrm flipV="1">
                <a:off x="4434908"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1" name="Oval 923"/>
              <p:cNvSpPr>
                <a:spLocks noChangeArrowheads="1"/>
              </p:cNvSpPr>
              <p:nvPr userDrawn="1"/>
            </p:nvSpPr>
            <p:spPr bwMode="auto">
              <a:xfrm flipV="1">
                <a:off x="453527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2" name="Oval 924"/>
              <p:cNvSpPr>
                <a:spLocks noChangeArrowheads="1"/>
              </p:cNvSpPr>
              <p:nvPr userDrawn="1"/>
            </p:nvSpPr>
            <p:spPr bwMode="auto">
              <a:xfrm flipV="1">
                <a:off x="4633873"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3" name="Oval 925"/>
              <p:cNvSpPr>
                <a:spLocks noChangeArrowheads="1"/>
              </p:cNvSpPr>
              <p:nvPr userDrawn="1"/>
            </p:nvSpPr>
            <p:spPr bwMode="auto">
              <a:xfrm flipV="1">
                <a:off x="473246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4" name="Oval 926"/>
              <p:cNvSpPr>
                <a:spLocks noChangeArrowheads="1"/>
              </p:cNvSpPr>
              <p:nvPr userDrawn="1"/>
            </p:nvSpPr>
            <p:spPr bwMode="auto">
              <a:xfrm flipV="1">
                <a:off x="4832837"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5" name="Oval 927"/>
              <p:cNvSpPr>
                <a:spLocks noChangeArrowheads="1"/>
              </p:cNvSpPr>
              <p:nvPr userDrawn="1"/>
            </p:nvSpPr>
            <p:spPr bwMode="auto">
              <a:xfrm flipV="1">
                <a:off x="4932319"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6" name="Oval 928"/>
              <p:cNvSpPr>
                <a:spLocks noChangeArrowheads="1"/>
              </p:cNvSpPr>
              <p:nvPr userDrawn="1"/>
            </p:nvSpPr>
            <p:spPr bwMode="auto">
              <a:xfrm flipV="1">
                <a:off x="5030913"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7" name="Oval 929"/>
              <p:cNvSpPr>
                <a:spLocks noChangeArrowheads="1"/>
              </p:cNvSpPr>
              <p:nvPr userDrawn="1"/>
            </p:nvSpPr>
            <p:spPr bwMode="auto">
              <a:xfrm flipV="1">
                <a:off x="513128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8" name="Oval 930"/>
              <p:cNvSpPr>
                <a:spLocks noChangeArrowheads="1"/>
              </p:cNvSpPr>
              <p:nvPr userDrawn="1"/>
            </p:nvSpPr>
            <p:spPr bwMode="auto">
              <a:xfrm flipV="1">
                <a:off x="5229878"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59" name="Oval 931"/>
              <p:cNvSpPr>
                <a:spLocks noChangeArrowheads="1"/>
              </p:cNvSpPr>
              <p:nvPr userDrawn="1"/>
            </p:nvSpPr>
            <p:spPr bwMode="auto">
              <a:xfrm flipV="1">
                <a:off x="5329360"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0" name="Oval 932"/>
              <p:cNvSpPr>
                <a:spLocks noChangeArrowheads="1"/>
              </p:cNvSpPr>
              <p:nvPr userDrawn="1"/>
            </p:nvSpPr>
            <p:spPr bwMode="auto">
              <a:xfrm flipV="1">
                <a:off x="5429730"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1" name="Oval 933"/>
              <p:cNvSpPr>
                <a:spLocks noChangeArrowheads="1"/>
              </p:cNvSpPr>
              <p:nvPr userDrawn="1"/>
            </p:nvSpPr>
            <p:spPr bwMode="auto">
              <a:xfrm flipV="1">
                <a:off x="5528324"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2" name="Oval 934"/>
              <p:cNvSpPr>
                <a:spLocks noChangeArrowheads="1"/>
              </p:cNvSpPr>
              <p:nvPr userDrawn="1"/>
            </p:nvSpPr>
            <p:spPr bwMode="auto">
              <a:xfrm flipV="1">
                <a:off x="5627807"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3" name="Oval 935"/>
              <p:cNvSpPr>
                <a:spLocks noChangeArrowheads="1"/>
              </p:cNvSpPr>
              <p:nvPr userDrawn="1"/>
            </p:nvSpPr>
            <p:spPr bwMode="auto">
              <a:xfrm flipV="1">
                <a:off x="5727289"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4" name="Oval 936"/>
              <p:cNvSpPr>
                <a:spLocks noChangeArrowheads="1"/>
              </p:cNvSpPr>
              <p:nvPr userDrawn="1"/>
            </p:nvSpPr>
            <p:spPr bwMode="auto">
              <a:xfrm flipV="1">
                <a:off x="5826771"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5" name="Oval 937"/>
              <p:cNvSpPr>
                <a:spLocks noChangeArrowheads="1"/>
              </p:cNvSpPr>
              <p:nvPr userDrawn="1"/>
            </p:nvSpPr>
            <p:spPr bwMode="auto">
              <a:xfrm flipV="1">
                <a:off x="5925365" y="570435"/>
                <a:ext cx="10659"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6" name="Oval 938"/>
              <p:cNvSpPr>
                <a:spLocks noChangeArrowheads="1"/>
              </p:cNvSpPr>
              <p:nvPr userDrawn="1"/>
            </p:nvSpPr>
            <p:spPr bwMode="auto">
              <a:xfrm flipV="1">
                <a:off x="6025735" y="570435"/>
                <a:ext cx="9771"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67" name="Oval 939"/>
              <p:cNvSpPr>
                <a:spLocks noChangeArrowheads="1"/>
              </p:cNvSpPr>
              <p:nvPr userDrawn="1"/>
            </p:nvSpPr>
            <p:spPr bwMode="auto">
              <a:xfrm flipV="1">
                <a:off x="6125218" y="570435"/>
                <a:ext cx="8882" cy="977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grpSp>
          <p:nvGrpSpPr>
            <p:cNvPr id="2069" name="Groupe 2068"/>
            <p:cNvGrpSpPr/>
            <p:nvPr userDrawn="1"/>
          </p:nvGrpSpPr>
          <p:grpSpPr>
            <a:xfrm>
              <a:off x="553803" y="5725601"/>
              <a:ext cx="3679737" cy="10613"/>
              <a:chOff x="553803" y="5725601"/>
              <a:chExt cx="3679737" cy="10613"/>
            </a:xfrm>
          </p:grpSpPr>
          <p:sp>
            <p:nvSpPr>
              <p:cNvPr id="2034" name="Oval 905"/>
              <p:cNvSpPr>
                <a:spLocks noChangeArrowheads="1"/>
              </p:cNvSpPr>
              <p:nvPr userDrawn="1"/>
            </p:nvSpPr>
            <p:spPr bwMode="auto">
              <a:xfrm flipV="1">
                <a:off x="553803"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35" name="Oval 906"/>
              <p:cNvSpPr>
                <a:spLocks noChangeArrowheads="1"/>
              </p:cNvSpPr>
              <p:nvPr userDrawn="1"/>
            </p:nvSpPr>
            <p:spPr bwMode="auto">
              <a:xfrm flipV="1">
                <a:off x="660896"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36" name="Oval 907"/>
              <p:cNvSpPr>
                <a:spLocks noChangeArrowheads="1"/>
              </p:cNvSpPr>
              <p:nvPr userDrawn="1"/>
            </p:nvSpPr>
            <p:spPr bwMode="auto">
              <a:xfrm flipV="1">
                <a:off x="767988"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37" name="Oval 908"/>
              <p:cNvSpPr>
                <a:spLocks noChangeArrowheads="1"/>
              </p:cNvSpPr>
              <p:nvPr userDrawn="1"/>
            </p:nvSpPr>
            <p:spPr bwMode="auto">
              <a:xfrm flipV="1">
                <a:off x="877010"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38" name="Oval 909"/>
              <p:cNvSpPr>
                <a:spLocks noChangeArrowheads="1"/>
              </p:cNvSpPr>
              <p:nvPr userDrawn="1"/>
            </p:nvSpPr>
            <p:spPr bwMode="auto">
              <a:xfrm flipV="1">
                <a:off x="985068"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39" name="Oval 910"/>
              <p:cNvSpPr>
                <a:spLocks noChangeArrowheads="1"/>
              </p:cNvSpPr>
              <p:nvPr userDrawn="1"/>
            </p:nvSpPr>
            <p:spPr bwMode="auto">
              <a:xfrm flipV="1">
                <a:off x="1092160"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0" name="Oval 911"/>
              <p:cNvSpPr>
                <a:spLocks noChangeArrowheads="1"/>
              </p:cNvSpPr>
              <p:nvPr userDrawn="1"/>
            </p:nvSpPr>
            <p:spPr bwMode="auto">
              <a:xfrm flipV="1">
                <a:off x="1201182"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1" name="Oval 912"/>
              <p:cNvSpPr>
                <a:spLocks noChangeArrowheads="1"/>
              </p:cNvSpPr>
              <p:nvPr userDrawn="1"/>
            </p:nvSpPr>
            <p:spPr bwMode="auto">
              <a:xfrm flipV="1">
                <a:off x="1308274"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2" name="Oval 913"/>
              <p:cNvSpPr>
                <a:spLocks noChangeArrowheads="1"/>
              </p:cNvSpPr>
              <p:nvPr userDrawn="1"/>
            </p:nvSpPr>
            <p:spPr bwMode="auto">
              <a:xfrm flipV="1">
                <a:off x="1416331"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3" name="Oval 914"/>
              <p:cNvSpPr>
                <a:spLocks noChangeArrowheads="1"/>
              </p:cNvSpPr>
              <p:nvPr userDrawn="1"/>
            </p:nvSpPr>
            <p:spPr bwMode="auto">
              <a:xfrm flipV="1">
                <a:off x="1525354"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4" name="Oval 915"/>
              <p:cNvSpPr>
                <a:spLocks noChangeArrowheads="1"/>
              </p:cNvSpPr>
              <p:nvPr userDrawn="1"/>
            </p:nvSpPr>
            <p:spPr bwMode="auto">
              <a:xfrm flipV="1">
                <a:off x="1632447"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5" name="Oval 916"/>
              <p:cNvSpPr>
                <a:spLocks noChangeArrowheads="1"/>
              </p:cNvSpPr>
              <p:nvPr userDrawn="1"/>
            </p:nvSpPr>
            <p:spPr bwMode="auto">
              <a:xfrm flipV="1">
                <a:off x="1739539"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6" name="Oval 917"/>
              <p:cNvSpPr>
                <a:spLocks noChangeArrowheads="1"/>
              </p:cNvSpPr>
              <p:nvPr userDrawn="1"/>
            </p:nvSpPr>
            <p:spPr bwMode="auto">
              <a:xfrm flipV="1">
                <a:off x="1848561"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7" name="Oval 918"/>
              <p:cNvSpPr>
                <a:spLocks noChangeArrowheads="1"/>
              </p:cNvSpPr>
              <p:nvPr userDrawn="1"/>
            </p:nvSpPr>
            <p:spPr bwMode="auto">
              <a:xfrm flipV="1">
                <a:off x="1956618"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8" name="Oval 919"/>
              <p:cNvSpPr>
                <a:spLocks noChangeArrowheads="1"/>
              </p:cNvSpPr>
              <p:nvPr userDrawn="1"/>
            </p:nvSpPr>
            <p:spPr bwMode="auto">
              <a:xfrm flipV="1">
                <a:off x="2063710"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49" name="Oval 920"/>
              <p:cNvSpPr>
                <a:spLocks noChangeArrowheads="1"/>
              </p:cNvSpPr>
              <p:nvPr userDrawn="1"/>
            </p:nvSpPr>
            <p:spPr bwMode="auto">
              <a:xfrm flipV="1">
                <a:off x="2172733"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0" name="Oval 921"/>
              <p:cNvSpPr>
                <a:spLocks noChangeArrowheads="1"/>
              </p:cNvSpPr>
              <p:nvPr userDrawn="1"/>
            </p:nvSpPr>
            <p:spPr bwMode="auto">
              <a:xfrm flipV="1">
                <a:off x="2279826"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1" name="Oval 922"/>
              <p:cNvSpPr>
                <a:spLocks noChangeArrowheads="1"/>
              </p:cNvSpPr>
              <p:nvPr userDrawn="1"/>
            </p:nvSpPr>
            <p:spPr bwMode="auto">
              <a:xfrm flipV="1">
                <a:off x="2387883"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2" name="Oval 923"/>
              <p:cNvSpPr>
                <a:spLocks noChangeArrowheads="1"/>
              </p:cNvSpPr>
              <p:nvPr userDrawn="1"/>
            </p:nvSpPr>
            <p:spPr bwMode="auto">
              <a:xfrm flipV="1">
                <a:off x="2496905"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3" name="Oval 924"/>
              <p:cNvSpPr>
                <a:spLocks noChangeArrowheads="1"/>
              </p:cNvSpPr>
              <p:nvPr userDrawn="1"/>
            </p:nvSpPr>
            <p:spPr bwMode="auto">
              <a:xfrm flipV="1">
                <a:off x="2603998"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4" name="Oval 925"/>
              <p:cNvSpPr>
                <a:spLocks noChangeArrowheads="1"/>
              </p:cNvSpPr>
              <p:nvPr userDrawn="1"/>
            </p:nvSpPr>
            <p:spPr bwMode="auto">
              <a:xfrm flipV="1">
                <a:off x="2711090"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5" name="Oval 926"/>
              <p:cNvSpPr>
                <a:spLocks noChangeArrowheads="1"/>
              </p:cNvSpPr>
              <p:nvPr userDrawn="1"/>
            </p:nvSpPr>
            <p:spPr bwMode="auto">
              <a:xfrm flipV="1">
                <a:off x="2820112"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6" name="Oval 927"/>
              <p:cNvSpPr>
                <a:spLocks noChangeArrowheads="1"/>
              </p:cNvSpPr>
              <p:nvPr userDrawn="1"/>
            </p:nvSpPr>
            <p:spPr bwMode="auto">
              <a:xfrm flipV="1">
                <a:off x="2928169"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7" name="Oval 928"/>
              <p:cNvSpPr>
                <a:spLocks noChangeArrowheads="1"/>
              </p:cNvSpPr>
              <p:nvPr userDrawn="1"/>
            </p:nvSpPr>
            <p:spPr bwMode="auto">
              <a:xfrm flipV="1">
                <a:off x="3035262"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8" name="Oval 929"/>
              <p:cNvSpPr>
                <a:spLocks noChangeArrowheads="1"/>
              </p:cNvSpPr>
              <p:nvPr userDrawn="1"/>
            </p:nvSpPr>
            <p:spPr bwMode="auto">
              <a:xfrm flipV="1">
                <a:off x="3144284"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59" name="Oval 930"/>
              <p:cNvSpPr>
                <a:spLocks noChangeArrowheads="1"/>
              </p:cNvSpPr>
              <p:nvPr userDrawn="1"/>
            </p:nvSpPr>
            <p:spPr bwMode="auto">
              <a:xfrm flipV="1">
                <a:off x="3251377"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0" name="Oval 931"/>
              <p:cNvSpPr>
                <a:spLocks noChangeArrowheads="1"/>
              </p:cNvSpPr>
              <p:nvPr userDrawn="1"/>
            </p:nvSpPr>
            <p:spPr bwMode="auto">
              <a:xfrm flipV="1">
                <a:off x="3359434"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1" name="Oval 932"/>
              <p:cNvSpPr>
                <a:spLocks noChangeArrowheads="1"/>
              </p:cNvSpPr>
              <p:nvPr userDrawn="1"/>
            </p:nvSpPr>
            <p:spPr bwMode="auto">
              <a:xfrm flipV="1">
                <a:off x="3468455"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2" name="Oval 933"/>
              <p:cNvSpPr>
                <a:spLocks noChangeArrowheads="1"/>
              </p:cNvSpPr>
              <p:nvPr userDrawn="1"/>
            </p:nvSpPr>
            <p:spPr bwMode="auto">
              <a:xfrm flipV="1">
                <a:off x="3575548"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3" name="Oval 934"/>
              <p:cNvSpPr>
                <a:spLocks noChangeArrowheads="1"/>
              </p:cNvSpPr>
              <p:nvPr userDrawn="1"/>
            </p:nvSpPr>
            <p:spPr bwMode="auto">
              <a:xfrm flipV="1">
                <a:off x="3683606"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4" name="Oval 935"/>
              <p:cNvSpPr>
                <a:spLocks noChangeArrowheads="1"/>
              </p:cNvSpPr>
              <p:nvPr userDrawn="1"/>
            </p:nvSpPr>
            <p:spPr bwMode="auto">
              <a:xfrm flipV="1">
                <a:off x="3791663"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5" name="Oval 936"/>
              <p:cNvSpPr>
                <a:spLocks noChangeArrowheads="1"/>
              </p:cNvSpPr>
              <p:nvPr userDrawn="1"/>
            </p:nvSpPr>
            <p:spPr bwMode="auto">
              <a:xfrm flipV="1">
                <a:off x="3899720"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6" name="Oval 937"/>
              <p:cNvSpPr>
                <a:spLocks noChangeArrowheads="1"/>
              </p:cNvSpPr>
              <p:nvPr userDrawn="1"/>
            </p:nvSpPr>
            <p:spPr bwMode="auto">
              <a:xfrm flipV="1">
                <a:off x="4006813"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7" name="Oval 938"/>
              <p:cNvSpPr>
                <a:spLocks noChangeArrowheads="1"/>
              </p:cNvSpPr>
              <p:nvPr userDrawn="1"/>
            </p:nvSpPr>
            <p:spPr bwMode="auto">
              <a:xfrm flipV="1">
                <a:off x="4115834"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68" name="Oval 939"/>
              <p:cNvSpPr>
                <a:spLocks noChangeArrowheads="1"/>
              </p:cNvSpPr>
              <p:nvPr userDrawn="1"/>
            </p:nvSpPr>
            <p:spPr bwMode="auto">
              <a:xfrm flipV="1">
                <a:off x="4223892"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2139" name="Oval 870"/>
            <p:cNvSpPr>
              <a:spLocks noChangeArrowheads="1"/>
            </p:cNvSpPr>
            <p:nvPr userDrawn="1"/>
          </p:nvSpPr>
          <p:spPr bwMode="auto">
            <a:xfrm flipV="1">
              <a:off x="4319658" y="65550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0" name="Oval 871"/>
            <p:cNvSpPr>
              <a:spLocks noChangeArrowheads="1"/>
            </p:cNvSpPr>
            <p:nvPr userDrawn="1"/>
          </p:nvSpPr>
          <p:spPr bwMode="auto">
            <a:xfrm flipV="1">
              <a:off x="4426751" y="65550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1" name="Oval 872"/>
            <p:cNvSpPr>
              <a:spLocks noChangeArrowheads="1"/>
            </p:cNvSpPr>
            <p:nvPr userDrawn="1"/>
          </p:nvSpPr>
          <p:spPr bwMode="auto">
            <a:xfrm flipV="1">
              <a:off x="4533843" y="65550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2" name="Oval 873"/>
            <p:cNvSpPr>
              <a:spLocks noChangeArrowheads="1"/>
            </p:cNvSpPr>
            <p:nvPr userDrawn="1"/>
          </p:nvSpPr>
          <p:spPr bwMode="auto">
            <a:xfrm flipV="1">
              <a:off x="4642865" y="65550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3" name="Oval 874"/>
            <p:cNvSpPr>
              <a:spLocks noChangeArrowheads="1"/>
            </p:cNvSpPr>
            <p:nvPr userDrawn="1"/>
          </p:nvSpPr>
          <p:spPr bwMode="auto">
            <a:xfrm flipV="1">
              <a:off x="4750923" y="65550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4" name="Oval 875"/>
            <p:cNvSpPr>
              <a:spLocks noChangeArrowheads="1"/>
            </p:cNvSpPr>
            <p:nvPr userDrawn="1"/>
          </p:nvSpPr>
          <p:spPr bwMode="auto">
            <a:xfrm flipV="1">
              <a:off x="4858015" y="65550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5" name="Oval 876"/>
            <p:cNvSpPr>
              <a:spLocks noChangeArrowheads="1"/>
            </p:cNvSpPr>
            <p:nvPr userDrawn="1"/>
          </p:nvSpPr>
          <p:spPr bwMode="auto">
            <a:xfrm flipV="1">
              <a:off x="4967038" y="65550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6" name="Oval 877"/>
            <p:cNvSpPr>
              <a:spLocks noChangeArrowheads="1"/>
            </p:cNvSpPr>
            <p:nvPr userDrawn="1"/>
          </p:nvSpPr>
          <p:spPr bwMode="auto">
            <a:xfrm flipV="1">
              <a:off x="5074129" y="65550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47" name="Oval 878"/>
            <p:cNvSpPr>
              <a:spLocks noChangeArrowheads="1"/>
            </p:cNvSpPr>
            <p:nvPr userDrawn="1"/>
          </p:nvSpPr>
          <p:spPr bwMode="auto">
            <a:xfrm flipV="1">
              <a:off x="5182187" y="65550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4" name="Oval 905"/>
            <p:cNvSpPr>
              <a:spLocks noChangeArrowheads="1"/>
            </p:cNvSpPr>
            <p:nvPr userDrawn="1"/>
          </p:nvSpPr>
          <p:spPr bwMode="auto">
            <a:xfrm flipV="1">
              <a:off x="4319659" y="54455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5" name="Oval 906"/>
            <p:cNvSpPr>
              <a:spLocks noChangeArrowheads="1"/>
            </p:cNvSpPr>
            <p:nvPr userDrawn="1"/>
          </p:nvSpPr>
          <p:spPr bwMode="auto">
            <a:xfrm flipV="1">
              <a:off x="4426753" y="54455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6" name="Oval 907"/>
            <p:cNvSpPr>
              <a:spLocks noChangeArrowheads="1"/>
            </p:cNvSpPr>
            <p:nvPr userDrawn="1"/>
          </p:nvSpPr>
          <p:spPr bwMode="auto">
            <a:xfrm flipV="1">
              <a:off x="4533845" y="54455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7" name="Oval 908"/>
            <p:cNvSpPr>
              <a:spLocks noChangeArrowheads="1"/>
            </p:cNvSpPr>
            <p:nvPr userDrawn="1"/>
          </p:nvSpPr>
          <p:spPr bwMode="auto">
            <a:xfrm flipV="1">
              <a:off x="4642867" y="54455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8" name="Oval 909"/>
            <p:cNvSpPr>
              <a:spLocks noChangeArrowheads="1"/>
            </p:cNvSpPr>
            <p:nvPr userDrawn="1"/>
          </p:nvSpPr>
          <p:spPr bwMode="auto">
            <a:xfrm flipV="1">
              <a:off x="4750926" y="54455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79" name="Oval 910"/>
            <p:cNvSpPr>
              <a:spLocks noChangeArrowheads="1"/>
            </p:cNvSpPr>
            <p:nvPr userDrawn="1"/>
          </p:nvSpPr>
          <p:spPr bwMode="auto">
            <a:xfrm flipV="1">
              <a:off x="4858018" y="54455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80" name="Oval 911"/>
            <p:cNvSpPr>
              <a:spLocks noChangeArrowheads="1"/>
            </p:cNvSpPr>
            <p:nvPr userDrawn="1"/>
          </p:nvSpPr>
          <p:spPr bwMode="auto">
            <a:xfrm flipV="1">
              <a:off x="4967042" y="54455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81" name="Oval 912"/>
            <p:cNvSpPr>
              <a:spLocks noChangeArrowheads="1"/>
            </p:cNvSpPr>
            <p:nvPr userDrawn="1"/>
          </p:nvSpPr>
          <p:spPr bwMode="auto">
            <a:xfrm flipV="1">
              <a:off x="5074131" y="54455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82" name="Oval 913"/>
            <p:cNvSpPr>
              <a:spLocks noChangeArrowheads="1"/>
            </p:cNvSpPr>
            <p:nvPr userDrawn="1"/>
          </p:nvSpPr>
          <p:spPr bwMode="auto">
            <a:xfrm flipV="1">
              <a:off x="5182188" y="54455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0" name="Oval 870"/>
            <p:cNvSpPr>
              <a:spLocks noChangeArrowheads="1"/>
            </p:cNvSpPr>
            <p:nvPr userDrawn="1"/>
          </p:nvSpPr>
          <p:spPr bwMode="auto">
            <a:xfrm flipV="1">
              <a:off x="4319658" y="87168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1" name="Oval 871"/>
            <p:cNvSpPr>
              <a:spLocks noChangeArrowheads="1"/>
            </p:cNvSpPr>
            <p:nvPr userDrawn="1"/>
          </p:nvSpPr>
          <p:spPr bwMode="auto">
            <a:xfrm flipV="1">
              <a:off x="4426751" y="87168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2" name="Oval 872"/>
            <p:cNvSpPr>
              <a:spLocks noChangeArrowheads="1"/>
            </p:cNvSpPr>
            <p:nvPr userDrawn="1"/>
          </p:nvSpPr>
          <p:spPr bwMode="auto">
            <a:xfrm flipV="1">
              <a:off x="4533843" y="87168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3" name="Oval 873"/>
            <p:cNvSpPr>
              <a:spLocks noChangeArrowheads="1"/>
            </p:cNvSpPr>
            <p:nvPr userDrawn="1"/>
          </p:nvSpPr>
          <p:spPr bwMode="auto">
            <a:xfrm flipV="1">
              <a:off x="4642865" y="87168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4" name="Oval 874"/>
            <p:cNvSpPr>
              <a:spLocks noChangeArrowheads="1"/>
            </p:cNvSpPr>
            <p:nvPr userDrawn="1"/>
          </p:nvSpPr>
          <p:spPr bwMode="auto">
            <a:xfrm flipV="1">
              <a:off x="4750923" y="87168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5" name="Oval 875"/>
            <p:cNvSpPr>
              <a:spLocks noChangeArrowheads="1"/>
            </p:cNvSpPr>
            <p:nvPr userDrawn="1"/>
          </p:nvSpPr>
          <p:spPr bwMode="auto">
            <a:xfrm flipV="1">
              <a:off x="4858015" y="87168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6" name="Oval 876"/>
            <p:cNvSpPr>
              <a:spLocks noChangeArrowheads="1"/>
            </p:cNvSpPr>
            <p:nvPr userDrawn="1"/>
          </p:nvSpPr>
          <p:spPr bwMode="auto">
            <a:xfrm flipV="1">
              <a:off x="4967038" y="87168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7" name="Oval 877"/>
            <p:cNvSpPr>
              <a:spLocks noChangeArrowheads="1"/>
            </p:cNvSpPr>
            <p:nvPr userDrawn="1"/>
          </p:nvSpPr>
          <p:spPr bwMode="auto">
            <a:xfrm flipV="1">
              <a:off x="5074129" y="87168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18" name="Oval 878"/>
            <p:cNvSpPr>
              <a:spLocks noChangeArrowheads="1"/>
            </p:cNvSpPr>
            <p:nvPr userDrawn="1"/>
          </p:nvSpPr>
          <p:spPr bwMode="auto">
            <a:xfrm flipV="1">
              <a:off x="5182187" y="87168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5" name="Oval 905"/>
            <p:cNvSpPr>
              <a:spLocks noChangeArrowheads="1"/>
            </p:cNvSpPr>
            <p:nvPr userDrawn="1"/>
          </p:nvSpPr>
          <p:spPr bwMode="auto">
            <a:xfrm flipV="1">
              <a:off x="4319659" y="76073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6" name="Oval 906"/>
            <p:cNvSpPr>
              <a:spLocks noChangeArrowheads="1"/>
            </p:cNvSpPr>
            <p:nvPr userDrawn="1"/>
          </p:nvSpPr>
          <p:spPr bwMode="auto">
            <a:xfrm flipV="1">
              <a:off x="4426753" y="76073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7" name="Oval 907"/>
            <p:cNvSpPr>
              <a:spLocks noChangeArrowheads="1"/>
            </p:cNvSpPr>
            <p:nvPr userDrawn="1"/>
          </p:nvSpPr>
          <p:spPr bwMode="auto">
            <a:xfrm flipV="1">
              <a:off x="4533845" y="76073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8" name="Oval 908"/>
            <p:cNvSpPr>
              <a:spLocks noChangeArrowheads="1"/>
            </p:cNvSpPr>
            <p:nvPr userDrawn="1"/>
          </p:nvSpPr>
          <p:spPr bwMode="auto">
            <a:xfrm flipV="1">
              <a:off x="4642867" y="76073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49" name="Oval 909"/>
            <p:cNvSpPr>
              <a:spLocks noChangeArrowheads="1"/>
            </p:cNvSpPr>
            <p:nvPr userDrawn="1"/>
          </p:nvSpPr>
          <p:spPr bwMode="auto">
            <a:xfrm flipV="1">
              <a:off x="4750926" y="76073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50" name="Oval 910"/>
            <p:cNvSpPr>
              <a:spLocks noChangeArrowheads="1"/>
            </p:cNvSpPr>
            <p:nvPr userDrawn="1"/>
          </p:nvSpPr>
          <p:spPr bwMode="auto">
            <a:xfrm flipV="1">
              <a:off x="4858018" y="76073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51" name="Oval 911"/>
            <p:cNvSpPr>
              <a:spLocks noChangeArrowheads="1"/>
            </p:cNvSpPr>
            <p:nvPr userDrawn="1"/>
          </p:nvSpPr>
          <p:spPr bwMode="auto">
            <a:xfrm flipV="1">
              <a:off x="4967042" y="76073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52" name="Oval 912"/>
            <p:cNvSpPr>
              <a:spLocks noChangeArrowheads="1"/>
            </p:cNvSpPr>
            <p:nvPr userDrawn="1"/>
          </p:nvSpPr>
          <p:spPr bwMode="auto">
            <a:xfrm flipV="1">
              <a:off x="5074131" y="76073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53" name="Oval 913"/>
            <p:cNvSpPr>
              <a:spLocks noChangeArrowheads="1"/>
            </p:cNvSpPr>
            <p:nvPr userDrawn="1"/>
          </p:nvSpPr>
          <p:spPr bwMode="auto">
            <a:xfrm flipV="1">
              <a:off x="5182188" y="76073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1" name="Oval 870"/>
            <p:cNvSpPr>
              <a:spLocks noChangeArrowheads="1"/>
            </p:cNvSpPr>
            <p:nvPr userDrawn="1"/>
          </p:nvSpPr>
          <p:spPr bwMode="auto">
            <a:xfrm flipV="1">
              <a:off x="4319658" y="108786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2" name="Oval 871"/>
            <p:cNvSpPr>
              <a:spLocks noChangeArrowheads="1"/>
            </p:cNvSpPr>
            <p:nvPr userDrawn="1"/>
          </p:nvSpPr>
          <p:spPr bwMode="auto">
            <a:xfrm flipV="1">
              <a:off x="4426751" y="108786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3" name="Oval 872"/>
            <p:cNvSpPr>
              <a:spLocks noChangeArrowheads="1"/>
            </p:cNvSpPr>
            <p:nvPr userDrawn="1"/>
          </p:nvSpPr>
          <p:spPr bwMode="auto">
            <a:xfrm flipV="1">
              <a:off x="4533843" y="108786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4" name="Oval 873"/>
            <p:cNvSpPr>
              <a:spLocks noChangeArrowheads="1"/>
            </p:cNvSpPr>
            <p:nvPr userDrawn="1"/>
          </p:nvSpPr>
          <p:spPr bwMode="auto">
            <a:xfrm flipV="1">
              <a:off x="4642865" y="108786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5" name="Oval 874"/>
            <p:cNvSpPr>
              <a:spLocks noChangeArrowheads="1"/>
            </p:cNvSpPr>
            <p:nvPr userDrawn="1"/>
          </p:nvSpPr>
          <p:spPr bwMode="auto">
            <a:xfrm flipV="1">
              <a:off x="4750923" y="108786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6" name="Oval 875"/>
            <p:cNvSpPr>
              <a:spLocks noChangeArrowheads="1"/>
            </p:cNvSpPr>
            <p:nvPr userDrawn="1"/>
          </p:nvSpPr>
          <p:spPr bwMode="auto">
            <a:xfrm flipV="1">
              <a:off x="4858015" y="108786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7" name="Oval 876"/>
            <p:cNvSpPr>
              <a:spLocks noChangeArrowheads="1"/>
            </p:cNvSpPr>
            <p:nvPr userDrawn="1"/>
          </p:nvSpPr>
          <p:spPr bwMode="auto">
            <a:xfrm flipV="1">
              <a:off x="4967038" y="108786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8" name="Oval 877"/>
            <p:cNvSpPr>
              <a:spLocks noChangeArrowheads="1"/>
            </p:cNvSpPr>
            <p:nvPr userDrawn="1"/>
          </p:nvSpPr>
          <p:spPr bwMode="auto">
            <a:xfrm flipV="1">
              <a:off x="5074129" y="108786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89" name="Oval 878"/>
            <p:cNvSpPr>
              <a:spLocks noChangeArrowheads="1"/>
            </p:cNvSpPr>
            <p:nvPr userDrawn="1"/>
          </p:nvSpPr>
          <p:spPr bwMode="auto">
            <a:xfrm flipV="1">
              <a:off x="5182187" y="108786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16" name="Oval 905"/>
            <p:cNvSpPr>
              <a:spLocks noChangeArrowheads="1"/>
            </p:cNvSpPr>
            <p:nvPr userDrawn="1"/>
          </p:nvSpPr>
          <p:spPr bwMode="auto">
            <a:xfrm flipV="1">
              <a:off x="4319659" y="97691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17" name="Oval 906"/>
            <p:cNvSpPr>
              <a:spLocks noChangeArrowheads="1"/>
            </p:cNvSpPr>
            <p:nvPr userDrawn="1"/>
          </p:nvSpPr>
          <p:spPr bwMode="auto">
            <a:xfrm flipV="1">
              <a:off x="4426753" y="97691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18" name="Oval 907"/>
            <p:cNvSpPr>
              <a:spLocks noChangeArrowheads="1"/>
            </p:cNvSpPr>
            <p:nvPr userDrawn="1"/>
          </p:nvSpPr>
          <p:spPr bwMode="auto">
            <a:xfrm flipV="1">
              <a:off x="4533845" y="97691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19" name="Oval 908"/>
            <p:cNvSpPr>
              <a:spLocks noChangeArrowheads="1"/>
            </p:cNvSpPr>
            <p:nvPr userDrawn="1"/>
          </p:nvSpPr>
          <p:spPr bwMode="auto">
            <a:xfrm flipV="1">
              <a:off x="4642867" y="97691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0" name="Oval 909"/>
            <p:cNvSpPr>
              <a:spLocks noChangeArrowheads="1"/>
            </p:cNvSpPr>
            <p:nvPr userDrawn="1"/>
          </p:nvSpPr>
          <p:spPr bwMode="auto">
            <a:xfrm flipV="1">
              <a:off x="4750926" y="97691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1" name="Oval 910"/>
            <p:cNvSpPr>
              <a:spLocks noChangeArrowheads="1"/>
            </p:cNvSpPr>
            <p:nvPr userDrawn="1"/>
          </p:nvSpPr>
          <p:spPr bwMode="auto">
            <a:xfrm flipV="1">
              <a:off x="4858018" y="97691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2" name="Oval 911"/>
            <p:cNvSpPr>
              <a:spLocks noChangeArrowheads="1"/>
            </p:cNvSpPr>
            <p:nvPr userDrawn="1"/>
          </p:nvSpPr>
          <p:spPr bwMode="auto">
            <a:xfrm flipV="1">
              <a:off x="4967042" y="97691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3" name="Oval 912"/>
            <p:cNvSpPr>
              <a:spLocks noChangeArrowheads="1"/>
            </p:cNvSpPr>
            <p:nvPr userDrawn="1"/>
          </p:nvSpPr>
          <p:spPr bwMode="auto">
            <a:xfrm flipV="1">
              <a:off x="5074131" y="97691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24" name="Oval 913"/>
            <p:cNvSpPr>
              <a:spLocks noChangeArrowheads="1"/>
            </p:cNvSpPr>
            <p:nvPr userDrawn="1"/>
          </p:nvSpPr>
          <p:spPr bwMode="auto">
            <a:xfrm flipV="1">
              <a:off x="5182188" y="97691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2" name="Oval 870"/>
            <p:cNvSpPr>
              <a:spLocks noChangeArrowheads="1"/>
            </p:cNvSpPr>
            <p:nvPr userDrawn="1"/>
          </p:nvSpPr>
          <p:spPr bwMode="auto">
            <a:xfrm flipV="1">
              <a:off x="4319658" y="130404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3" name="Oval 871"/>
            <p:cNvSpPr>
              <a:spLocks noChangeArrowheads="1"/>
            </p:cNvSpPr>
            <p:nvPr userDrawn="1"/>
          </p:nvSpPr>
          <p:spPr bwMode="auto">
            <a:xfrm flipV="1">
              <a:off x="4426751" y="130404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4" name="Oval 872"/>
            <p:cNvSpPr>
              <a:spLocks noChangeArrowheads="1"/>
            </p:cNvSpPr>
            <p:nvPr userDrawn="1"/>
          </p:nvSpPr>
          <p:spPr bwMode="auto">
            <a:xfrm flipV="1">
              <a:off x="4533843" y="130404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5" name="Oval 873"/>
            <p:cNvSpPr>
              <a:spLocks noChangeArrowheads="1"/>
            </p:cNvSpPr>
            <p:nvPr userDrawn="1"/>
          </p:nvSpPr>
          <p:spPr bwMode="auto">
            <a:xfrm flipV="1">
              <a:off x="4642865" y="130404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6" name="Oval 874"/>
            <p:cNvSpPr>
              <a:spLocks noChangeArrowheads="1"/>
            </p:cNvSpPr>
            <p:nvPr userDrawn="1"/>
          </p:nvSpPr>
          <p:spPr bwMode="auto">
            <a:xfrm flipV="1">
              <a:off x="4750923" y="130404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7" name="Oval 875"/>
            <p:cNvSpPr>
              <a:spLocks noChangeArrowheads="1"/>
            </p:cNvSpPr>
            <p:nvPr userDrawn="1"/>
          </p:nvSpPr>
          <p:spPr bwMode="auto">
            <a:xfrm flipV="1">
              <a:off x="4858015" y="130404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8" name="Oval 876"/>
            <p:cNvSpPr>
              <a:spLocks noChangeArrowheads="1"/>
            </p:cNvSpPr>
            <p:nvPr userDrawn="1"/>
          </p:nvSpPr>
          <p:spPr bwMode="auto">
            <a:xfrm flipV="1">
              <a:off x="4967038" y="130404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59" name="Oval 877"/>
            <p:cNvSpPr>
              <a:spLocks noChangeArrowheads="1"/>
            </p:cNvSpPr>
            <p:nvPr userDrawn="1"/>
          </p:nvSpPr>
          <p:spPr bwMode="auto">
            <a:xfrm flipV="1">
              <a:off x="5074129" y="130404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60" name="Oval 878"/>
            <p:cNvSpPr>
              <a:spLocks noChangeArrowheads="1"/>
            </p:cNvSpPr>
            <p:nvPr userDrawn="1"/>
          </p:nvSpPr>
          <p:spPr bwMode="auto">
            <a:xfrm flipV="1">
              <a:off x="5182187" y="130404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87" name="Oval 905"/>
            <p:cNvSpPr>
              <a:spLocks noChangeArrowheads="1"/>
            </p:cNvSpPr>
            <p:nvPr userDrawn="1"/>
          </p:nvSpPr>
          <p:spPr bwMode="auto">
            <a:xfrm flipV="1">
              <a:off x="4319659" y="119309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88" name="Oval 906"/>
            <p:cNvSpPr>
              <a:spLocks noChangeArrowheads="1"/>
            </p:cNvSpPr>
            <p:nvPr userDrawn="1"/>
          </p:nvSpPr>
          <p:spPr bwMode="auto">
            <a:xfrm flipV="1">
              <a:off x="4426753" y="119309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89" name="Oval 907"/>
            <p:cNvSpPr>
              <a:spLocks noChangeArrowheads="1"/>
            </p:cNvSpPr>
            <p:nvPr userDrawn="1"/>
          </p:nvSpPr>
          <p:spPr bwMode="auto">
            <a:xfrm flipV="1">
              <a:off x="4533845" y="119309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0" name="Oval 908"/>
            <p:cNvSpPr>
              <a:spLocks noChangeArrowheads="1"/>
            </p:cNvSpPr>
            <p:nvPr userDrawn="1"/>
          </p:nvSpPr>
          <p:spPr bwMode="auto">
            <a:xfrm flipV="1">
              <a:off x="4642867" y="119309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1" name="Oval 909"/>
            <p:cNvSpPr>
              <a:spLocks noChangeArrowheads="1"/>
            </p:cNvSpPr>
            <p:nvPr userDrawn="1"/>
          </p:nvSpPr>
          <p:spPr bwMode="auto">
            <a:xfrm flipV="1">
              <a:off x="4750926" y="119309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2" name="Oval 910"/>
            <p:cNvSpPr>
              <a:spLocks noChangeArrowheads="1"/>
            </p:cNvSpPr>
            <p:nvPr userDrawn="1"/>
          </p:nvSpPr>
          <p:spPr bwMode="auto">
            <a:xfrm flipV="1">
              <a:off x="4858018" y="119309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3" name="Oval 911"/>
            <p:cNvSpPr>
              <a:spLocks noChangeArrowheads="1"/>
            </p:cNvSpPr>
            <p:nvPr userDrawn="1"/>
          </p:nvSpPr>
          <p:spPr bwMode="auto">
            <a:xfrm flipV="1">
              <a:off x="4967042" y="119309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4" name="Oval 912"/>
            <p:cNvSpPr>
              <a:spLocks noChangeArrowheads="1"/>
            </p:cNvSpPr>
            <p:nvPr userDrawn="1"/>
          </p:nvSpPr>
          <p:spPr bwMode="auto">
            <a:xfrm flipV="1">
              <a:off x="5074131" y="119309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95" name="Oval 913"/>
            <p:cNvSpPr>
              <a:spLocks noChangeArrowheads="1"/>
            </p:cNvSpPr>
            <p:nvPr userDrawn="1"/>
          </p:nvSpPr>
          <p:spPr bwMode="auto">
            <a:xfrm flipV="1">
              <a:off x="5182188" y="119309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3" name="Oval 870"/>
            <p:cNvSpPr>
              <a:spLocks noChangeArrowheads="1"/>
            </p:cNvSpPr>
            <p:nvPr userDrawn="1"/>
          </p:nvSpPr>
          <p:spPr bwMode="auto">
            <a:xfrm flipV="1">
              <a:off x="4319658" y="152022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4" name="Oval 871"/>
            <p:cNvSpPr>
              <a:spLocks noChangeArrowheads="1"/>
            </p:cNvSpPr>
            <p:nvPr userDrawn="1"/>
          </p:nvSpPr>
          <p:spPr bwMode="auto">
            <a:xfrm flipV="1">
              <a:off x="4426751" y="152022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5" name="Oval 872"/>
            <p:cNvSpPr>
              <a:spLocks noChangeArrowheads="1"/>
            </p:cNvSpPr>
            <p:nvPr userDrawn="1"/>
          </p:nvSpPr>
          <p:spPr bwMode="auto">
            <a:xfrm flipV="1">
              <a:off x="4533843" y="152022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6" name="Oval 873"/>
            <p:cNvSpPr>
              <a:spLocks noChangeArrowheads="1"/>
            </p:cNvSpPr>
            <p:nvPr userDrawn="1"/>
          </p:nvSpPr>
          <p:spPr bwMode="auto">
            <a:xfrm flipV="1">
              <a:off x="4642865" y="152022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7" name="Oval 874"/>
            <p:cNvSpPr>
              <a:spLocks noChangeArrowheads="1"/>
            </p:cNvSpPr>
            <p:nvPr userDrawn="1"/>
          </p:nvSpPr>
          <p:spPr bwMode="auto">
            <a:xfrm flipV="1">
              <a:off x="4750923" y="152022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8" name="Oval 875"/>
            <p:cNvSpPr>
              <a:spLocks noChangeArrowheads="1"/>
            </p:cNvSpPr>
            <p:nvPr userDrawn="1"/>
          </p:nvSpPr>
          <p:spPr bwMode="auto">
            <a:xfrm flipV="1">
              <a:off x="4858015" y="152022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29" name="Oval 876"/>
            <p:cNvSpPr>
              <a:spLocks noChangeArrowheads="1"/>
            </p:cNvSpPr>
            <p:nvPr userDrawn="1"/>
          </p:nvSpPr>
          <p:spPr bwMode="auto">
            <a:xfrm flipV="1">
              <a:off x="4967038" y="152022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30" name="Oval 877"/>
            <p:cNvSpPr>
              <a:spLocks noChangeArrowheads="1"/>
            </p:cNvSpPr>
            <p:nvPr userDrawn="1"/>
          </p:nvSpPr>
          <p:spPr bwMode="auto">
            <a:xfrm flipV="1">
              <a:off x="5074129" y="152022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31" name="Oval 878"/>
            <p:cNvSpPr>
              <a:spLocks noChangeArrowheads="1"/>
            </p:cNvSpPr>
            <p:nvPr userDrawn="1"/>
          </p:nvSpPr>
          <p:spPr bwMode="auto">
            <a:xfrm flipV="1">
              <a:off x="5182187" y="152022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58" name="Oval 905"/>
            <p:cNvSpPr>
              <a:spLocks noChangeArrowheads="1"/>
            </p:cNvSpPr>
            <p:nvPr userDrawn="1"/>
          </p:nvSpPr>
          <p:spPr bwMode="auto">
            <a:xfrm flipV="1">
              <a:off x="4319659" y="140927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59" name="Oval 906"/>
            <p:cNvSpPr>
              <a:spLocks noChangeArrowheads="1"/>
            </p:cNvSpPr>
            <p:nvPr userDrawn="1"/>
          </p:nvSpPr>
          <p:spPr bwMode="auto">
            <a:xfrm flipV="1">
              <a:off x="4426753" y="140927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0" name="Oval 907"/>
            <p:cNvSpPr>
              <a:spLocks noChangeArrowheads="1"/>
            </p:cNvSpPr>
            <p:nvPr userDrawn="1"/>
          </p:nvSpPr>
          <p:spPr bwMode="auto">
            <a:xfrm flipV="1">
              <a:off x="4533845" y="140927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1" name="Oval 908"/>
            <p:cNvSpPr>
              <a:spLocks noChangeArrowheads="1"/>
            </p:cNvSpPr>
            <p:nvPr userDrawn="1"/>
          </p:nvSpPr>
          <p:spPr bwMode="auto">
            <a:xfrm flipV="1">
              <a:off x="4642867" y="140927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2" name="Oval 909"/>
            <p:cNvSpPr>
              <a:spLocks noChangeArrowheads="1"/>
            </p:cNvSpPr>
            <p:nvPr userDrawn="1"/>
          </p:nvSpPr>
          <p:spPr bwMode="auto">
            <a:xfrm flipV="1">
              <a:off x="4750926" y="140927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3" name="Oval 910"/>
            <p:cNvSpPr>
              <a:spLocks noChangeArrowheads="1"/>
            </p:cNvSpPr>
            <p:nvPr userDrawn="1"/>
          </p:nvSpPr>
          <p:spPr bwMode="auto">
            <a:xfrm flipV="1">
              <a:off x="4858018" y="140927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4" name="Oval 911"/>
            <p:cNvSpPr>
              <a:spLocks noChangeArrowheads="1"/>
            </p:cNvSpPr>
            <p:nvPr userDrawn="1"/>
          </p:nvSpPr>
          <p:spPr bwMode="auto">
            <a:xfrm flipV="1">
              <a:off x="4967042" y="140927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5" name="Oval 912"/>
            <p:cNvSpPr>
              <a:spLocks noChangeArrowheads="1"/>
            </p:cNvSpPr>
            <p:nvPr userDrawn="1"/>
          </p:nvSpPr>
          <p:spPr bwMode="auto">
            <a:xfrm flipV="1">
              <a:off x="5074131" y="140927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66" name="Oval 913"/>
            <p:cNvSpPr>
              <a:spLocks noChangeArrowheads="1"/>
            </p:cNvSpPr>
            <p:nvPr userDrawn="1"/>
          </p:nvSpPr>
          <p:spPr bwMode="auto">
            <a:xfrm flipV="1">
              <a:off x="5182188" y="140927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4" name="Oval 870"/>
            <p:cNvSpPr>
              <a:spLocks noChangeArrowheads="1"/>
            </p:cNvSpPr>
            <p:nvPr userDrawn="1"/>
          </p:nvSpPr>
          <p:spPr bwMode="auto">
            <a:xfrm flipV="1">
              <a:off x="4319658" y="173640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5" name="Oval 871"/>
            <p:cNvSpPr>
              <a:spLocks noChangeArrowheads="1"/>
            </p:cNvSpPr>
            <p:nvPr userDrawn="1"/>
          </p:nvSpPr>
          <p:spPr bwMode="auto">
            <a:xfrm flipV="1">
              <a:off x="4426751" y="173640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6" name="Oval 872"/>
            <p:cNvSpPr>
              <a:spLocks noChangeArrowheads="1"/>
            </p:cNvSpPr>
            <p:nvPr userDrawn="1"/>
          </p:nvSpPr>
          <p:spPr bwMode="auto">
            <a:xfrm flipV="1">
              <a:off x="4533843" y="173640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7" name="Oval 873"/>
            <p:cNvSpPr>
              <a:spLocks noChangeArrowheads="1"/>
            </p:cNvSpPr>
            <p:nvPr userDrawn="1"/>
          </p:nvSpPr>
          <p:spPr bwMode="auto">
            <a:xfrm flipV="1">
              <a:off x="4642865" y="173640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8" name="Oval 874"/>
            <p:cNvSpPr>
              <a:spLocks noChangeArrowheads="1"/>
            </p:cNvSpPr>
            <p:nvPr userDrawn="1"/>
          </p:nvSpPr>
          <p:spPr bwMode="auto">
            <a:xfrm flipV="1">
              <a:off x="4750923" y="173640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99" name="Oval 875"/>
            <p:cNvSpPr>
              <a:spLocks noChangeArrowheads="1"/>
            </p:cNvSpPr>
            <p:nvPr userDrawn="1"/>
          </p:nvSpPr>
          <p:spPr bwMode="auto">
            <a:xfrm flipV="1">
              <a:off x="4858015" y="173640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00" name="Oval 876"/>
            <p:cNvSpPr>
              <a:spLocks noChangeArrowheads="1"/>
            </p:cNvSpPr>
            <p:nvPr userDrawn="1"/>
          </p:nvSpPr>
          <p:spPr bwMode="auto">
            <a:xfrm flipV="1">
              <a:off x="4967038" y="173640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01" name="Oval 877"/>
            <p:cNvSpPr>
              <a:spLocks noChangeArrowheads="1"/>
            </p:cNvSpPr>
            <p:nvPr userDrawn="1"/>
          </p:nvSpPr>
          <p:spPr bwMode="auto">
            <a:xfrm flipV="1">
              <a:off x="5074129" y="173640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02" name="Oval 878"/>
            <p:cNvSpPr>
              <a:spLocks noChangeArrowheads="1"/>
            </p:cNvSpPr>
            <p:nvPr userDrawn="1"/>
          </p:nvSpPr>
          <p:spPr bwMode="auto">
            <a:xfrm flipV="1">
              <a:off x="5182187" y="173640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29" name="Oval 905"/>
            <p:cNvSpPr>
              <a:spLocks noChangeArrowheads="1"/>
            </p:cNvSpPr>
            <p:nvPr userDrawn="1"/>
          </p:nvSpPr>
          <p:spPr bwMode="auto">
            <a:xfrm flipV="1">
              <a:off x="4319659" y="162544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0" name="Oval 906"/>
            <p:cNvSpPr>
              <a:spLocks noChangeArrowheads="1"/>
            </p:cNvSpPr>
            <p:nvPr userDrawn="1"/>
          </p:nvSpPr>
          <p:spPr bwMode="auto">
            <a:xfrm flipV="1">
              <a:off x="4426753" y="162544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1" name="Oval 907"/>
            <p:cNvSpPr>
              <a:spLocks noChangeArrowheads="1"/>
            </p:cNvSpPr>
            <p:nvPr userDrawn="1"/>
          </p:nvSpPr>
          <p:spPr bwMode="auto">
            <a:xfrm flipV="1">
              <a:off x="4533845" y="162544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2" name="Oval 908"/>
            <p:cNvSpPr>
              <a:spLocks noChangeArrowheads="1"/>
            </p:cNvSpPr>
            <p:nvPr userDrawn="1"/>
          </p:nvSpPr>
          <p:spPr bwMode="auto">
            <a:xfrm flipV="1">
              <a:off x="4642867" y="162544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3" name="Oval 909"/>
            <p:cNvSpPr>
              <a:spLocks noChangeArrowheads="1"/>
            </p:cNvSpPr>
            <p:nvPr userDrawn="1"/>
          </p:nvSpPr>
          <p:spPr bwMode="auto">
            <a:xfrm flipV="1">
              <a:off x="4750926" y="162544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4" name="Oval 910"/>
            <p:cNvSpPr>
              <a:spLocks noChangeArrowheads="1"/>
            </p:cNvSpPr>
            <p:nvPr userDrawn="1"/>
          </p:nvSpPr>
          <p:spPr bwMode="auto">
            <a:xfrm flipV="1">
              <a:off x="4858018" y="162544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5" name="Oval 911"/>
            <p:cNvSpPr>
              <a:spLocks noChangeArrowheads="1"/>
            </p:cNvSpPr>
            <p:nvPr userDrawn="1"/>
          </p:nvSpPr>
          <p:spPr bwMode="auto">
            <a:xfrm flipV="1">
              <a:off x="4967042" y="162544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6" name="Oval 912"/>
            <p:cNvSpPr>
              <a:spLocks noChangeArrowheads="1"/>
            </p:cNvSpPr>
            <p:nvPr userDrawn="1"/>
          </p:nvSpPr>
          <p:spPr bwMode="auto">
            <a:xfrm flipV="1">
              <a:off x="5074131" y="162544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37" name="Oval 913"/>
            <p:cNvSpPr>
              <a:spLocks noChangeArrowheads="1"/>
            </p:cNvSpPr>
            <p:nvPr userDrawn="1"/>
          </p:nvSpPr>
          <p:spPr bwMode="auto">
            <a:xfrm flipV="1">
              <a:off x="5182188" y="162544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5" name="Oval 870"/>
            <p:cNvSpPr>
              <a:spLocks noChangeArrowheads="1"/>
            </p:cNvSpPr>
            <p:nvPr userDrawn="1"/>
          </p:nvSpPr>
          <p:spPr bwMode="auto">
            <a:xfrm flipV="1">
              <a:off x="4319658" y="19525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6" name="Oval 871"/>
            <p:cNvSpPr>
              <a:spLocks noChangeArrowheads="1"/>
            </p:cNvSpPr>
            <p:nvPr userDrawn="1"/>
          </p:nvSpPr>
          <p:spPr bwMode="auto">
            <a:xfrm flipV="1">
              <a:off x="4426751" y="19525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7" name="Oval 872"/>
            <p:cNvSpPr>
              <a:spLocks noChangeArrowheads="1"/>
            </p:cNvSpPr>
            <p:nvPr userDrawn="1"/>
          </p:nvSpPr>
          <p:spPr bwMode="auto">
            <a:xfrm flipV="1">
              <a:off x="4533843" y="19525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8" name="Oval 873"/>
            <p:cNvSpPr>
              <a:spLocks noChangeArrowheads="1"/>
            </p:cNvSpPr>
            <p:nvPr userDrawn="1"/>
          </p:nvSpPr>
          <p:spPr bwMode="auto">
            <a:xfrm flipV="1">
              <a:off x="4642865" y="19525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69" name="Oval 874"/>
            <p:cNvSpPr>
              <a:spLocks noChangeArrowheads="1"/>
            </p:cNvSpPr>
            <p:nvPr userDrawn="1"/>
          </p:nvSpPr>
          <p:spPr bwMode="auto">
            <a:xfrm flipV="1">
              <a:off x="4750923" y="19525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70" name="Oval 875"/>
            <p:cNvSpPr>
              <a:spLocks noChangeArrowheads="1"/>
            </p:cNvSpPr>
            <p:nvPr userDrawn="1"/>
          </p:nvSpPr>
          <p:spPr bwMode="auto">
            <a:xfrm flipV="1">
              <a:off x="4858015" y="19525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71" name="Oval 876"/>
            <p:cNvSpPr>
              <a:spLocks noChangeArrowheads="1"/>
            </p:cNvSpPr>
            <p:nvPr userDrawn="1"/>
          </p:nvSpPr>
          <p:spPr bwMode="auto">
            <a:xfrm flipV="1">
              <a:off x="4967038" y="19525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72" name="Oval 877"/>
            <p:cNvSpPr>
              <a:spLocks noChangeArrowheads="1"/>
            </p:cNvSpPr>
            <p:nvPr userDrawn="1"/>
          </p:nvSpPr>
          <p:spPr bwMode="auto">
            <a:xfrm flipV="1">
              <a:off x="5074129" y="19525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73" name="Oval 878"/>
            <p:cNvSpPr>
              <a:spLocks noChangeArrowheads="1"/>
            </p:cNvSpPr>
            <p:nvPr userDrawn="1"/>
          </p:nvSpPr>
          <p:spPr bwMode="auto">
            <a:xfrm flipV="1">
              <a:off x="5182187" y="19525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0" name="Oval 905"/>
            <p:cNvSpPr>
              <a:spLocks noChangeArrowheads="1"/>
            </p:cNvSpPr>
            <p:nvPr userDrawn="1"/>
          </p:nvSpPr>
          <p:spPr bwMode="auto">
            <a:xfrm flipV="1">
              <a:off x="4319659" y="184162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1" name="Oval 906"/>
            <p:cNvSpPr>
              <a:spLocks noChangeArrowheads="1"/>
            </p:cNvSpPr>
            <p:nvPr userDrawn="1"/>
          </p:nvSpPr>
          <p:spPr bwMode="auto">
            <a:xfrm flipV="1">
              <a:off x="4426753" y="184162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2" name="Oval 907"/>
            <p:cNvSpPr>
              <a:spLocks noChangeArrowheads="1"/>
            </p:cNvSpPr>
            <p:nvPr userDrawn="1"/>
          </p:nvSpPr>
          <p:spPr bwMode="auto">
            <a:xfrm flipV="1">
              <a:off x="4533845" y="184162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3" name="Oval 908"/>
            <p:cNvSpPr>
              <a:spLocks noChangeArrowheads="1"/>
            </p:cNvSpPr>
            <p:nvPr userDrawn="1"/>
          </p:nvSpPr>
          <p:spPr bwMode="auto">
            <a:xfrm flipV="1">
              <a:off x="4642867" y="184162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4" name="Oval 909"/>
            <p:cNvSpPr>
              <a:spLocks noChangeArrowheads="1"/>
            </p:cNvSpPr>
            <p:nvPr userDrawn="1"/>
          </p:nvSpPr>
          <p:spPr bwMode="auto">
            <a:xfrm flipV="1">
              <a:off x="4750926" y="184162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5" name="Oval 910"/>
            <p:cNvSpPr>
              <a:spLocks noChangeArrowheads="1"/>
            </p:cNvSpPr>
            <p:nvPr userDrawn="1"/>
          </p:nvSpPr>
          <p:spPr bwMode="auto">
            <a:xfrm flipV="1">
              <a:off x="4858018" y="184162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6" name="Oval 911"/>
            <p:cNvSpPr>
              <a:spLocks noChangeArrowheads="1"/>
            </p:cNvSpPr>
            <p:nvPr userDrawn="1"/>
          </p:nvSpPr>
          <p:spPr bwMode="auto">
            <a:xfrm flipV="1">
              <a:off x="4967042" y="184162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7" name="Oval 912"/>
            <p:cNvSpPr>
              <a:spLocks noChangeArrowheads="1"/>
            </p:cNvSpPr>
            <p:nvPr userDrawn="1"/>
          </p:nvSpPr>
          <p:spPr bwMode="auto">
            <a:xfrm flipV="1">
              <a:off x="5074131" y="184162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08" name="Oval 913"/>
            <p:cNvSpPr>
              <a:spLocks noChangeArrowheads="1"/>
            </p:cNvSpPr>
            <p:nvPr userDrawn="1"/>
          </p:nvSpPr>
          <p:spPr bwMode="auto">
            <a:xfrm flipV="1">
              <a:off x="5182188" y="184162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36" name="Oval 870"/>
            <p:cNvSpPr>
              <a:spLocks noChangeArrowheads="1"/>
            </p:cNvSpPr>
            <p:nvPr userDrawn="1"/>
          </p:nvSpPr>
          <p:spPr bwMode="auto">
            <a:xfrm flipV="1">
              <a:off x="4319658" y="21687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37" name="Oval 871"/>
            <p:cNvSpPr>
              <a:spLocks noChangeArrowheads="1"/>
            </p:cNvSpPr>
            <p:nvPr userDrawn="1"/>
          </p:nvSpPr>
          <p:spPr bwMode="auto">
            <a:xfrm flipV="1">
              <a:off x="4426751" y="21687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38" name="Oval 872"/>
            <p:cNvSpPr>
              <a:spLocks noChangeArrowheads="1"/>
            </p:cNvSpPr>
            <p:nvPr userDrawn="1"/>
          </p:nvSpPr>
          <p:spPr bwMode="auto">
            <a:xfrm flipV="1">
              <a:off x="4533843" y="21687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39" name="Oval 873"/>
            <p:cNvSpPr>
              <a:spLocks noChangeArrowheads="1"/>
            </p:cNvSpPr>
            <p:nvPr userDrawn="1"/>
          </p:nvSpPr>
          <p:spPr bwMode="auto">
            <a:xfrm flipV="1">
              <a:off x="4642865" y="21687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0" name="Oval 874"/>
            <p:cNvSpPr>
              <a:spLocks noChangeArrowheads="1"/>
            </p:cNvSpPr>
            <p:nvPr userDrawn="1"/>
          </p:nvSpPr>
          <p:spPr bwMode="auto">
            <a:xfrm flipV="1">
              <a:off x="4750923" y="21687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1" name="Oval 875"/>
            <p:cNvSpPr>
              <a:spLocks noChangeArrowheads="1"/>
            </p:cNvSpPr>
            <p:nvPr userDrawn="1"/>
          </p:nvSpPr>
          <p:spPr bwMode="auto">
            <a:xfrm flipV="1">
              <a:off x="4858015" y="21687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2" name="Oval 876"/>
            <p:cNvSpPr>
              <a:spLocks noChangeArrowheads="1"/>
            </p:cNvSpPr>
            <p:nvPr userDrawn="1"/>
          </p:nvSpPr>
          <p:spPr bwMode="auto">
            <a:xfrm flipV="1">
              <a:off x="4967038" y="21687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3" name="Oval 877"/>
            <p:cNvSpPr>
              <a:spLocks noChangeArrowheads="1"/>
            </p:cNvSpPr>
            <p:nvPr userDrawn="1"/>
          </p:nvSpPr>
          <p:spPr bwMode="auto">
            <a:xfrm flipV="1">
              <a:off x="5074129" y="21687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44" name="Oval 878"/>
            <p:cNvSpPr>
              <a:spLocks noChangeArrowheads="1"/>
            </p:cNvSpPr>
            <p:nvPr userDrawn="1"/>
          </p:nvSpPr>
          <p:spPr bwMode="auto">
            <a:xfrm flipV="1">
              <a:off x="5182187" y="21687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1" name="Oval 905"/>
            <p:cNvSpPr>
              <a:spLocks noChangeArrowheads="1"/>
            </p:cNvSpPr>
            <p:nvPr userDrawn="1"/>
          </p:nvSpPr>
          <p:spPr bwMode="auto">
            <a:xfrm flipV="1">
              <a:off x="4319659" y="205780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2" name="Oval 906"/>
            <p:cNvSpPr>
              <a:spLocks noChangeArrowheads="1"/>
            </p:cNvSpPr>
            <p:nvPr userDrawn="1"/>
          </p:nvSpPr>
          <p:spPr bwMode="auto">
            <a:xfrm flipV="1">
              <a:off x="4426753" y="205780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3" name="Oval 907"/>
            <p:cNvSpPr>
              <a:spLocks noChangeArrowheads="1"/>
            </p:cNvSpPr>
            <p:nvPr userDrawn="1"/>
          </p:nvSpPr>
          <p:spPr bwMode="auto">
            <a:xfrm flipV="1">
              <a:off x="4533845" y="205780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4" name="Oval 908"/>
            <p:cNvSpPr>
              <a:spLocks noChangeArrowheads="1"/>
            </p:cNvSpPr>
            <p:nvPr userDrawn="1"/>
          </p:nvSpPr>
          <p:spPr bwMode="auto">
            <a:xfrm flipV="1">
              <a:off x="4642867" y="205780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5" name="Oval 909"/>
            <p:cNvSpPr>
              <a:spLocks noChangeArrowheads="1"/>
            </p:cNvSpPr>
            <p:nvPr userDrawn="1"/>
          </p:nvSpPr>
          <p:spPr bwMode="auto">
            <a:xfrm flipV="1">
              <a:off x="4750926" y="205780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6" name="Oval 910"/>
            <p:cNvSpPr>
              <a:spLocks noChangeArrowheads="1"/>
            </p:cNvSpPr>
            <p:nvPr userDrawn="1"/>
          </p:nvSpPr>
          <p:spPr bwMode="auto">
            <a:xfrm flipV="1">
              <a:off x="4858018" y="205780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7" name="Oval 911"/>
            <p:cNvSpPr>
              <a:spLocks noChangeArrowheads="1"/>
            </p:cNvSpPr>
            <p:nvPr userDrawn="1"/>
          </p:nvSpPr>
          <p:spPr bwMode="auto">
            <a:xfrm flipV="1">
              <a:off x="4967042" y="205780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8" name="Oval 912"/>
            <p:cNvSpPr>
              <a:spLocks noChangeArrowheads="1"/>
            </p:cNvSpPr>
            <p:nvPr userDrawn="1"/>
          </p:nvSpPr>
          <p:spPr bwMode="auto">
            <a:xfrm flipV="1">
              <a:off x="5074131" y="205780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79" name="Oval 913"/>
            <p:cNvSpPr>
              <a:spLocks noChangeArrowheads="1"/>
            </p:cNvSpPr>
            <p:nvPr userDrawn="1"/>
          </p:nvSpPr>
          <p:spPr bwMode="auto">
            <a:xfrm flipV="1">
              <a:off x="5182188" y="205780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07" name="Oval 870"/>
            <p:cNvSpPr>
              <a:spLocks noChangeArrowheads="1"/>
            </p:cNvSpPr>
            <p:nvPr userDrawn="1"/>
          </p:nvSpPr>
          <p:spPr bwMode="auto">
            <a:xfrm flipV="1">
              <a:off x="4319658" y="23849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08" name="Oval 871"/>
            <p:cNvSpPr>
              <a:spLocks noChangeArrowheads="1"/>
            </p:cNvSpPr>
            <p:nvPr userDrawn="1"/>
          </p:nvSpPr>
          <p:spPr bwMode="auto">
            <a:xfrm flipV="1">
              <a:off x="4426751" y="23849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09" name="Oval 872"/>
            <p:cNvSpPr>
              <a:spLocks noChangeArrowheads="1"/>
            </p:cNvSpPr>
            <p:nvPr userDrawn="1"/>
          </p:nvSpPr>
          <p:spPr bwMode="auto">
            <a:xfrm flipV="1">
              <a:off x="4533843" y="23849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0" name="Oval 873"/>
            <p:cNvSpPr>
              <a:spLocks noChangeArrowheads="1"/>
            </p:cNvSpPr>
            <p:nvPr userDrawn="1"/>
          </p:nvSpPr>
          <p:spPr bwMode="auto">
            <a:xfrm flipV="1">
              <a:off x="4642865" y="23849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1" name="Oval 874"/>
            <p:cNvSpPr>
              <a:spLocks noChangeArrowheads="1"/>
            </p:cNvSpPr>
            <p:nvPr userDrawn="1"/>
          </p:nvSpPr>
          <p:spPr bwMode="auto">
            <a:xfrm flipV="1">
              <a:off x="4750923" y="23849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2" name="Oval 875"/>
            <p:cNvSpPr>
              <a:spLocks noChangeArrowheads="1"/>
            </p:cNvSpPr>
            <p:nvPr userDrawn="1"/>
          </p:nvSpPr>
          <p:spPr bwMode="auto">
            <a:xfrm flipV="1">
              <a:off x="4858015" y="23849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3" name="Oval 876"/>
            <p:cNvSpPr>
              <a:spLocks noChangeArrowheads="1"/>
            </p:cNvSpPr>
            <p:nvPr userDrawn="1"/>
          </p:nvSpPr>
          <p:spPr bwMode="auto">
            <a:xfrm flipV="1">
              <a:off x="4967038" y="23849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4" name="Oval 877"/>
            <p:cNvSpPr>
              <a:spLocks noChangeArrowheads="1"/>
            </p:cNvSpPr>
            <p:nvPr userDrawn="1"/>
          </p:nvSpPr>
          <p:spPr bwMode="auto">
            <a:xfrm flipV="1">
              <a:off x="5074129" y="23849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15" name="Oval 878"/>
            <p:cNvSpPr>
              <a:spLocks noChangeArrowheads="1"/>
            </p:cNvSpPr>
            <p:nvPr userDrawn="1"/>
          </p:nvSpPr>
          <p:spPr bwMode="auto">
            <a:xfrm flipV="1">
              <a:off x="5182187" y="23849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2" name="Oval 905"/>
            <p:cNvSpPr>
              <a:spLocks noChangeArrowheads="1"/>
            </p:cNvSpPr>
            <p:nvPr userDrawn="1"/>
          </p:nvSpPr>
          <p:spPr bwMode="auto">
            <a:xfrm flipV="1">
              <a:off x="4319659" y="227398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3" name="Oval 906"/>
            <p:cNvSpPr>
              <a:spLocks noChangeArrowheads="1"/>
            </p:cNvSpPr>
            <p:nvPr userDrawn="1"/>
          </p:nvSpPr>
          <p:spPr bwMode="auto">
            <a:xfrm flipV="1">
              <a:off x="4426753" y="227398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4" name="Oval 907"/>
            <p:cNvSpPr>
              <a:spLocks noChangeArrowheads="1"/>
            </p:cNvSpPr>
            <p:nvPr userDrawn="1"/>
          </p:nvSpPr>
          <p:spPr bwMode="auto">
            <a:xfrm flipV="1">
              <a:off x="4533845" y="227398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5" name="Oval 908"/>
            <p:cNvSpPr>
              <a:spLocks noChangeArrowheads="1"/>
            </p:cNvSpPr>
            <p:nvPr userDrawn="1"/>
          </p:nvSpPr>
          <p:spPr bwMode="auto">
            <a:xfrm flipV="1">
              <a:off x="4642867" y="227398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6" name="Oval 909"/>
            <p:cNvSpPr>
              <a:spLocks noChangeArrowheads="1"/>
            </p:cNvSpPr>
            <p:nvPr userDrawn="1"/>
          </p:nvSpPr>
          <p:spPr bwMode="auto">
            <a:xfrm flipV="1">
              <a:off x="4750926" y="227398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7" name="Oval 910"/>
            <p:cNvSpPr>
              <a:spLocks noChangeArrowheads="1"/>
            </p:cNvSpPr>
            <p:nvPr userDrawn="1"/>
          </p:nvSpPr>
          <p:spPr bwMode="auto">
            <a:xfrm flipV="1">
              <a:off x="4858018" y="227398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8" name="Oval 911"/>
            <p:cNvSpPr>
              <a:spLocks noChangeArrowheads="1"/>
            </p:cNvSpPr>
            <p:nvPr userDrawn="1"/>
          </p:nvSpPr>
          <p:spPr bwMode="auto">
            <a:xfrm flipV="1">
              <a:off x="4967042" y="227398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49" name="Oval 912"/>
            <p:cNvSpPr>
              <a:spLocks noChangeArrowheads="1"/>
            </p:cNvSpPr>
            <p:nvPr userDrawn="1"/>
          </p:nvSpPr>
          <p:spPr bwMode="auto">
            <a:xfrm flipV="1">
              <a:off x="5074131" y="227398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50" name="Oval 913"/>
            <p:cNvSpPr>
              <a:spLocks noChangeArrowheads="1"/>
            </p:cNvSpPr>
            <p:nvPr userDrawn="1"/>
          </p:nvSpPr>
          <p:spPr bwMode="auto">
            <a:xfrm flipV="1">
              <a:off x="5182188" y="227398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78" name="Oval 870"/>
            <p:cNvSpPr>
              <a:spLocks noChangeArrowheads="1"/>
            </p:cNvSpPr>
            <p:nvPr userDrawn="1"/>
          </p:nvSpPr>
          <p:spPr bwMode="auto">
            <a:xfrm flipV="1">
              <a:off x="4319658" y="260112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79" name="Oval 871"/>
            <p:cNvSpPr>
              <a:spLocks noChangeArrowheads="1"/>
            </p:cNvSpPr>
            <p:nvPr userDrawn="1"/>
          </p:nvSpPr>
          <p:spPr bwMode="auto">
            <a:xfrm flipV="1">
              <a:off x="4426751" y="260112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0" name="Oval 872"/>
            <p:cNvSpPr>
              <a:spLocks noChangeArrowheads="1"/>
            </p:cNvSpPr>
            <p:nvPr userDrawn="1"/>
          </p:nvSpPr>
          <p:spPr bwMode="auto">
            <a:xfrm flipV="1">
              <a:off x="4533843" y="260112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1" name="Oval 873"/>
            <p:cNvSpPr>
              <a:spLocks noChangeArrowheads="1"/>
            </p:cNvSpPr>
            <p:nvPr userDrawn="1"/>
          </p:nvSpPr>
          <p:spPr bwMode="auto">
            <a:xfrm flipV="1">
              <a:off x="4642865" y="260112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2" name="Oval 874"/>
            <p:cNvSpPr>
              <a:spLocks noChangeArrowheads="1"/>
            </p:cNvSpPr>
            <p:nvPr userDrawn="1"/>
          </p:nvSpPr>
          <p:spPr bwMode="auto">
            <a:xfrm flipV="1">
              <a:off x="4750923" y="260112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3" name="Oval 875"/>
            <p:cNvSpPr>
              <a:spLocks noChangeArrowheads="1"/>
            </p:cNvSpPr>
            <p:nvPr userDrawn="1"/>
          </p:nvSpPr>
          <p:spPr bwMode="auto">
            <a:xfrm flipV="1">
              <a:off x="4858015" y="260112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4" name="Oval 876"/>
            <p:cNvSpPr>
              <a:spLocks noChangeArrowheads="1"/>
            </p:cNvSpPr>
            <p:nvPr userDrawn="1"/>
          </p:nvSpPr>
          <p:spPr bwMode="auto">
            <a:xfrm flipV="1">
              <a:off x="4967038" y="260112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5" name="Oval 877"/>
            <p:cNvSpPr>
              <a:spLocks noChangeArrowheads="1"/>
            </p:cNvSpPr>
            <p:nvPr userDrawn="1"/>
          </p:nvSpPr>
          <p:spPr bwMode="auto">
            <a:xfrm flipV="1">
              <a:off x="5074129" y="260112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86" name="Oval 878"/>
            <p:cNvSpPr>
              <a:spLocks noChangeArrowheads="1"/>
            </p:cNvSpPr>
            <p:nvPr userDrawn="1"/>
          </p:nvSpPr>
          <p:spPr bwMode="auto">
            <a:xfrm flipV="1">
              <a:off x="5182187" y="260112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3" name="Oval 905"/>
            <p:cNvSpPr>
              <a:spLocks noChangeArrowheads="1"/>
            </p:cNvSpPr>
            <p:nvPr userDrawn="1"/>
          </p:nvSpPr>
          <p:spPr bwMode="auto">
            <a:xfrm flipV="1">
              <a:off x="4319659" y="249016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4" name="Oval 906"/>
            <p:cNvSpPr>
              <a:spLocks noChangeArrowheads="1"/>
            </p:cNvSpPr>
            <p:nvPr userDrawn="1"/>
          </p:nvSpPr>
          <p:spPr bwMode="auto">
            <a:xfrm flipV="1">
              <a:off x="4426753" y="249016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5" name="Oval 907"/>
            <p:cNvSpPr>
              <a:spLocks noChangeArrowheads="1"/>
            </p:cNvSpPr>
            <p:nvPr userDrawn="1"/>
          </p:nvSpPr>
          <p:spPr bwMode="auto">
            <a:xfrm flipV="1">
              <a:off x="4533845" y="249016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6" name="Oval 908"/>
            <p:cNvSpPr>
              <a:spLocks noChangeArrowheads="1"/>
            </p:cNvSpPr>
            <p:nvPr userDrawn="1"/>
          </p:nvSpPr>
          <p:spPr bwMode="auto">
            <a:xfrm flipV="1">
              <a:off x="4642867" y="249016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7" name="Oval 909"/>
            <p:cNvSpPr>
              <a:spLocks noChangeArrowheads="1"/>
            </p:cNvSpPr>
            <p:nvPr userDrawn="1"/>
          </p:nvSpPr>
          <p:spPr bwMode="auto">
            <a:xfrm flipV="1">
              <a:off x="4750926" y="249016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8" name="Oval 910"/>
            <p:cNvSpPr>
              <a:spLocks noChangeArrowheads="1"/>
            </p:cNvSpPr>
            <p:nvPr userDrawn="1"/>
          </p:nvSpPr>
          <p:spPr bwMode="auto">
            <a:xfrm flipV="1">
              <a:off x="4858018" y="249016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19" name="Oval 911"/>
            <p:cNvSpPr>
              <a:spLocks noChangeArrowheads="1"/>
            </p:cNvSpPr>
            <p:nvPr userDrawn="1"/>
          </p:nvSpPr>
          <p:spPr bwMode="auto">
            <a:xfrm flipV="1">
              <a:off x="4967042" y="249016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20" name="Oval 912"/>
            <p:cNvSpPr>
              <a:spLocks noChangeArrowheads="1"/>
            </p:cNvSpPr>
            <p:nvPr userDrawn="1"/>
          </p:nvSpPr>
          <p:spPr bwMode="auto">
            <a:xfrm flipV="1">
              <a:off x="5074131" y="249016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21" name="Oval 913"/>
            <p:cNvSpPr>
              <a:spLocks noChangeArrowheads="1"/>
            </p:cNvSpPr>
            <p:nvPr userDrawn="1"/>
          </p:nvSpPr>
          <p:spPr bwMode="auto">
            <a:xfrm flipV="1">
              <a:off x="5182188" y="249016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49" name="Oval 870"/>
            <p:cNvSpPr>
              <a:spLocks noChangeArrowheads="1"/>
            </p:cNvSpPr>
            <p:nvPr userDrawn="1"/>
          </p:nvSpPr>
          <p:spPr bwMode="auto">
            <a:xfrm flipV="1">
              <a:off x="4319658" y="281730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0" name="Oval 871"/>
            <p:cNvSpPr>
              <a:spLocks noChangeArrowheads="1"/>
            </p:cNvSpPr>
            <p:nvPr userDrawn="1"/>
          </p:nvSpPr>
          <p:spPr bwMode="auto">
            <a:xfrm flipV="1">
              <a:off x="4426751" y="281730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1" name="Oval 872"/>
            <p:cNvSpPr>
              <a:spLocks noChangeArrowheads="1"/>
            </p:cNvSpPr>
            <p:nvPr userDrawn="1"/>
          </p:nvSpPr>
          <p:spPr bwMode="auto">
            <a:xfrm flipV="1">
              <a:off x="4533843" y="281730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2" name="Oval 873"/>
            <p:cNvSpPr>
              <a:spLocks noChangeArrowheads="1"/>
            </p:cNvSpPr>
            <p:nvPr userDrawn="1"/>
          </p:nvSpPr>
          <p:spPr bwMode="auto">
            <a:xfrm flipV="1">
              <a:off x="4642865" y="281730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3" name="Oval 874"/>
            <p:cNvSpPr>
              <a:spLocks noChangeArrowheads="1"/>
            </p:cNvSpPr>
            <p:nvPr userDrawn="1"/>
          </p:nvSpPr>
          <p:spPr bwMode="auto">
            <a:xfrm flipV="1">
              <a:off x="4750923" y="281730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4" name="Oval 875"/>
            <p:cNvSpPr>
              <a:spLocks noChangeArrowheads="1"/>
            </p:cNvSpPr>
            <p:nvPr userDrawn="1"/>
          </p:nvSpPr>
          <p:spPr bwMode="auto">
            <a:xfrm flipV="1">
              <a:off x="4858015" y="281730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5" name="Oval 876"/>
            <p:cNvSpPr>
              <a:spLocks noChangeArrowheads="1"/>
            </p:cNvSpPr>
            <p:nvPr userDrawn="1"/>
          </p:nvSpPr>
          <p:spPr bwMode="auto">
            <a:xfrm flipV="1">
              <a:off x="4967038" y="281730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6" name="Oval 877"/>
            <p:cNvSpPr>
              <a:spLocks noChangeArrowheads="1"/>
            </p:cNvSpPr>
            <p:nvPr userDrawn="1"/>
          </p:nvSpPr>
          <p:spPr bwMode="auto">
            <a:xfrm flipV="1">
              <a:off x="5074129" y="281730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57" name="Oval 878"/>
            <p:cNvSpPr>
              <a:spLocks noChangeArrowheads="1"/>
            </p:cNvSpPr>
            <p:nvPr userDrawn="1"/>
          </p:nvSpPr>
          <p:spPr bwMode="auto">
            <a:xfrm flipV="1">
              <a:off x="5182187" y="281730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4" name="Oval 905"/>
            <p:cNvSpPr>
              <a:spLocks noChangeArrowheads="1"/>
            </p:cNvSpPr>
            <p:nvPr userDrawn="1"/>
          </p:nvSpPr>
          <p:spPr bwMode="auto">
            <a:xfrm flipV="1">
              <a:off x="4319659" y="270634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5" name="Oval 906"/>
            <p:cNvSpPr>
              <a:spLocks noChangeArrowheads="1"/>
            </p:cNvSpPr>
            <p:nvPr userDrawn="1"/>
          </p:nvSpPr>
          <p:spPr bwMode="auto">
            <a:xfrm flipV="1">
              <a:off x="4426753" y="270634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6" name="Oval 907"/>
            <p:cNvSpPr>
              <a:spLocks noChangeArrowheads="1"/>
            </p:cNvSpPr>
            <p:nvPr userDrawn="1"/>
          </p:nvSpPr>
          <p:spPr bwMode="auto">
            <a:xfrm flipV="1">
              <a:off x="4533845" y="270634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7" name="Oval 908"/>
            <p:cNvSpPr>
              <a:spLocks noChangeArrowheads="1"/>
            </p:cNvSpPr>
            <p:nvPr userDrawn="1"/>
          </p:nvSpPr>
          <p:spPr bwMode="auto">
            <a:xfrm flipV="1">
              <a:off x="4642867" y="270634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8" name="Oval 909"/>
            <p:cNvSpPr>
              <a:spLocks noChangeArrowheads="1"/>
            </p:cNvSpPr>
            <p:nvPr userDrawn="1"/>
          </p:nvSpPr>
          <p:spPr bwMode="auto">
            <a:xfrm flipV="1">
              <a:off x="4750926" y="270634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89" name="Oval 910"/>
            <p:cNvSpPr>
              <a:spLocks noChangeArrowheads="1"/>
            </p:cNvSpPr>
            <p:nvPr userDrawn="1"/>
          </p:nvSpPr>
          <p:spPr bwMode="auto">
            <a:xfrm flipV="1">
              <a:off x="4858018" y="270634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90" name="Oval 911"/>
            <p:cNvSpPr>
              <a:spLocks noChangeArrowheads="1"/>
            </p:cNvSpPr>
            <p:nvPr userDrawn="1"/>
          </p:nvSpPr>
          <p:spPr bwMode="auto">
            <a:xfrm flipV="1">
              <a:off x="4967042" y="270634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91" name="Oval 912"/>
            <p:cNvSpPr>
              <a:spLocks noChangeArrowheads="1"/>
            </p:cNvSpPr>
            <p:nvPr userDrawn="1"/>
          </p:nvSpPr>
          <p:spPr bwMode="auto">
            <a:xfrm flipV="1">
              <a:off x="5074131" y="270634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92" name="Oval 913"/>
            <p:cNvSpPr>
              <a:spLocks noChangeArrowheads="1"/>
            </p:cNvSpPr>
            <p:nvPr userDrawn="1"/>
          </p:nvSpPr>
          <p:spPr bwMode="auto">
            <a:xfrm flipV="1">
              <a:off x="5182188" y="270634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0" name="Oval 870"/>
            <p:cNvSpPr>
              <a:spLocks noChangeArrowheads="1"/>
            </p:cNvSpPr>
            <p:nvPr userDrawn="1"/>
          </p:nvSpPr>
          <p:spPr bwMode="auto">
            <a:xfrm flipV="1">
              <a:off x="4319658" y="303347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1" name="Oval 871"/>
            <p:cNvSpPr>
              <a:spLocks noChangeArrowheads="1"/>
            </p:cNvSpPr>
            <p:nvPr userDrawn="1"/>
          </p:nvSpPr>
          <p:spPr bwMode="auto">
            <a:xfrm flipV="1">
              <a:off x="4426751" y="303347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2" name="Oval 872"/>
            <p:cNvSpPr>
              <a:spLocks noChangeArrowheads="1"/>
            </p:cNvSpPr>
            <p:nvPr userDrawn="1"/>
          </p:nvSpPr>
          <p:spPr bwMode="auto">
            <a:xfrm flipV="1">
              <a:off x="4533843" y="303347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3" name="Oval 873"/>
            <p:cNvSpPr>
              <a:spLocks noChangeArrowheads="1"/>
            </p:cNvSpPr>
            <p:nvPr userDrawn="1"/>
          </p:nvSpPr>
          <p:spPr bwMode="auto">
            <a:xfrm flipV="1">
              <a:off x="4642865" y="303347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4" name="Oval 874"/>
            <p:cNvSpPr>
              <a:spLocks noChangeArrowheads="1"/>
            </p:cNvSpPr>
            <p:nvPr userDrawn="1"/>
          </p:nvSpPr>
          <p:spPr bwMode="auto">
            <a:xfrm flipV="1">
              <a:off x="4750923" y="303347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5" name="Oval 875"/>
            <p:cNvSpPr>
              <a:spLocks noChangeArrowheads="1"/>
            </p:cNvSpPr>
            <p:nvPr userDrawn="1"/>
          </p:nvSpPr>
          <p:spPr bwMode="auto">
            <a:xfrm flipV="1">
              <a:off x="4858015" y="303347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6" name="Oval 876"/>
            <p:cNvSpPr>
              <a:spLocks noChangeArrowheads="1"/>
            </p:cNvSpPr>
            <p:nvPr userDrawn="1"/>
          </p:nvSpPr>
          <p:spPr bwMode="auto">
            <a:xfrm flipV="1">
              <a:off x="4967038" y="303347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7" name="Oval 877"/>
            <p:cNvSpPr>
              <a:spLocks noChangeArrowheads="1"/>
            </p:cNvSpPr>
            <p:nvPr userDrawn="1"/>
          </p:nvSpPr>
          <p:spPr bwMode="auto">
            <a:xfrm flipV="1">
              <a:off x="5074129" y="303347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28" name="Oval 878"/>
            <p:cNvSpPr>
              <a:spLocks noChangeArrowheads="1"/>
            </p:cNvSpPr>
            <p:nvPr userDrawn="1"/>
          </p:nvSpPr>
          <p:spPr bwMode="auto">
            <a:xfrm flipV="1">
              <a:off x="5182187" y="303347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55" name="Oval 905"/>
            <p:cNvSpPr>
              <a:spLocks noChangeArrowheads="1"/>
            </p:cNvSpPr>
            <p:nvPr userDrawn="1"/>
          </p:nvSpPr>
          <p:spPr bwMode="auto">
            <a:xfrm flipV="1">
              <a:off x="4319659" y="292252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56" name="Oval 906"/>
            <p:cNvSpPr>
              <a:spLocks noChangeArrowheads="1"/>
            </p:cNvSpPr>
            <p:nvPr userDrawn="1"/>
          </p:nvSpPr>
          <p:spPr bwMode="auto">
            <a:xfrm flipV="1">
              <a:off x="4426753" y="292252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57" name="Oval 907"/>
            <p:cNvSpPr>
              <a:spLocks noChangeArrowheads="1"/>
            </p:cNvSpPr>
            <p:nvPr userDrawn="1"/>
          </p:nvSpPr>
          <p:spPr bwMode="auto">
            <a:xfrm flipV="1">
              <a:off x="4533845" y="292252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58" name="Oval 908"/>
            <p:cNvSpPr>
              <a:spLocks noChangeArrowheads="1"/>
            </p:cNvSpPr>
            <p:nvPr userDrawn="1"/>
          </p:nvSpPr>
          <p:spPr bwMode="auto">
            <a:xfrm flipV="1">
              <a:off x="4642867" y="292252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59" name="Oval 909"/>
            <p:cNvSpPr>
              <a:spLocks noChangeArrowheads="1"/>
            </p:cNvSpPr>
            <p:nvPr userDrawn="1"/>
          </p:nvSpPr>
          <p:spPr bwMode="auto">
            <a:xfrm flipV="1">
              <a:off x="4750926" y="292252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60" name="Oval 910"/>
            <p:cNvSpPr>
              <a:spLocks noChangeArrowheads="1"/>
            </p:cNvSpPr>
            <p:nvPr userDrawn="1"/>
          </p:nvSpPr>
          <p:spPr bwMode="auto">
            <a:xfrm flipV="1">
              <a:off x="4858018" y="292252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61" name="Oval 911"/>
            <p:cNvSpPr>
              <a:spLocks noChangeArrowheads="1"/>
            </p:cNvSpPr>
            <p:nvPr userDrawn="1"/>
          </p:nvSpPr>
          <p:spPr bwMode="auto">
            <a:xfrm flipV="1">
              <a:off x="4967042" y="292252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62" name="Oval 912"/>
            <p:cNvSpPr>
              <a:spLocks noChangeArrowheads="1"/>
            </p:cNvSpPr>
            <p:nvPr userDrawn="1"/>
          </p:nvSpPr>
          <p:spPr bwMode="auto">
            <a:xfrm flipV="1">
              <a:off x="5074131" y="292252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63" name="Oval 913"/>
            <p:cNvSpPr>
              <a:spLocks noChangeArrowheads="1"/>
            </p:cNvSpPr>
            <p:nvPr userDrawn="1"/>
          </p:nvSpPr>
          <p:spPr bwMode="auto">
            <a:xfrm flipV="1">
              <a:off x="5182188" y="292252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1" name="Oval 870"/>
            <p:cNvSpPr>
              <a:spLocks noChangeArrowheads="1"/>
            </p:cNvSpPr>
            <p:nvPr userDrawn="1"/>
          </p:nvSpPr>
          <p:spPr bwMode="auto">
            <a:xfrm flipV="1">
              <a:off x="4319658" y="324965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2" name="Oval 871"/>
            <p:cNvSpPr>
              <a:spLocks noChangeArrowheads="1"/>
            </p:cNvSpPr>
            <p:nvPr userDrawn="1"/>
          </p:nvSpPr>
          <p:spPr bwMode="auto">
            <a:xfrm flipV="1">
              <a:off x="4426751" y="324965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3" name="Oval 872"/>
            <p:cNvSpPr>
              <a:spLocks noChangeArrowheads="1"/>
            </p:cNvSpPr>
            <p:nvPr userDrawn="1"/>
          </p:nvSpPr>
          <p:spPr bwMode="auto">
            <a:xfrm flipV="1">
              <a:off x="4533843" y="324965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4" name="Oval 873"/>
            <p:cNvSpPr>
              <a:spLocks noChangeArrowheads="1"/>
            </p:cNvSpPr>
            <p:nvPr userDrawn="1"/>
          </p:nvSpPr>
          <p:spPr bwMode="auto">
            <a:xfrm flipV="1">
              <a:off x="4642865" y="324965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5" name="Oval 874"/>
            <p:cNvSpPr>
              <a:spLocks noChangeArrowheads="1"/>
            </p:cNvSpPr>
            <p:nvPr userDrawn="1"/>
          </p:nvSpPr>
          <p:spPr bwMode="auto">
            <a:xfrm flipV="1">
              <a:off x="4750923" y="324965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6" name="Oval 875"/>
            <p:cNvSpPr>
              <a:spLocks noChangeArrowheads="1"/>
            </p:cNvSpPr>
            <p:nvPr userDrawn="1"/>
          </p:nvSpPr>
          <p:spPr bwMode="auto">
            <a:xfrm flipV="1">
              <a:off x="4858015" y="324965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7" name="Oval 876"/>
            <p:cNvSpPr>
              <a:spLocks noChangeArrowheads="1"/>
            </p:cNvSpPr>
            <p:nvPr userDrawn="1"/>
          </p:nvSpPr>
          <p:spPr bwMode="auto">
            <a:xfrm flipV="1">
              <a:off x="4967038" y="324965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8" name="Oval 877"/>
            <p:cNvSpPr>
              <a:spLocks noChangeArrowheads="1"/>
            </p:cNvSpPr>
            <p:nvPr userDrawn="1"/>
          </p:nvSpPr>
          <p:spPr bwMode="auto">
            <a:xfrm flipV="1">
              <a:off x="5074129" y="324965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99" name="Oval 878"/>
            <p:cNvSpPr>
              <a:spLocks noChangeArrowheads="1"/>
            </p:cNvSpPr>
            <p:nvPr userDrawn="1"/>
          </p:nvSpPr>
          <p:spPr bwMode="auto">
            <a:xfrm flipV="1">
              <a:off x="5182187" y="324965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26" name="Oval 905"/>
            <p:cNvSpPr>
              <a:spLocks noChangeArrowheads="1"/>
            </p:cNvSpPr>
            <p:nvPr userDrawn="1"/>
          </p:nvSpPr>
          <p:spPr bwMode="auto">
            <a:xfrm flipV="1">
              <a:off x="4319659" y="313869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27" name="Oval 906"/>
            <p:cNvSpPr>
              <a:spLocks noChangeArrowheads="1"/>
            </p:cNvSpPr>
            <p:nvPr userDrawn="1"/>
          </p:nvSpPr>
          <p:spPr bwMode="auto">
            <a:xfrm flipV="1">
              <a:off x="4426753" y="313869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28" name="Oval 907"/>
            <p:cNvSpPr>
              <a:spLocks noChangeArrowheads="1"/>
            </p:cNvSpPr>
            <p:nvPr userDrawn="1"/>
          </p:nvSpPr>
          <p:spPr bwMode="auto">
            <a:xfrm flipV="1">
              <a:off x="4533845" y="313869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29" name="Oval 908"/>
            <p:cNvSpPr>
              <a:spLocks noChangeArrowheads="1"/>
            </p:cNvSpPr>
            <p:nvPr userDrawn="1"/>
          </p:nvSpPr>
          <p:spPr bwMode="auto">
            <a:xfrm flipV="1">
              <a:off x="4642867" y="313869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30" name="Oval 909"/>
            <p:cNvSpPr>
              <a:spLocks noChangeArrowheads="1"/>
            </p:cNvSpPr>
            <p:nvPr userDrawn="1"/>
          </p:nvSpPr>
          <p:spPr bwMode="auto">
            <a:xfrm flipV="1">
              <a:off x="4750926" y="313869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31" name="Oval 910"/>
            <p:cNvSpPr>
              <a:spLocks noChangeArrowheads="1"/>
            </p:cNvSpPr>
            <p:nvPr userDrawn="1"/>
          </p:nvSpPr>
          <p:spPr bwMode="auto">
            <a:xfrm flipV="1">
              <a:off x="4858018" y="313869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32" name="Oval 911"/>
            <p:cNvSpPr>
              <a:spLocks noChangeArrowheads="1"/>
            </p:cNvSpPr>
            <p:nvPr userDrawn="1"/>
          </p:nvSpPr>
          <p:spPr bwMode="auto">
            <a:xfrm flipV="1">
              <a:off x="4967042" y="313869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33" name="Oval 912"/>
            <p:cNvSpPr>
              <a:spLocks noChangeArrowheads="1"/>
            </p:cNvSpPr>
            <p:nvPr userDrawn="1"/>
          </p:nvSpPr>
          <p:spPr bwMode="auto">
            <a:xfrm flipV="1">
              <a:off x="5074131" y="313869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34" name="Oval 913"/>
            <p:cNvSpPr>
              <a:spLocks noChangeArrowheads="1"/>
            </p:cNvSpPr>
            <p:nvPr userDrawn="1"/>
          </p:nvSpPr>
          <p:spPr bwMode="auto">
            <a:xfrm flipV="1">
              <a:off x="5182188" y="313869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2" name="Oval 870"/>
            <p:cNvSpPr>
              <a:spLocks noChangeArrowheads="1"/>
            </p:cNvSpPr>
            <p:nvPr userDrawn="1"/>
          </p:nvSpPr>
          <p:spPr bwMode="auto">
            <a:xfrm flipV="1">
              <a:off x="4319658" y="346583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3" name="Oval 871"/>
            <p:cNvSpPr>
              <a:spLocks noChangeArrowheads="1"/>
            </p:cNvSpPr>
            <p:nvPr userDrawn="1"/>
          </p:nvSpPr>
          <p:spPr bwMode="auto">
            <a:xfrm flipV="1">
              <a:off x="4426751" y="346583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4" name="Oval 872"/>
            <p:cNvSpPr>
              <a:spLocks noChangeArrowheads="1"/>
            </p:cNvSpPr>
            <p:nvPr userDrawn="1"/>
          </p:nvSpPr>
          <p:spPr bwMode="auto">
            <a:xfrm flipV="1">
              <a:off x="4533843" y="346583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5" name="Oval 873"/>
            <p:cNvSpPr>
              <a:spLocks noChangeArrowheads="1"/>
            </p:cNvSpPr>
            <p:nvPr userDrawn="1"/>
          </p:nvSpPr>
          <p:spPr bwMode="auto">
            <a:xfrm flipV="1">
              <a:off x="4642865" y="346583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6" name="Oval 874"/>
            <p:cNvSpPr>
              <a:spLocks noChangeArrowheads="1"/>
            </p:cNvSpPr>
            <p:nvPr userDrawn="1"/>
          </p:nvSpPr>
          <p:spPr bwMode="auto">
            <a:xfrm flipV="1">
              <a:off x="4750923" y="346583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7" name="Oval 875"/>
            <p:cNvSpPr>
              <a:spLocks noChangeArrowheads="1"/>
            </p:cNvSpPr>
            <p:nvPr userDrawn="1"/>
          </p:nvSpPr>
          <p:spPr bwMode="auto">
            <a:xfrm flipV="1">
              <a:off x="4858015" y="346583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8" name="Oval 876"/>
            <p:cNvSpPr>
              <a:spLocks noChangeArrowheads="1"/>
            </p:cNvSpPr>
            <p:nvPr userDrawn="1"/>
          </p:nvSpPr>
          <p:spPr bwMode="auto">
            <a:xfrm flipV="1">
              <a:off x="4967038" y="346583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69" name="Oval 877"/>
            <p:cNvSpPr>
              <a:spLocks noChangeArrowheads="1"/>
            </p:cNvSpPr>
            <p:nvPr userDrawn="1"/>
          </p:nvSpPr>
          <p:spPr bwMode="auto">
            <a:xfrm flipV="1">
              <a:off x="5074129" y="346583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70" name="Oval 878"/>
            <p:cNvSpPr>
              <a:spLocks noChangeArrowheads="1"/>
            </p:cNvSpPr>
            <p:nvPr userDrawn="1"/>
          </p:nvSpPr>
          <p:spPr bwMode="auto">
            <a:xfrm flipV="1">
              <a:off x="5182187" y="346583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97" name="Oval 905"/>
            <p:cNvSpPr>
              <a:spLocks noChangeArrowheads="1"/>
            </p:cNvSpPr>
            <p:nvPr userDrawn="1"/>
          </p:nvSpPr>
          <p:spPr bwMode="auto">
            <a:xfrm flipV="1">
              <a:off x="4319659" y="335487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98" name="Oval 906"/>
            <p:cNvSpPr>
              <a:spLocks noChangeArrowheads="1"/>
            </p:cNvSpPr>
            <p:nvPr userDrawn="1"/>
          </p:nvSpPr>
          <p:spPr bwMode="auto">
            <a:xfrm flipV="1">
              <a:off x="4426753" y="335487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99" name="Oval 907"/>
            <p:cNvSpPr>
              <a:spLocks noChangeArrowheads="1"/>
            </p:cNvSpPr>
            <p:nvPr userDrawn="1"/>
          </p:nvSpPr>
          <p:spPr bwMode="auto">
            <a:xfrm flipV="1">
              <a:off x="4533845" y="335487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0" name="Oval 908"/>
            <p:cNvSpPr>
              <a:spLocks noChangeArrowheads="1"/>
            </p:cNvSpPr>
            <p:nvPr userDrawn="1"/>
          </p:nvSpPr>
          <p:spPr bwMode="auto">
            <a:xfrm flipV="1">
              <a:off x="4642867" y="335487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1" name="Oval 909"/>
            <p:cNvSpPr>
              <a:spLocks noChangeArrowheads="1"/>
            </p:cNvSpPr>
            <p:nvPr userDrawn="1"/>
          </p:nvSpPr>
          <p:spPr bwMode="auto">
            <a:xfrm flipV="1">
              <a:off x="4750926" y="335487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2" name="Oval 910"/>
            <p:cNvSpPr>
              <a:spLocks noChangeArrowheads="1"/>
            </p:cNvSpPr>
            <p:nvPr userDrawn="1"/>
          </p:nvSpPr>
          <p:spPr bwMode="auto">
            <a:xfrm flipV="1">
              <a:off x="4858018" y="335487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3" name="Oval 911"/>
            <p:cNvSpPr>
              <a:spLocks noChangeArrowheads="1"/>
            </p:cNvSpPr>
            <p:nvPr userDrawn="1"/>
          </p:nvSpPr>
          <p:spPr bwMode="auto">
            <a:xfrm flipV="1">
              <a:off x="4967042" y="335487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4" name="Oval 912"/>
            <p:cNvSpPr>
              <a:spLocks noChangeArrowheads="1"/>
            </p:cNvSpPr>
            <p:nvPr userDrawn="1"/>
          </p:nvSpPr>
          <p:spPr bwMode="auto">
            <a:xfrm flipV="1">
              <a:off x="5074131" y="335487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05" name="Oval 913"/>
            <p:cNvSpPr>
              <a:spLocks noChangeArrowheads="1"/>
            </p:cNvSpPr>
            <p:nvPr userDrawn="1"/>
          </p:nvSpPr>
          <p:spPr bwMode="auto">
            <a:xfrm flipV="1">
              <a:off x="5182188" y="335487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3" name="Oval 870"/>
            <p:cNvSpPr>
              <a:spLocks noChangeArrowheads="1"/>
            </p:cNvSpPr>
            <p:nvPr userDrawn="1"/>
          </p:nvSpPr>
          <p:spPr bwMode="auto">
            <a:xfrm flipV="1">
              <a:off x="4319658" y="367476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4" name="Oval 871"/>
            <p:cNvSpPr>
              <a:spLocks noChangeArrowheads="1"/>
            </p:cNvSpPr>
            <p:nvPr userDrawn="1"/>
          </p:nvSpPr>
          <p:spPr bwMode="auto">
            <a:xfrm flipV="1">
              <a:off x="4426751" y="367476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5" name="Oval 872"/>
            <p:cNvSpPr>
              <a:spLocks noChangeArrowheads="1"/>
            </p:cNvSpPr>
            <p:nvPr userDrawn="1"/>
          </p:nvSpPr>
          <p:spPr bwMode="auto">
            <a:xfrm flipV="1">
              <a:off x="4533843" y="367476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6" name="Oval 873"/>
            <p:cNvSpPr>
              <a:spLocks noChangeArrowheads="1"/>
            </p:cNvSpPr>
            <p:nvPr userDrawn="1"/>
          </p:nvSpPr>
          <p:spPr bwMode="auto">
            <a:xfrm flipV="1">
              <a:off x="4642865" y="367476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7" name="Oval 874"/>
            <p:cNvSpPr>
              <a:spLocks noChangeArrowheads="1"/>
            </p:cNvSpPr>
            <p:nvPr userDrawn="1"/>
          </p:nvSpPr>
          <p:spPr bwMode="auto">
            <a:xfrm flipV="1">
              <a:off x="4750923" y="367476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8" name="Oval 875"/>
            <p:cNvSpPr>
              <a:spLocks noChangeArrowheads="1"/>
            </p:cNvSpPr>
            <p:nvPr userDrawn="1"/>
          </p:nvSpPr>
          <p:spPr bwMode="auto">
            <a:xfrm flipV="1">
              <a:off x="4858015" y="367476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39" name="Oval 876"/>
            <p:cNvSpPr>
              <a:spLocks noChangeArrowheads="1"/>
            </p:cNvSpPr>
            <p:nvPr userDrawn="1"/>
          </p:nvSpPr>
          <p:spPr bwMode="auto">
            <a:xfrm flipV="1">
              <a:off x="4967038" y="367476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40" name="Oval 877"/>
            <p:cNvSpPr>
              <a:spLocks noChangeArrowheads="1"/>
            </p:cNvSpPr>
            <p:nvPr userDrawn="1"/>
          </p:nvSpPr>
          <p:spPr bwMode="auto">
            <a:xfrm flipV="1">
              <a:off x="5074129" y="367476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41" name="Oval 878"/>
            <p:cNvSpPr>
              <a:spLocks noChangeArrowheads="1"/>
            </p:cNvSpPr>
            <p:nvPr userDrawn="1"/>
          </p:nvSpPr>
          <p:spPr bwMode="auto">
            <a:xfrm flipV="1">
              <a:off x="5182187" y="367476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68" name="Oval 905"/>
            <p:cNvSpPr>
              <a:spLocks noChangeArrowheads="1"/>
            </p:cNvSpPr>
            <p:nvPr userDrawn="1"/>
          </p:nvSpPr>
          <p:spPr bwMode="auto">
            <a:xfrm flipV="1">
              <a:off x="4319659" y="356380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69" name="Oval 906"/>
            <p:cNvSpPr>
              <a:spLocks noChangeArrowheads="1"/>
            </p:cNvSpPr>
            <p:nvPr userDrawn="1"/>
          </p:nvSpPr>
          <p:spPr bwMode="auto">
            <a:xfrm flipV="1">
              <a:off x="4426753" y="356380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0" name="Oval 907"/>
            <p:cNvSpPr>
              <a:spLocks noChangeArrowheads="1"/>
            </p:cNvSpPr>
            <p:nvPr userDrawn="1"/>
          </p:nvSpPr>
          <p:spPr bwMode="auto">
            <a:xfrm flipV="1">
              <a:off x="4533845" y="356380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1" name="Oval 908"/>
            <p:cNvSpPr>
              <a:spLocks noChangeArrowheads="1"/>
            </p:cNvSpPr>
            <p:nvPr userDrawn="1"/>
          </p:nvSpPr>
          <p:spPr bwMode="auto">
            <a:xfrm flipV="1">
              <a:off x="4642867" y="356380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2" name="Oval 909"/>
            <p:cNvSpPr>
              <a:spLocks noChangeArrowheads="1"/>
            </p:cNvSpPr>
            <p:nvPr userDrawn="1"/>
          </p:nvSpPr>
          <p:spPr bwMode="auto">
            <a:xfrm flipV="1">
              <a:off x="4750926" y="356380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3" name="Oval 910"/>
            <p:cNvSpPr>
              <a:spLocks noChangeArrowheads="1"/>
            </p:cNvSpPr>
            <p:nvPr userDrawn="1"/>
          </p:nvSpPr>
          <p:spPr bwMode="auto">
            <a:xfrm flipV="1">
              <a:off x="4858018" y="356380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4" name="Oval 911"/>
            <p:cNvSpPr>
              <a:spLocks noChangeArrowheads="1"/>
            </p:cNvSpPr>
            <p:nvPr userDrawn="1"/>
          </p:nvSpPr>
          <p:spPr bwMode="auto">
            <a:xfrm flipV="1">
              <a:off x="4967042" y="356380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5" name="Oval 912"/>
            <p:cNvSpPr>
              <a:spLocks noChangeArrowheads="1"/>
            </p:cNvSpPr>
            <p:nvPr userDrawn="1"/>
          </p:nvSpPr>
          <p:spPr bwMode="auto">
            <a:xfrm flipV="1">
              <a:off x="5074131" y="356380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76" name="Oval 913"/>
            <p:cNvSpPr>
              <a:spLocks noChangeArrowheads="1"/>
            </p:cNvSpPr>
            <p:nvPr userDrawn="1"/>
          </p:nvSpPr>
          <p:spPr bwMode="auto">
            <a:xfrm flipV="1">
              <a:off x="5182188" y="356380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4" name="Oval 870"/>
            <p:cNvSpPr>
              <a:spLocks noChangeArrowheads="1"/>
            </p:cNvSpPr>
            <p:nvPr userDrawn="1"/>
          </p:nvSpPr>
          <p:spPr bwMode="auto">
            <a:xfrm flipV="1">
              <a:off x="4319658" y="389093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5" name="Oval 871"/>
            <p:cNvSpPr>
              <a:spLocks noChangeArrowheads="1"/>
            </p:cNvSpPr>
            <p:nvPr userDrawn="1"/>
          </p:nvSpPr>
          <p:spPr bwMode="auto">
            <a:xfrm flipV="1">
              <a:off x="4426751" y="389093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6" name="Oval 872"/>
            <p:cNvSpPr>
              <a:spLocks noChangeArrowheads="1"/>
            </p:cNvSpPr>
            <p:nvPr userDrawn="1"/>
          </p:nvSpPr>
          <p:spPr bwMode="auto">
            <a:xfrm flipV="1">
              <a:off x="4533843" y="389093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7" name="Oval 873"/>
            <p:cNvSpPr>
              <a:spLocks noChangeArrowheads="1"/>
            </p:cNvSpPr>
            <p:nvPr userDrawn="1"/>
          </p:nvSpPr>
          <p:spPr bwMode="auto">
            <a:xfrm flipV="1">
              <a:off x="4642865" y="389093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8" name="Oval 874"/>
            <p:cNvSpPr>
              <a:spLocks noChangeArrowheads="1"/>
            </p:cNvSpPr>
            <p:nvPr userDrawn="1"/>
          </p:nvSpPr>
          <p:spPr bwMode="auto">
            <a:xfrm flipV="1">
              <a:off x="4750923" y="389093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09" name="Oval 875"/>
            <p:cNvSpPr>
              <a:spLocks noChangeArrowheads="1"/>
            </p:cNvSpPr>
            <p:nvPr userDrawn="1"/>
          </p:nvSpPr>
          <p:spPr bwMode="auto">
            <a:xfrm flipV="1">
              <a:off x="4858015" y="389093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10" name="Oval 876"/>
            <p:cNvSpPr>
              <a:spLocks noChangeArrowheads="1"/>
            </p:cNvSpPr>
            <p:nvPr userDrawn="1"/>
          </p:nvSpPr>
          <p:spPr bwMode="auto">
            <a:xfrm flipV="1">
              <a:off x="4967038" y="389093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11" name="Oval 877"/>
            <p:cNvSpPr>
              <a:spLocks noChangeArrowheads="1"/>
            </p:cNvSpPr>
            <p:nvPr userDrawn="1"/>
          </p:nvSpPr>
          <p:spPr bwMode="auto">
            <a:xfrm flipV="1">
              <a:off x="5074129" y="389093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12" name="Oval 878"/>
            <p:cNvSpPr>
              <a:spLocks noChangeArrowheads="1"/>
            </p:cNvSpPr>
            <p:nvPr userDrawn="1"/>
          </p:nvSpPr>
          <p:spPr bwMode="auto">
            <a:xfrm flipV="1">
              <a:off x="5182187" y="389093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39" name="Oval 905"/>
            <p:cNvSpPr>
              <a:spLocks noChangeArrowheads="1"/>
            </p:cNvSpPr>
            <p:nvPr userDrawn="1"/>
          </p:nvSpPr>
          <p:spPr bwMode="auto">
            <a:xfrm flipV="1">
              <a:off x="4319659" y="37799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0" name="Oval 906"/>
            <p:cNvSpPr>
              <a:spLocks noChangeArrowheads="1"/>
            </p:cNvSpPr>
            <p:nvPr userDrawn="1"/>
          </p:nvSpPr>
          <p:spPr bwMode="auto">
            <a:xfrm flipV="1">
              <a:off x="4426753" y="37799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1" name="Oval 907"/>
            <p:cNvSpPr>
              <a:spLocks noChangeArrowheads="1"/>
            </p:cNvSpPr>
            <p:nvPr userDrawn="1"/>
          </p:nvSpPr>
          <p:spPr bwMode="auto">
            <a:xfrm flipV="1">
              <a:off x="4533845" y="37799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2" name="Oval 908"/>
            <p:cNvSpPr>
              <a:spLocks noChangeArrowheads="1"/>
            </p:cNvSpPr>
            <p:nvPr userDrawn="1"/>
          </p:nvSpPr>
          <p:spPr bwMode="auto">
            <a:xfrm flipV="1">
              <a:off x="4642867" y="37799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3" name="Oval 909"/>
            <p:cNvSpPr>
              <a:spLocks noChangeArrowheads="1"/>
            </p:cNvSpPr>
            <p:nvPr userDrawn="1"/>
          </p:nvSpPr>
          <p:spPr bwMode="auto">
            <a:xfrm flipV="1">
              <a:off x="4750926" y="37799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4" name="Oval 910"/>
            <p:cNvSpPr>
              <a:spLocks noChangeArrowheads="1"/>
            </p:cNvSpPr>
            <p:nvPr userDrawn="1"/>
          </p:nvSpPr>
          <p:spPr bwMode="auto">
            <a:xfrm flipV="1">
              <a:off x="4858018" y="37799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5" name="Oval 911"/>
            <p:cNvSpPr>
              <a:spLocks noChangeArrowheads="1"/>
            </p:cNvSpPr>
            <p:nvPr userDrawn="1"/>
          </p:nvSpPr>
          <p:spPr bwMode="auto">
            <a:xfrm flipV="1">
              <a:off x="4967042" y="377998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6" name="Oval 912"/>
            <p:cNvSpPr>
              <a:spLocks noChangeArrowheads="1"/>
            </p:cNvSpPr>
            <p:nvPr userDrawn="1"/>
          </p:nvSpPr>
          <p:spPr bwMode="auto">
            <a:xfrm flipV="1">
              <a:off x="5074131" y="377998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47" name="Oval 913"/>
            <p:cNvSpPr>
              <a:spLocks noChangeArrowheads="1"/>
            </p:cNvSpPr>
            <p:nvPr userDrawn="1"/>
          </p:nvSpPr>
          <p:spPr bwMode="auto">
            <a:xfrm flipV="1">
              <a:off x="5182188" y="377998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75" name="Oval 870"/>
            <p:cNvSpPr>
              <a:spLocks noChangeArrowheads="1"/>
            </p:cNvSpPr>
            <p:nvPr userDrawn="1"/>
          </p:nvSpPr>
          <p:spPr bwMode="auto">
            <a:xfrm flipV="1">
              <a:off x="4319658" y="410711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76" name="Oval 871"/>
            <p:cNvSpPr>
              <a:spLocks noChangeArrowheads="1"/>
            </p:cNvSpPr>
            <p:nvPr userDrawn="1"/>
          </p:nvSpPr>
          <p:spPr bwMode="auto">
            <a:xfrm flipV="1">
              <a:off x="4426751" y="410711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77" name="Oval 872"/>
            <p:cNvSpPr>
              <a:spLocks noChangeArrowheads="1"/>
            </p:cNvSpPr>
            <p:nvPr userDrawn="1"/>
          </p:nvSpPr>
          <p:spPr bwMode="auto">
            <a:xfrm flipV="1">
              <a:off x="4533843" y="410711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78" name="Oval 873"/>
            <p:cNvSpPr>
              <a:spLocks noChangeArrowheads="1"/>
            </p:cNvSpPr>
            <p:nvPr userDrawn="1"/>
          </p:nvSpPr>
          <p:spPr bwMode="auto">
            <a:xfrm flipV="1">
              <a:off x="4642865" y="410711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79" name="Oval 874"/>
            <p:cNvSpPr>
              <a:spLocks noChangeArrowheads="1"/>
            </p:cNvSpPr>
            <p:nvPr userDrawn="1"/>
          </p:nvSpPr>
          <p:spPr bwMode="auto">
            <a:xfrm flipV="1">
              <a:off x="4750923" y="410711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80" name="Oval 875"/>
            <p:cNvSpPr>
              <a:spLocks noChangeArrowheads="1"/>
            </p:cNvSpPr>
            <p:nvPr userDrawn="1"/>
          </p:nvSpPr>
          <p:spPr bwMode="auto">
            <a:xfrm flipV="1">
              <a:off x="4858015" y="410711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81" name="Oval 876"/>
            <p:cNvSpPr>
              <a:spLocks noChangeArrowheads="1"/>
            </p:cNvSpPr>
            <p:nvPr userDrawn="1"/>
          </p:nvSpPr>
          <p:spPr bwMode="auto">
            <a:xfrm flipV="1">
              <a:off x="4967038" y="4107119"/>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82" name="Oval 877"/>
            <p:cNvSpPr>
              <a:spLocks noChangeArrowheads="1"/>
            </p:cNvSpPr>
            <p:nvPr userDrawn="1"/>
          </p:nvSpPr>
          <p:spPr bwMode="auto">
            <a:xfrm flipV="1">
              <a:off x="5074129" y="4107119"/>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83" name="Oval 878"/>
            <p:cNvSpPr>
              <a:spLocks noChangeArrowheads="1"/>
            </p:cNvSpPr>
            <p:nvPr userDrawn="1"/>
          </p:nvSpPr>
          <p:spPr bwMode="auto">
            <a:xfrm flipV="1">
              <a:off x="5182187" y="4107119"/>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0" name="Oval 905"/>
            <p:cNvSpPr>
              <a:spLocks noChangeArrowheads="1"/>
            </p:cNvSpPr>
            <p:nvPr userDrawn="1"/>
          </p:nvSpPr>
          <p:spPr bwMode="auto">
            <a:xfrm flipV="1">
              <a:off x="4319659" y="39961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1" name="Oval 906"/>
            <p:cNvSpPr>
              <a:spLocks noChangeArrowheads="1"/>
            </p:cNvSpPr>
            <p:nvPr userDrawn="1"/>
          </p:nvSpPr>
          <p:spPr bwMode="auto">
            <a:xfrm flipV="1">
              <a:off x="4426753" y="39961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2" name="Oval 907"/>
            <p:cNvSpPr>
              <a:spLocks noChangeArrowheads="1"/>
            </p:cNvSpPr>
            <p:nvPr userDrawn="1"/>
          </p:nvSpPr>
          <p:spPr bwMode="auto">
            <a:xfrm flipV="1">
              <a:off x="4533845" y="39961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3" name="Oval 908"/>
            <p:cNvSpPr>
              <a:spLocks noChangeArrowheads="1"/>
            </p:cNvSpPr>
            <p:nvPr userDrawn="1"/>
          </p:nvSpPr>
          <p:spPr bwMode="auto">
            <a:xfrm flipV="1">
              <a:off x="4642867" y="39961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4" name="Oval 909"/>
            <p:cNvSpPr>
              <a:spLocks noChangeArrowheads="1"/>
            </p:cNvSpPr>
            <p:nvPr userDrawn="1"/>
          </p:nvSpPr>
          <p:spPr bwMode="auto">
            <a:xfrm flipV="1">
              <a:off x="4750926" y="39961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5" name="Oval 910"/>
            <p:cNvSpPr>
              <a:spLocks noChangeArrowheads="1"/>
            </p:cNvSpPr>
            <p:nvPr userDrawn="1"/>
          </p:nvSpPr>
          <p:spPr bwMode="auto">
            <a:xfrm flipV="1">
              <a:off x="4858018" y="39961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6" name="Oval 911"/>
            <p:cNvSpPr>
              <a:spLocks noChangeArrowheads="1"/>
            </p:cNvSpPr>
            <p:nvPr userDrawn="1"/>
          </p:nvSpPr>
          <p:spPr bwMode="auto">
            <a:xfrm flipV="1">
              <a:off x="4967042" y="3996164"/>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7" name="Oval 912"/>
            <p:cNvSpPr>
              <a:spLocks noChangeArrowheads="1"/>
            </p:cNvSpPr>
            <p:nvPr userDrawn="1"/>
          </p:nvSpPr>
          <p:spPr bwMode="auto">
            <a:xfrm flipV="1">
              <a:off x="5074131" y="3996164"/>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18" name="Oval 913"/>
            <p:cNvSpPr>
              <a:spLocks noChangeArrowheads="1"/>
            </p:cNvSpPr>
            <p:nvPr userDrawn="1"/>
          </p:nvSpPr>
          <p:spPr bwMode="auto">
            <a:xfrm flipV="1">
              <a:off x="5182188" y="3996164"/>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46" name="Oval 870"/>
            <p:cNvSpPr>
              <a:spLocks noChangeArrowheads="1"/>
            </p:cNvSpPr>
            <p:nvPr userDrawn="1"/>
          </p:nvSpPr>
          <p:spPr bwMode="auto">
            <a:xfrm flipV="1">
              <a:off x="4319658" y="432329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47" name="Oval 871"/>
            <p:cNvSpPr>
              <a:spLocks noChangeArrowheads="1"/>
            </p:cNvSpPr>
            <p:nvPr userDrawn="1"/>
          </p:nvSpPr>
          <p:spPr bwMode="auto">
            <a:xfrm flipV="1">
              <a:off x="4426751" y="432329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48" name="Oval 872"/>
            <p:cNvSpPr>
              <a:spLocks noChangeArrowheads="1"/>
            </p:cNvSpPr>
            <p:nvPr userDrawn="1"/>
          </p:nvSpPr>
          <p:spPr bwMode="auto">
            <a:xfrm flipV="1">
              <a:off x="4533843" y="432329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49" name="Oval 873"/>
            <p:cNvSpPr>
              <a:spLocks noChangeArrowheads="1"/>
            </p:cNvSpPr>
            <p:nvPr userDrawn="1"/>
          </p:nvSpPr>
          <p:spPr bwMode="auto">
            <a:xfrm flipV="1">
              <a:off x="4642865" y="432329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50" name="Oval 874"/>
            <p:cNvSpPr>
              <a:spLocks noChangeArrowheads="1"/>
            </p:cNvSpPr>
            <p:nvPr userDrawn="1"/>
          </p:nvSpPr>
          <p:spPr bwMode="auto">
            <a:xfrm flipV="1">
              <a:off x="4750923" y="432329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51" name="Oval 875"/>
            <p:cNvSpPr>
              <a:spLocks noChangeArrowheads="1"/>
            </p:cNvSpPr>
            <p:nvPr userDrawn="1"/>
          </p:nvSpPr>
          <p:spPr bwMode="auto">
            <a:xfrm flipV="1">
              <a:off x="4858015" y="432329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52" name="Oval 876"/>
            <p:cNvSpPr>
              <a:spLocks noChangeArrowheads="1"/>
            </p:cNvSpPr>
            <p:nvPr userDrawn="1"/>
          </p:nvSpPr>
          <p:spPr bwMode="auto">
            <a:xfrm flipV="1">
              <a:off x="4967038" y="432329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53" name="Oval 877"/>
            <p:cNvSpPr>
              <a:spLocks noChangeArrowheads="1"/>
            </p:cNvSpPr>
            <p:nvPr userDrawn="1"/>
          </p:nvSpPr>
          <p:spPr bwMode="auto">
            <a:xfrm flipV="1">
              <a:off x="5074129" y="432329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54" name="Oval 878"/>
            <p:cNvSpPr>
              <a:spLocks noChangeArrowheads="1"/>
            </p:cNvSpPr>
            <p:nvPr userDrawn="1"/>
          </p:nvSpPr>
          <p:spPr bwMode="auto">
            <a:xfrm flipV="1">
              <a:off x="5182187" y="432329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1" name="Oval 905"/>
            <p:cNvSpPr>
              <a:spLocks noChangeArrowheads="1"/>
            </p:cNvSpPr>
            <p:nvPr userDrawn="1"/>
          </p:nvSpPr>
          <p:spPr bwMode="auto">
            <a:xfrm flipV="1">
              <a:off x="4319659" y="42123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2" name="Oval 906"/>
            <p:cNvSpPr>
              <a:spLocks noChangeArrowheads="1"/>
            </p:cNvSpPr>
            <p:nvPr userDrawn="1"/>
          </p:nvSpPr>
          <p:spPr bwMode="auto">
            <a:xfrm flipV="1">
              <a:off x="4426753" y="42123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3" name="Oval 907"/>
            <p:cNvSpPr>
              <a:spLocks noChangeArrowheads="1"/>
            </p:cNvSpPr>
            <p:nvPr userDrawn="1"/>
          </p:nvSpPr>
          <p:spPr bwMode="auto">
            <a:xfrm flipV="1">
              <a:off x="4533845" y="42123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4" name="Oval 908"/>
            <p:cNvSpPr>
              <a:spLocks noChangeArrowheads="1"/>
            </p:cNvSpPr>
            <p:nvPr userDrawn="1"/>
          </p:nvSpPr>
          <p:spPr bwMode="auto">
            <a:xfrm flipV="1">
              <a:off x="4642867" y="42123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5" name="Oval 909"/>
            <p:cNvSpPr>
              <a:spLocks noChangeArrowheads="1"/>
            </p:cNvSpPr>
            <p:nvPr userDrawn="1"/>
          </p:nvSpPr>
          <p:spPr bwMode="auto">
            <a:xfrm flipV="1">
              <a:off x="4750926" y="42123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6" name="Oval 910"/>
            <p:cNvSpPr>
              <a:spLocks noChangeArrowheads="1"/>
            </p:cNvSpPr>
            <p:nvPr userDrawn="1"/>
          </p:nvSpPr>
          <p:spPr bwMode="auto">
            <a:xfrm flipV="1">
              <a:off x="4858018" y="42123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7" name="Oval 911"/>
            <p:cNvSpPr>
              <a:spLocks noChangeArrowheads="1"/>
            </p:cNvSpPr>
            <p:nvPr userDrawn="1"/>
          </p:nvSpPr>
          <p:spPr bwMode="auto">
            <a:xfrm flipV="1">
              <a:off x="4967042" y="421234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8" name="Oval 912"/>
            <p:cNvSpPr>
              <a:spLocks noChangeArrowheads="1"/>
            </p:cNvSpPr>
            <p:nvPr userDrawn="1"/>
          </p:nvSpPr>
          <p:spPr bwMode="auto">
            <a:xfrm flipV="1">
              <a:off x="5074131" y="421234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89" name="Oval 913"/>
            <p:cNvSpPr>
              <a:spLocks noChangeArrowheads="1"/>
            </p:cNvSpPr>
            <p:nvPr userDrawn="1"/>
          </p:nvSpPr>
          <p:spPr bwMode="auto">
            <a:xfrm flipV="1">
              <a:off x="5182188" y="421234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17" name="Oval 870"/>
            <p:cNvSpPr>
              <a:spLocks noChangeArrowheads="1"/>
            </p:cNvSpPr>
            <p:nvPr userDrawn="1"/>
          </p:nvSpPr>
          <p:spPr bwMode="auto">
            <a:xfrm flipV="1">
              <a:off x="4319658" y="453947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18" name="Oval 871"/>
            <p:cNvSpPr>
              <a:spLocks noChangeArrowheads="1"/>
            </p:cNvSpPr>
            <p:nvPr userDrawn="1"/>
          </p:nvSpPr>
          <p:spPr bwMode="auto">
            <a:xfrm flipV="1">
              <a:off x="4426751" y="453947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19" name="Oval 872"/>
            <p:cNvSpPr>
              <a:spLocks noChangeArrowheads="1"/>
            </p:cNvSpPr>
            <p:nvPr userDrawn="1"/>
          </p:nvSpPr>
          <p:spPr bwMode="auto">
            <a:xfrm flipV="1">
              <a:off x="4533843" y="453947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0" name="Oval 873"/>
            <p:cNvSpPr>
              <a:spLocks noChangeArrowheads="1"/>
            </p:cNvSpPr>
            <p:nvPr userDrawn="1"/>
          </p:nvSpPr>
          <p:spPr bwMode="auto">
            <a:xfrm flipV="1">
              <a:off x="4642865" y="453947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1" name="Oval 874"/>
            <p:cNvSpPr>
              <a:spLocks noChangeArrowheads="1"/>
            </p:cNvSpPr>
            <p:nvPr userDrawn="1"/>
          </p:nvSpPr>
          <p:spPr bwMode="auto">
            <a:xfrm flipV="1">
              <a:off x="4750923" y="453947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2" name="Oval 875"/>
            <p:cNvSpPr>
              <a:spLocks noChangeArrowheads="1"/>
            </p:cNvSpPr>
            <p:nvPr userDrawn="1"/>
          </p:nvSpPr>
          <p:spPr bwMode="auto">
            <a:xfrm flipV="1">
              <a:off x="4858015" y="453947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3" name="Oval 876"/>
            <p:cNvSpPr>
              <a:spLocks noChangeArrowheads="1"/>
            </p:cNvSpPr>
            <p:nvPr userDrawn="1"/>
          </p:nvSpPr>
          <p:spPr bwMode="auto">
            <a:xfrm flipV="1">
              <a:off x="4967038" y="4539477"/>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4" name="Oval 877"/>
            <p:cNvSpPr>
              <a:spLocks noChangeArrowheads="1"/>
            </p:cNvSpPr>
            <p:nvPr userDrawn="1"/>
          </p:nvSpPr>
          <p:spPr bwMode="auto">
            <a:xfrm flipV="1">
              <a:off x="5074129" y="4539477"/>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25" name="Oval 878"/>
            <p:cNvSpPr>
              <a:spLocks noChangeArrowheads="1"/>
            </p:cNvSpPr>
            <p:nvPr userDrawn="1"/>
          </p:nvSpPr>
          <p:spPr bwMode="auto">
            <a:xfrm flipV="1">
              <a:off x="5182187" y="4539477"/>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2" name="Oval 905"/>
            <p:cNvSpPr>
              <a:spLocks noChangeArrowheads="1"/>
            </p:cNvSpPr>
            <p:nvPr userDrawn="1"/>
          </p:nvSpPr>
          <p:spPr bwMode="auto">
            <a:xfrm flipV="1">
              <a:off x="4319659" y="442852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3" name="Oval 906"/>
            <p:cNvSpPr>
              <a:spLocks noChangeArrowheads="1"/>
            </p:cNvSpPr>
            <p:nvPr userDrawn="1"/>
          </p:nvSpPr>
          <p:spPr bwMode="auto">
            <a:xfrm flipV="1">
              <a:off x="4426753" y="442852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4" name="Oval 907"/>
            <p:cNvSpPr>
              <a:spLocks noChangeArrowheads="1"/>
            </p:cNvSpPr>
            <p:nvPr userDrawn="1"/>
          </p:nvSpPr>
          <p:spPr bwMode="auto">
            <a:xfrm flipV="1">
              <a:off x="4533845" y="442852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5" name="Oval 908"/>
            <p:cNvSpPr>
              <a:spLocks noChangeArrowheads="1"/>
            </p:cNvSpPr>
            <p:nvPr userDrawn="1"/>
          </p:nvSpPr>
          <p:spPr bwMode="auto">
            <a:xfrm flipV="1">
              <a:off x="4642867" y="442852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6" name="Oval 909"/>
            <p:cNvSpPr>
              <a:spLocks noChangeArrowheads="1"/>
            </p:cNvSpPr>
            <p:nvPr userDrawn="1"/>
          </p:nvSpPr>
          <p:spPr bwMode="auto">
            <a:xfrm flipV="1">
              <a:off x="4750926" y="442852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7" name="Oval 910"/>
            <p:cNvSpPr>
              <a:spLocks noChangeArrowheads="1"/>
            </p:cNvSpPr>
            <p:nvPr userDrawn="1"/>
          </p:nvSpPr>
          <p:spPr bwMode="auto">
            <a:xfrm flipV="1">
              <a:off x="4858018" y="442852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8" name="Oval 911"/>
            <p:cNvSpPr>
              <a:spLocks noChangeArrowheads="1"/>
            </p:cNvSpPr>
            <p:nvPr userDrawn="1"/>
          </p:nvSpPr>
          <p:spPr bwMode="auto">
            <a:xfrm flipV="1">
              <a:off x="4967042" y="4428522"/>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59" name="Oval 912"/>
            <p:cNvSpPr>
              <a:spLocks noChangeArrowheads="1"/>
            </p:cNvSpPr>
            <p:nvPr userDrawn="1"/>
          </p:nvSpPr>
          <p:spPr bwMode="auto">
            <a:xfrm flipV="1">
              <a:off x="5074131" y="4428522"/>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60" name="Oval 913"/>
            <p:cNvSpPr>
              <a:spLocks noChangeArrowheads="1"/>
            </p:cNvSpPr>
            <p:nvPr userDrawn="1"/>
          </p:nvSpPr>
          <p:spPr bwMode="auto">
            <a:xfrm flipV="1">
              <a:off x="5182188" y="4428522"/>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88" name="Oval 870"/>
            <p:cNvSpPr>
              <a:spLocks noChangeArrowheads="1"/>
            </p:cNvSpPr>
            <p:nvPr userDrawn="1"/>
          </p:nvSpPr>
          <p:spPr bwMode="auto">
            <a:xfrm flipV="1">
              <a:off x="4319658" y="475565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89" name="Oval 871"/>
            <p:cNvSpPr>
              <a:spLocks noChangeArrowheads="1"/>
            </p:cNvSpPr>
            <p:nvPr userDrawn="1"/>
          </p:nvSpPr>
          <p:spPr bwMode="auto">
            <a:xfrm flipV="1">
              <a:off x="4426751" y="475565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0" name="Oval 872"/>
            <p:cNvSpPr>
              <a:spLocks noChangeArrowheads="1"/>
            </p:cNvSpPr>
            <p:nvPr userDrawn="1"/>
          </p:nvSpPr>
          <p:spPr bwMode="auto">
            <a:xfrm flipV="1">
              <a:off x="4533843" y="475565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1" name="Oval 873"/>
            <p:cNvSpPr>
              <a:spLocks noChangeArrowheads="1"/>
            </p:cNvSpPr>
            <p:nvPr userDrawn="1"/>
          </p:nvSpPr>
          <p:spPr bwMode="auto">
            <a:xfrm flipV="1">
              <a:off x="4642865" y="475565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2" name="Oval 874"/>
            <p:cNvSpPr>
              <a:spLocks noChangeArrowheads="1"/>
            </p:cNvSpPr>
            <p:nvPr userDrawn="1"/>
          </p:nvSpPr>
          <p:spPr bwMode="auto">
            <a:xfrm flipV="1">
              <a:off x="4750923" y="475565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3" name="Oval 875"/>
            <p:cNvSpPr>
              <a:spLocks noChangeArrowheads="1"/>
            </p:cNvSpPr>
            <p:nvPr userDrawn="1"/>
          </p:nvSpPr>
          <p:spPr bwMode="auto">
            <a:xfrm flipV="1">
              <a:off x="4858015" y="475565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4" name="Oval 876"/>
            <p:cNvSpPr>
              <a:spLocks noChangeArrowheads="1"/>
            </p:cNvSpPr>
            <p:nvPr userDrawn="1"/>
          </p:nvSpPr>
          <p:spPr bwMode="auto">
            <a:xfrm flipV="1">
              <a:off x="4967038" y="475565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5" name="Oval 877"/>
            <p:cNvSpPr>
              <a:spLocks noChangeArrowheads="1"/>
            </p:cNvSpPr>
            <p:nvPr userDrawn="1"/>
          </p:nvSpPr>
          <p:spPr bwMode="auto">
            <a:xfrm flipV="1">
              <a:off x="5074129" y="475565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96" name="Oval 878"/>
            <p:cNvSpPr>
              <a:spLocks noChangeArrowheads="1"/>
            </p:cNvSpPr>
            <p:nvPr userDrawn="1"/>
          </p:nvSpPr>
          <p:spPr bwMode="auto">
            <a:xfrm flipV="1">
              <a:off x="5182187" y="475565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3" name="Oval 905"/>
            <p:cNvSpPr>
              <a:spLocks noChangeArrowheads="1"/>
            </p:cNvSpPr>
            <p:nvPr userDrawn="1"/>
          </p:nvSpPr>
          <p:spPr bwMode="auto">
            <a:xfrm flipV="1">
              <a:off x="4319659" y="46447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4" name="Oval 906"/>
            <p:cNvSpPr>
              <a:spLocks noChangeArrowheads="1"/>
            </p:cNvSpPr>
            <p:nvPr userDrawn="1"/>
          </p:nvSpPr>
          <p:spPr bwMode="auto">
            <a:xfrm flipV="1">
              <a:off x="4426753" y="46447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5" name="Oval 907"/>
            <p:cNvSpPr>
              <a:spLocks noChangeArrowheads="1"/>
            </p:cNvSpPr>
            <p:nvPr userDrawn="1"/>
          </p:nvSpPr>
          <p:spPr bwMode="auto">
            <a:xfrm flipV="1">
              <a:off x="4533845" y="46447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6" name="Oval 908"/>
            <p:cNvSpPr>
              <a:spLocks noChangeArrowheads="1"/>
            </p:cNvSpPr>
            <p:nvPr userDrawn="1"/>
          </p:nvSpPr>
          <p:spPr bwMode="auto">
            <a:xfrm flipV="1">
              <a:off x="4642867" y="46447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7" name="Oval 909"/>
            <p:cNvSpPr>
              <a:spLocks noChangeArrowheads="1"/>
            </p:cNvSpPr>
            <p:nvPr userDrawn="1"/>
          </p:nvSpPr>
          <p:spPr bwMode="auto">
            <a:xfrm flipV="1">
              <a:off x="4750926" y="46447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8" name="Oval 910"/>
            <p:cNvSpPr>
              <a:spLocks noChangeArrowheads="1"/>
            </p:cNvSpPr>
            <p:nvPr userDrawn="1"/>
          </p:nvSpPr>
          <p:spPr bwMode="auto">
            <a:xfrm flipV="1">
              <a:off x="4858018" y="46447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29" name="Oval 911"/>
            <p:cNvSpPr>
              <a:spLocks noChangeArrowheads="1"/>
            </p:cNvSpPr>
            <p:nvPr userDrawn="1"/>
          </p:nvSpPr>
          <p:spPr bwMode="auto">
            <a:xfrm flipV="1">
              <a:off x="4967042" y="46447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30" name="Oval 912"/>
            <p:cNvSpPr>
              <a:spLocks noChangeArrowheads="1"/>
            </p:cNvSpPr>
            <p:nvPr userDrawn="1"/>
          </p:nvSpPr>
          <p:spPr bwMode="auto">
            <a:xfrm flipV="1">
              <a:off x="5074131" y="46447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31" name="Oval 913"/>
            <p:cNvSpPr>
              <a:spLocks noChangeArrowheads="1"/>
            </p:cNvSpPr>
            <p:nvPr userDrawn="1"/>
          </p:nvSpPr>
          <p:spPr bwMode="auto">
            <a:xfrm flipV="1">
              <a:off x="5182188" y="46447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59" name="Oval 870"/>
            <p:cNvSpPr>
              <a:spLocks noChangeArrowheads="1"/>
            </p:cNvSpPr>
            <p:nvPr userDrawn="1"/>
          </p:nvSpPr>
          <p:spPr bwMode="auto">
            <a:xfrm flipV="1">
              <a:off x="4319658" y="497183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0" name="Oval 871"/>
            <p:cNvSpPr>
              <a:spLocks noChangeArrowheads="1"/>
            </p:cNvSpPr>
            <p:nvPr userDrawn="1"/>
          </p:nvSpPr>
          <p:spPr bwMode="auto">
            <a:xfrm flipV="1">
              <a:off x="4426751" y="497183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1" name="Oval 872"/>
            <p:cNvSpPr>
              <a:spLocks noChangeArrowheads="1"/>
            </p:cNvSpPr>
            <p:nvPr userDrawn="1"/>
          </p:nvSpPr>
          <p:spPr bwMode="auto">
            <a:xfrm flipV="1">
              <a:off x="4533843" y="497183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2" name="Oval 873"/>
            <p:cNvSpPr>
              <a:spLocks noChangeArrowheads="1"/>
            </p:cNvSpPr>
            <p:nvPr userDrawn="1"/>
          </p:nvSpPr>
          <p:spPr bwMode="auto">
            <a:xfrm flipV="1">
              <a:off x="4642865" y="497183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3" name="Oval 874"/>
            <p:cNvSpPr>
              <a:spLocks noChangeArrowheads="1"/>
            </p:cNvSpPr>
            <p:nvPr userDrawn="1"/>
          </p:nvSpPr>
          <p:spPr bwMode="auto">
            <a:xfrm flipV="1">
              <a:off x="4750923" y="497183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4" name="Oval 875"/>
            <p:cNvSpPr>
              <a:spLocks noChangeArrowheads="1"/>
            </p:cNvSpPr>
            <p:nvPr userDrawn="1"/>
          </p:nvSpPr>
          <p:spPr bwMode="auto">
            <a:xfrm flipV="1">
              <a:off x="4858015" y="497183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5" name="Oval 876"/>
            <p:cNvSpPr>
              <a:spLocks noChangeArrowheads="1"/>
            </p:cNvSpPr>
            <p:nvPr userDrawn="1"/>
          </p:nvSpPr>
          <p:spPr bwMode="auto">
            <a:xfrm flipV="1">
              <a:off x="4967038" y="497183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6" name="Oval 877"/>
            <p:cNvSpPr>
              <a:spLocks noChangeArrowheads="1"/>
            </p:cNvSpPr>
            <p:nvPr userDrawn="1"/>
          </p:nvSpPr>
          <p:spPr bwMode="auto">
            <a:xfrm flipV="1">
              <a:off x="5074129" y="497183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67" name="Oval 878"/>
            <p:cNvSpPr>
              <a:spLocks noChangeArrowheads="1"/>
            </p:cNvSpPr>
            <p:nvPr userDrawn="1"/>
          </p:nvSpPr>
          <p:spPr bwMode="auto">
            <a:xfrm flipV="1">
              <a:off x="5182187" y="497183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4" name="Oval 905"/>
            <p:cNvSpPr>
              <a:spLocks noChangeArrowheads="1"/>
            </p:cNvSpPr>
            <p:nvPr userDrawn="1"/>
          </p:nvSpPr>
          <p:spPr bwMode="auto">
            <a:xfrm flipV="1">
              <a:off x="4319659" y="486088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5" name="Oval 906"/>
            <p:cNvSpPr>
              <a:spLocks noChangeArrowheads="1"/>
            </p:cNvSpPr>
            <p:nvPr userDrawn="1"/>
          </p:nvSpPr>
          <p:spPr bwMode="auto">
            <a:xfrm flipV="1">
              <a:off x="4426753" y="486088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6" name="Oval 907"/>
            <p:cNvSpPr>
              <a:spLocks noChangeArrowheads="1"/>
            </p:cNvSpPr>
            <p:nvPr userDrawn="1"/>
          </p:nvSpPr>
          <p:spPr bwMode="auto">
            <a:xfrm flipV="1">
              <a:off x="4533845" y="486088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7" name="Oval 908"/>
            <p:cNvSpPr>
              <a:spLocks noChangeArrowheads="1"/>
            </p:cNvSpPr>
            <p:nvPr userDrawn="1"/>
          </p:nvSpPr>
          <p:spPr bwMode="auto">
            <a:xfrm flipV="1">
              <a:off x="4642867" y="486088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8" name="Oval 909"/>
            <p:cNvSpPr>
              <a:spLocks noChangeArrowheads="1"/>
            </p:cNvSpPr>
            <p:nvPr userDrawn="1"/>
          </p:nvSpPr>
          <p:spPr bwMode="auto">
            <a:xfrm flipV="1">
              <a:off x="4750926" y="486088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99" name="Oval 910"/>
            <p:cNvSpPr>
              <a:spLocks noChangeArrowheads="1"/>
            </p:cNvSpPr>
            <p:nvPr userDrawn="1"/>
          </p:nvSpPr>
          <p:spPr bwMode="auto">
            <a:xfrm flipV="1">
              <a:off x="4858018" y="486088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00" name="Oval 911"/>
            <p:cNvSpPr>
              <a:spLocks noChangeArrowheads="1"/>
            </p:cNvSpPr>
            <p:nvPr userDrawn="1"/>
          </p:nvSpPr>
          <p:spPr bwMode="auto">
            <a:xfrm flipV="1">
              <a:off x="4967042" y="486088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01" name="Oval 912"/>
            <p:cNvSpPr>
              <a:spLocks noChangeArrowheads="1"/>
            </p:cNvSpPr>
            <p:nvPr userDrawn="1"/>
          </p:nvSpPr>
          <p:spPr bwMode="auto">
            <a:xfrm flipV="1">
              <a:off x="5074131" y="486088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02" name="Oval 913"/>
            <p:cNvSpPr>
              <a:spLocks noChangeArrowheads="1"/>
            </p:cNvSpPr>
            <p:nvPr userDrawn="1"/>
          </p:nvSpPr>
          <p:spPr bwMode="auto">
            <a:xfrm flipV="1">
              <a:off x="5182188" y="486088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0" name="Oval 870"/>
            <p:cNvSpPr>
              <a:spLocks noChangeArrowheads="1"/>
            </p:cNvSpPr>
            <p:nvPr userDrawn="1"/>
          </p:nvSpPr>
          <p:spPr bwMode="auto">
            <a:xfrm flipV="1">
              <a:off x="4319658" y="518801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1" name="Oval 871"/>
            <p:cNvSpPr>
              <a:spLocks noChangeArrowheads="1"/>
            </p:cNvSpPr>
            <p:nvPr userDrawn="1"/>
          </p:nvSpPr>
          <p:spPr bwMode="auto">
            <a:xfrm flipV="1">
              <a:off x="4426751" y="518801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2" name="Oval 872"/>
            <p:cNvSpPr>
              <a:spLocks noChangeArrowheads="1"/>
            </p:cNvSpPr>
            <p:nvPr userDrawn="1"/>
          </p:nvSpPr>
          <p:spPr bwMode="auto">
            <a:xfrm flipV="1">
              <a:off x="4533843" y="518801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3" name="Oval 873"/>
            <p:cNvSpPr>
              <a:spLocks noChangeArrowheads="1"/>
            </p:cNvSpPr>
            <p:nvPr userDrawn="1"/>
          </p:nvSpPr>
          <p:spPr bwMode="auto">
            <a:xfrm flipV="1">
              <a:off x="4642865" y="518801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4" name="Oval 874"/>
            <p:cNvSpPr>
              <a:spLocks noChangeArrowheads="1"/>
            </p:cNvSpPr>
            <p:nvPr userDrawn="1"/>
          </p:nvSpPr>
          <p:spPr bwMode="auto">
            <a:xfrm flipV="1">
              <a:off x="4750923" y="518801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5" name="Oval 875"/>
            <p:cNvSpPr>
              <a:spLocks noChangeArrowheads="1"/>
            </p:cNvSpPr>
            <p:nvPr userDrawn="1"/>
          </p:nvSpPr>
          <p:spPr bwMode="auto">
            <a:xfrm flipV="1">
              <a:off x="4858015" y="518801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6" name="Oval 876"/>
            <p:cNvSpPr>
              <a:spLocks noChangeArrowheads="1"/>
            </p:cNvSpPr>
            <p:nvPr userDrawn="1"/>
          </p:nvSpPr>
          <p:spPr bwMode="auto">
            <a:xfrm flipV="1">
              <a:off x="4967038" y="5188016"/>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7" name="Oval 877"/>
            <p:cNvSpPr>
              <a:spLocks noChangeArrowheads="1"/>
            </p:cNvSpPr>
            <p:nvPr userDrawn="1"/>
          </p:nvSpPr>
          <p:spPr bwMode="auto">
            <a:xfrm flipV="1">
              <a:off x="5074129" y="5188016"/>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38" name="Oval 878"/>
            <p:cNvSpPr>
              <a:spLocks noChangeArrowheads="1"/>
            </p:cNvSpPr>
            <p:nvPr userDrawn="1"/>
          </p:nvSpPr>
          <p:spPr bwMode="auto">
            <a:xfrm flipV="1">
              <a:off x="5182187" y="5188016"/>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65" name="Oval 905"/>
            <p:cNvSpPr>
              <a:spLocks noChangeArrowheads="1"/>
            </p:cNvSpPr>
            <p:nvPr userDrawn="1"/>
          </p:nvSpPr>
          <p:spPr bwMode="auto">
            <a:xfrm flipV="1">
              <a:off x="4319659" y="507706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66" name="Oval 906"/>
            <p:cNvSpPr>
              <a:spLocks noChangeArrowheads="1"/>
            </p:cNvSpPr>
            <p:nvPr userDrawn="1"/>
          </p:nvSpPr>
          <p:spPr bwMode="auto">
            <a:xfrm flipV="1">
              <a:off x="4426753" y="507706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67" name="Oval 907"/>
            <p:cNvSpPr>
              <a:spLocks noChangeArrowheads="1"/>
            </p:cNvSpPr>
            <p:nvPr userDrawn="1"/>
          </p:nvSpPr>
          <p:spPr bwMode="auto">
            <a:xfrm flipV="1">
              <a:off x="4533845" y="507706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68" name="Oval 908"/>
            <p:cNvSpPr>
              <a:spLocks noChangeArrowheads="1"/>
            </p:cNvSpPr>
            <p:nvPr userDrawn="1"/>
          </p:nvSpPr>
          <p:spPr bwMode="auto">
            <a:xfrm flipV="1">
              <a:off x="4642867" y="507706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69" name="Oval 909"/>
            <p:cNvSpPr>
              <a:spLocks noChangeArrowheads="1"/>
            </p:cNvSpPr>
            <p:nvPr userDrawn="1"/>
          </p:nvSpPr>
          <p:spPr bwMode="auto">
            <a:xfrm flipV="1">
              <a:off x="4750926" y="507706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70" name="Oval 910"/>
            <p:cNvSpPr>
              <a:spLocks noChangeArrowheads="1"/>
            </p:cNvSpPr>
            <p:nvPr userDrawn="1"/>
          </p:nvSpPr>
          <p:spPr bwMode="auto">
            <a:xfrm flipV="1">
              <a:off x="4858018" y="507706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71" name="Oval 911"/>
            <p:cNvSpPr>
              <a:spLocks noChangeArrowheads="1"/>
            </p:cNvSpPr>
            <p:nvPr userDrawn="1"/>
          </p:nvSpPr>
          <p:spPr bwMode="auto">
            <a:xfrm flipV="1">
              <a:off x="4967042" y="507706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72" name="Oval 912"/>
            <p:cNvSpPr>
              <a:spLocks noChangeArrowheads="1"/>
            </p:cNvSpPr>
            <p:nvPr userDrawn="1"/>
          </p:nvSpPr>
          <p:spPr bwMode="auto">
            <a:xfrm flipV="1">
              <a:off x="5074131" y="507706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73" name="Oval 913"/>
            <p:cNvSpPr>
              <a:spLocks noChangeArrowheads="1"/>
            </p:cNvSpPr>
            <p:nvPr userDrawn="1"/>
          </p:nvSpPr>
          <p:spPr bwMode="auto">
            <a:xfrm flipV="1">
              <a:off x="5182188" y="507706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1" name="Oval 870"/>
            <p:cNvSpPr>
              <a:spLocks noChangeArrowheads="1"/>
            </p:cNvSpPr>
            <p:nvPr userDrawn="1"/>
          </p:nvSpPr>
          <p:spPr bwMode="auto">
            <a:xfrm flipV="1">
              <a:off x="4319658" y="540419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2" name="Oval 871"/>
            <p:cNvSpPr>
              <a:spLocks noChangeArrowheads="1"/>
            </p:cNvSpPr>
            <p:nvPr userDrawn="1"/>
          </p:nvSpPr>
          <p:spPr bwMode="auto">
            <a:xfrm flipV="1">
              <a:off x="4426751" y="540419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3" name="Oval 872"/>
            <p:cNvSpPr>
              <a:spLocks noChangeArrowheads="1"/>
            </p:cNvSpPr>
            <p:nvPr userDrawn="1"/>
          </p:nvSpPr>
          <p:spPr bwMode="auto">
            <a:xfrm flipV="1">
              <a:off x="4533843" y="540419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4" name="Oval 873"/>
            <p:cNvSpPr>
              <a:spLocks noChangeArrowheads="1"/>
            </p:cNvSpPr>
            <p:nvPr userDrawn="1"/>
          </p:nvSpPr>
          <p:spPr bwMode="auto">
            <a:xfrm flipV="1">
              <a:off x="4642865" y="540419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5" name="Oval 874"/>
            <p:cNvSpPr>
              <a:spLocks noChangeArrowheads="1"/>
            </p:cNvSpPr>
            <p:nvPr userDrawn="1"/>
          </p:nvSpPr>
          <p:spPr bwMode="auto">
            <a:xfrm flipV="1">
              <a:off x="4750923" y="540419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6" name="Oval 875"/>
            <p:cNvSpPr>
              <a:spLocks noChangeArrowheads="1"/>
            </p:cNvSpPr>
            <p:nvPr userDrawn="1"/>
          </p:nvSpPr>
          <p:spPr bwMode="auto">
            <a:xfrm flipV="1">
              <a:off x="4858015" y="540419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7" name="Oval 876"/>
            <p:cNvSpPr>
              <a:spLocks noChangeArrowheads="1"/>
            </p:cNvSpPr>
            <p:nvPr userDrawn="1"/>
          </p:nvSpPr>
          <p:spPr bwMode="auto">
            <a:xfrm flipV="1">
              <a:off x="4967038" y="5404195"/>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8" name="Oval 877"/>
            <p:cNvSpPr>
              <a:spLocks noChangeArrowheads="1"/>
            </p:cNvSpPr>
            <p:nvPr userDrawn="1"/>
          </p:nvSpPr>
          <p:spPr bwMode="auto">
            <a:xfrm flipV="1">
              <a:off x="5074129" y="5404195"/>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09" name="Oval 878"/>
            <p:cNvSpPr>
              <a:spLocks noChangeArrowheads="1"/>
            </p:cNvSpPr>
            <p:nvPr userDrawn="1"/>
          </p:nvSpPr>
          <p:spPr bwMode="auto">
            <a:xfrm flipV="1">
              <a:off x="5182187" y="5404195"/>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36" name="Oval 905"/>
            <p:cNvSpPr>
              <a:spLocks noChangeArrowheads="1"/>
            </p:cNvSpPr>
            <p:nvPr userDrawn="1"/>
          </p:nvSpPr>
          <p:spPr bwMode="auto">
            <a:xfrm flipV="1">
              <a:off x="4319659" y="529324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37" name="Oval 906"/>
            <p:cNvSpPr>
              <a:spLocks noChangeArrowheads="1"/>
            </p:cNvSpPr>
            <p:nvPr userDrawn="1"/>
          </p:nvSpPr>
          <p:spPr bwMode="auto">
            <a:xfrm flipV="1">
              <a:off x="4426753" y="529324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38" name="Oval 907"/>
            <p:cNvSpPr>
              <a:spLocks noChangeArrowheads="1"/>
            </p:cNvSpPr>
            <p:nvPr userDrawn="1"/>
          </p:nvSpPr>
          <p:spPr bwMode="auto">
            <a:xfrm flipV="1">
              <a:off x="4533845" y="529324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39" name="Oval 908"/>
            <p:cNvSpPr>
              <a:spLocks noChangeArrowheads="1"/>
            </p:cNvSpPr>
            <p:nvPr userDrawn="1"/>
          </p:nvSpPr>
          <p:spPr bwMode="auto">
            <a:xfrm flipV="1">
              <a:off x="4642867" y="529324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40" name="Oval 909"/>
            <p:cNvSpPr>
              <a:spLocks noChangeArrowheads="1"/>
            </p:cNvSpPr>
            <p:nvPr userDrawn="1"/>
          </p:nvSpPr>
          <p:spPr bwMode="auto">
            <a:xfrm flipV="1">
              <a:off x="4750926" y="529324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41" name="Oval 910"/>
            <p:cNvSpPr>
              <a:spLocks noChangeArrowheads="1"/>
            </p:cNvSpPr>
            <p:nvPr userDrawn="1"/>
          </p:nvSpPr>
          <p:spPr bwMode="auto">
            <a:xfrm flipV="1">
              <a:off x="4858018" y="529324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42" name="Oval 911"/>
            <p:cNvSpPr>
              <a:spLocks noChangeArrowheads="1"/>
            </p:cNvSpPr>
            <p:nvPr userDrawn="1"/>
          </p:nvSpPr>
          <p:spPr bwMode="auto">
            <a:xfrm flipV="1">
              <a:off x="4967042" y="5293240"/>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43" name="Oval 912"/>
            <p:cNvSpPr>
              <a:spLocks noChangeArrowheads="1"/>
            </p:cNvSpPr>
            <p:nvPr userDrawn="1"/>
          </p:nvSpPr>
          <p:spPr bwMode="auto">
            <a:xfrm flipV="1">
              <a:off x="5074131" y="5293240"/>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44" name="Oval 913"/>
            <p:cNvSpPr>
              <a:spLocks noChangeArrowheads="1"/>
            </p:cNvSpPr>
            <p:nvPr userDrawn="1"/>
          </p:nvSpPr>
          <p:spPr bwMode="auto">
            <a:xfrm flipV="1">
              <a:off x="5182188" y="5293240"/>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2" name="Oval 870"/>
            <p:cNvSpPr>
              <a:spLocks noChangeArrowheads="1"/>
            </p:cNvSpPr>
            <p:nvPr userDrawn="1"/>
          </p:nvSpPr>
          <p:spPr bwMode="auto">
            <a:xfrm flipV="1">
              <a:off x="4319658" y="562037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3" name="Oval 871"/>
            <p:cNvSpPr>
              <a:spLocks noChangeArrowheads="1"/>
            </p:cNvSpPr>
            <p:nvPr userDrawn="1"/>
          </p:nvSpPr>
          <p:spPr bwMode="auto">
            <a:xfrm flipV="1">
              <a:off x="4426751" y="562037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4" name="Oval 872"/>
            <p:cNvSpPr>
              <a:spLocks noChangeArrowheads="1"/>
            </p:cNvSpPr>
            <p:nvPr userDrawn="1"/>
          </p:nvSpPr>
          <p:spPr bwMode="auto">
            <a:xfrm flipV="1">
              <a:off x="4533843" y="562037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5" name="Oval 873"/>
            <p:cNvSpPr>
              <a:spLocks noChangeArrowheads="1"/>
            </p:cNvSpPr>
            <p:nvPr userDrawn="1"/>
          </p:nvSpPr>
          <p:spPr bwMode="auto">
            <a:xfrm flipV="1">
              <a:off x="4642865" y="562037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6" name="Oval 874"/>
            <p:cNvSpPr>
              <a:spLocks noChangeArrowheads="1"/>
            </p:cNvSpPr>
            <p:nvPr userDrawn="1"/>
          </p:nvSpPr>
          <p:spPr bwMode="auto">
            <a:xfrm flipV="1">
              <a:off x="4750923" y="562037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7" name="Oval 875"/>
            <p:cNvSpPr>
              <a:spLocks noChangeArrowheads="1"/>
            </p:cNvSpPr>
            <p:nvPr userDrawn="1"/>
          </p:nvSpPr>
          <p:spPr bwMode="auto">
            <a:xfrm flipV="1">
              <a:off x="4858015" y="562037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8" name="Oval 876"/>
            <p:cNvSpPr>
              <a:spLocks noChangeArrowheads="1"/>
            </p:cNvSpPr>
            <p:nvPr userDrawn="1"/>
          </p:nvSpPr>
          <p:spPr bwMode="auto">
            <a:xfrm flipV="1">
              <a:off x="4967038" y="5620373"/>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79" name="Oval 877"/>
            <p:cNvSpPr>
              <a:spLocks noChangeArrowheads="1"/>
            </p:cNvSpPr>
            <p:nvPr userDrawn="1"/>
          </p:nvSpPr>
          <p:spPr bwMode="auto">
            <a:xfrm flipV="1">
              <a:off x="5074129" y="5620373"/>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80" name="Oval 878"/>
            <p:cNvSpPr>
              <a:spLocks noChangeArrowheads="1"/>
            </p:cNvSpPr>
            <p:nvPr userDrawn="1"/>
          </p:nvSpPr>
          <p:spPr bwMode="auto">
            <a:xfrm flipV="1">
              <a:off x="5182187" y="5620373"/>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07" name="Oval 905"/>
            <p:cNvSpPr>
              <a:spLocks noChangeArrowheads="1"/>
            </p:cNvSpPr>
            <p:nvPr userDrawn="1"/>
          </p:nvSpPr>
          <p:spPr bwMode="auto">
            <a:xfrm flipV="1">
              <a:off x="4319659" y="550941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08" name="Oval 906"/>
            <p:cNvSpPr>
              <a:spLocks noChangeArrowheads="1"/>
            </p:cNvSpPr>
            <p:nvPr userDrawn="1"/>
          </p:nvSpPr>
          <p:spPr bwMode="auto">
            <a:xfrm flipV="1">
              <a:off x="4426753" y="550941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09" name="Oval 907"/>
            <p:cNvSpPr>
              <a:spLocks noChangeArrowheads="1"/>
            </p:cNvSpPr>
            <p:nvPr userDrawn="1"/>
          </p:nvSpPr>
          <p:spPr bwMode="auto">
            <a:xfrm flipV="1">
              <a:off x="4533845" y="550941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0" name="Oval 908"/>
            <p:cNvSpPr>
              <a:spLocks noChangeArrowheads="1"/>
            </p:cNvSpPr>
            <p:nvPr userDrawn="1"/>
          </p:nvSpPr>
          <p:spPr bwMode="auto">
            <a:xfrm flipV="1">
              <a:off x="4642867" y="550941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1" name="Oval 909"/>
            <p:cNvSpPr>
              <a:spLocks noChangeArrowheads="1"/>
            </p:cNvSpPr>
            <p:nvPr userDrawn="1"/>
          </p:nvSpPr>
          <p:spPr bwMode="auto">
            <a:xfrm flipV="1">
              <a:off x="4750926" y="550941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2" name="Oval 910"/>
            <p:cNvSpPr>
              <a:spLocks noChangeArrowheads="1"/>
            </p:cNvSpPr>
            <p:nvPr userDrawn="1"/>
          </p:nvSpPr>
          <p:spPr bwMode="auto">
            <a:xfrm flipV="1">
              <a:off x="4858018" y="550941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3" name="Oval 911"/>
            <p:cNvSpPr>
              <a:spLocks noChangeArrowheads="1"/>
            </p:cNvSpPr>
            <p:nvPr userDrawn="1"/>
          </p:nvSpPr>
          <p:spPr bwMode="auto">
            <a:xfrm flipV="1">
              <a:off x="4967042" y="5509418"/>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4" name="Oval 912"/>
            <p:cNvSpPr>
              <a:spLocks noChangeArrowheads="1"/>
            </p:cNvSpPr>
            <p:nvPr userDrawn="1"/>
          </p:nvSpPr>
          <p:spPr bwMode="auto">
            <a:xfrm flipV="1">
              <a:off x="5074131" y="5509418"/>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15" name="Oval 913"/>
            <p:cNvSpPr>
              <a:spLocks noChangeArrowheads="1"/>
            </p:cNvSpPr>
            <p:nvPr userDrawn="1"/>
          </p:nvSpPr>
          <p:spPr bwMode="auto">
            <a:xfrm flipV="1">
              <a:off x="5182188" y="5509418"/>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3" name="Oval 905"/>
            <p:cNvSpPr>
              <a:spLocks noChangeArrowheads="1"/>
            </p:cNvSpPr>
            <p:nvPr userDrawn="1"/>
          </p:nvSpPr>
          <p:spPr bwMode="auto">
            <a:xfrm flipV="1">
              <a:off x="4319658"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4" name="Oval 906"/>
            <p:cNvSpPr>
              <a:spLocks noChangeArrowheads="1"/>
            </p:cNvSpPr>
            <p:nvPr userDrawn="1"/>
          </p:nvSpPr>
          <p:spPr bwMode="auto">
            <a:xfrm flipV="1">
              <a:off x="4426751"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5" name="Oval 907"/>
            <p:cNvSpPr>
              <a:spLocks noChangeArrowheads="1"/>
            </p:cNvSpPr>
            <p:nvPr userDrawn="1"/>
          </p:nvSpPr>
          <p:spPr bwMode="auto">
            <a:xfrm flipV="1">
              <a:off x="4533843"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6" name="Oval 908"/>
            <p:cNvSpPr>
              <a:spLocks noChangeArrowheads="1"/>
            </p:cNvSpPr>
            <p:nvPr userDrawn="1"/>
          </p:nvSpPr>
          <p:spPr bwMode="auto">
            <a:xfrm flipV="1">
              <a:off x="4642865"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7" name="Oval 909"/>
            <p:cNvSpPr>
              <a:spLocks noChangeArrowheads="1"/>
            </p:cNvSpPr>
            <p:nvPr userDrawn="1"/>
          </p:nvSpPr>
          <p:spPr bwMode="auto">
            <a:xfrm flipV="1">
              <a:off x="4750923"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8" name="Oval 910"/>
            <p:cNvSpPr>
              <a:spLocks noChangeArrowheads="1"/>
            </p:cNvSpPr>
            <p:nvPr userDrawn="1"/>
          </p:nvSpPr>
          <p:spPr bwMode="auto">
            <a:xfrm flipV="1">
              <a:off x="4858015"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49" name="Oval 911"/>
            <p:cNvSpPr>
              <a:spLocks noChangeArrowheads="1"/>
            </p:cNvSpPr>
            <p:nvPr userDrawn="1"/>
          </p:nvSpPr>
          <p:spPr bwMode="auto">
            <a:xfrm flipV="1">
              <a:off x="4967037" y="5725601"/>
              <a:ext cx="964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50" name="Oval 912"/>
            <p:cNvSpPr>
              <a:spLocks noChangeArrowheads="1"/>
            </p:cNvSpPr>
            <p:nvPr userDrawn="1"/>
          </p:nvSpPr>
          <p:spPr bwMode="auto">
            <a:xfrm flipV="1">
              <a:off x="5074129" y="5725601"/>
              <a:ext cx="10613"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51" name="Oval 913"/>
            <p:cNvSpPr>
              <a:spLocks noChangeArrowheads="1"/>
            </p:cNvSpPr>
            <p:nvPr userDrawn="1"/>
          </p:nvSpPr>
          <p:spPr bwMode="auto">
            <a:xfrm flipV="1">
              <a:off x="5182186" y="5725601"/>
              <a:ext cx="11578" cy="106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7" name="Freeform 5"/>
          <p:cNvSpPr>
            <a:spLocks/>
          </p:cNvSpPr>
          <p:nvPr userDrawn="1"/>
        </p:nvSpPr>
        <p:spPr bwMode="auto">
          <a:xfrm>
            <a:off x="2544793" y="703719"/>
            <a:ext cx="2346385" cy="1790282"/>
          </a:xfrm>
          <a:custGeom>
            <a:avLst/>
            <a:gdLst>
              <a:gd name="T0" fmla="*/ 218 w 404"/>
              <a:gd name="T1" fmla="*/ 0 h 411"/>
              <a:gd name="T2" fmla="*/ 7 w 404"/>
              <a:gd name="T3" fmla="*/ 169 h 411"/>
              <a:gd name="T4" fmla="*/ 0 w 404"/>
              <a:gd name="T5" fmla="*/ 328 h 411"/>
              <a:gd name="T6" fmla="*/ 244 w 404"/>
              <a:gd name="T7" fmla="*/ 411 h 411"/>
              <a:gd name="T8" fmla="*/ 404 w 404"/>
              <a:gd name="T9" fmla="*/ 234 h 411"/>
              <a:gd name="T10" fmla="*/ 218 w 404"/>
              <a:gd name="T11" fmla="*/ 0 h 411"/>
            </a:gdLst>
            <a:ahLst/>
            <a:cxnLst>
              <a:cxn ang="0">
                <a:pos x="T0" y="T1"/>
              </a:cxn>
              <a:cxn ang="0">
                <a:pos x="T2" y="T3"/>
              </a:cxn>
              <a:cxn ang="0">
                <a:pos x="T4" y="T5"/>
              </a:cxn>
              <a:cxn ang="0">
                <a:pos x="T6" y="T7"/>
              </a:cxn>
              <a:cxn ang="0">
                <a:pos x="T8" y="T9"/>
              </a:cxn>
              <a:cxn ang="0">
                <a:pos x="T10" y="T11"/>
              </a:cxn>
            </a:cxnLst>
            <a:rect l="0" t="0" r="r" b="b"/>
            <a:pathLst>
              <a:path w="404" h="411">
                <a:moveTo>
                  <a:pt x="218" y="0"/>
                </a:moveTo>
                <a:lnTo>
                  <a:pt x="7" y="169"/>
                </a:lnTo>
                <a:lnTo>
                  <a:pt x="0" y="328"/>
                </a:lnTo>
                <a:lnTo>
                  <a:pt x="244" y="411"/>
                </a:lnTo>
                <a:lnTo>
                  <a:pt x="404" y="234"/>
                </a:lnTo>
                <a:lnTo>
                  <a:pt x="218" y="0"/>
                </a:lnTo>
                <a:close/>
              </a:path>
            </a:pathLst>
          </a:custGeom>
          <a:gradFill flip="none" rotWithShape="1">
            <a:gsLst>
              <a:gs pos="0">
                <a:schemeClr val="accent1"/>
              </a:gs>
              <a:gs pos="94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fr-FR"/>
          </a:p>
        </p:txBody>
      </p:sp>
      <p:sp>
        <p:nvSpPr>
          <p:cNvPr id="2188" name="Espace réservé du texte 3"/>
          <p:cNvSpPr>
            <a:spLocks noGrp="1"/>
          </p:cNvSpPr>
          <p:nvPr>
            <p:ph type="body" sz="quarter" idx="12" hasCustomPrompt="1"/>
          </p:nvPr>
        </p:nvSpPr>
        <p:spPr>
          <a:xfrm>
            <a:off x="4499339" y="2296558"/>
            <a:ext cx="3371850" cy="517811"/>
          </a:xfrm>
        </p:spPr>
        <p:txBody>
          <a:bodyPr/>
          <a:lstStyle>
            <a:lvl1pPr>
              <a:defRPr sz="2400" cap="all" baseline="0">
                <a:solidFill>
                  <a:schemeClr val="accent2"/>
                </a:solidFill>
              </a:defRPr>
            </a:lvl1pPr>
          </a:lstStyle>
          <a:p>
            <a:pPr lvl="0"/>
            <a:r>
              <a:rPr lang="fr-FR"/>
              <a:t>TITRE DE CHAPITRE SUR 1 OU 2 LIGNES</a:t>
            </a:r>
          </a:p>
        </p:txBody>
      </p:sp>
      <p:sp>
        <p:nvSpPr>
          <p:cNvPr id="2189" name="Espace réservé du texte 3"/>
          <p:cNvSpPr>
            <a:spLocks noGrp="1"/>
          </p:cNvSpPr>
          <p:nvPr>
            <p:ph type="body" sz="quarter" idx="13" hasCustomPrompt="1"/>
          </p:nvPr>
        </p:nvSpPr>
        <p:spPr>
          <a:xfrm>
            <a:off x="4499339" y="2897751"/>
            <a:ext cx="3371850" cy="212864"/>
          </a:xfrm>
        </p:spPr>
        <p:txBody>
          <a:bodyPr/>
          <a:lstStyle>
            <a:lvl1pPr>
              <a:defRPr sz="1600" cap="none" baseline="0">
                <a:solidFill>
                  <a:schemeClr val="tx1"/>
                </a:solidFill>
              </a:defRPr>
            </a:lvl1pPr>
          </a:lstStyle>
          <a:p>
            <a:pPr lvl="0"/>
            <a:r>
              <a:rPr lang="fr-FR"/>
              <a:t>Sous-titre sur 1 ou 2 lignes</a:t>
            </a:r>
          </a:p>
        </p:txBody>
      </p:sp>
      <p:sp>
        <p:nvSpPr>
          <p:cNvPr id="2191" name="Espace réservé du texte 3"/>
          <p:cNvSpPr>
            <a:spLocks noGrp="1"/>
          </p:cNvSpPr>
          <p:nvPr>
            <p:ph type="body" sz="quarter" idx="14" hasCustomPrompt="1"/>
          </p:nvPr>
        </p:nvSpPr>
        <p:spPr>
          <a:xfrm>
            <a:off x="2679188" y="1424876"/>
            <a:ext cx="1887812" cy="517811"/>
          </a:xfrm>
        </p:spPr>
        <p:txBody>
          <a:bodyPr anchor="ctr"/>
          <a:lstStyle>
            <a:lvl1pPr algn="ctr">
              <a:defRPr sz="9600" b="1" cap="all" baseline="0">
                <a:solidFill>
                  <a:schemeClr val="bg1"/>
                </a:solidFill>
              </a:defRPr>
            </a:lvl1pPr>
          </a:lstStyle>
          <a:p>
            <a:pPr lvl="0"/>
            <a:r>
              <a:rPr lang="fr-FR"/>
              <a:t>n°</a:t>
            </a:r>
          </a:p>
        </p:txBody>
      </p:sp>
      <p:sp>
        <p:nvSpPr>
          <p:cNvPr id="2" name="Espace réservé de la date 1"/>
          <p:cNvSpPr>
            <a:spLocks noGrp="1"/>
          </p:cNvSpPr>
          <p:nvPr>
            <p:ph type="dt" sz="half" idx="15"/>
          </p:nvPr>
        </p:nvSpPr>
        <p:spPr/>
        <p:txBody>
          <a:bodyPr/>
          <a:lstStyle/>
          <a:p>
            <a:r>
              <a:rPr lang="fr-FR"/>
              <a:t>04/06/2025</a:t>
            </a:r>
          </a:p>
        </p:txBody>
      </p:sp>
      <p:sp>
        <p:nvSpPr>
          <p:cNvPr id="5" name="Espace réservé du pied de page 4"/>
          <p:cNvSpPr>
            <a:spLocks noGrp="1"/>
          </p:cNvSpPr>
          <p:nvPr>
            <p:ph type="ftr" sz="quarter" idx="16"/>
          </p:nvPr>
        </p:nvSpPr>
        <p:spPr/>
        <p:txBody>
          <a:bodyPr/>
          <a:lstStyle/>
          <a:p>
            <a:r>
              <a:rPr lang="fr-FR"/>
              <a:t>Institut national de l’information  géographique et forestière</a:t>
            </a:r>
          </a:p>
        </p:txBody>
      </p:sp>
      <p:sp>
        <p:nvSpPr>
          <p:cNvPr id="6" name="Espace réservé du numéro de diapositive 5"/>
          <p:cNvSpPr>
            <a:spLocks noGrp="1"/>
          </p:cNvSpPr>
          <p:nvPr>
            <p:ph type="sldNum" sz="quarter" idx="17"/>
          </p:nvPr>
        </p:nvSpPr>
        <p:spPr/>
        <p:txBody>
          <a:bodyPr/>
          <a:lstStyle/>
          <a:p>
            <a:fld id="{BFDCCF6A-CD24-4809-A0CF-2C58009B08AC}" type="slidenum">
              <a:rPr lang="fr-FR" smtClean="0"/>
              <a:pPr/>
              <a:t>‹N°›</a:t>
            </a:fld>
            <a:endParaRPr lang="fr-FR"/>
          </a:p>
        </p:txBody>
      </p:sp>
    </p:spTree>
    <p:extLst>
      <p:ext uri="{BB962C8B-B14F-4D97-AF65-F5344CB8AC3E}">
        <p14:creationId xmlns:p14="http://schemas.microsoft.com/office/powerpoint/2010/main" val="571890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359999" y="900000"/>
            <a:ext cx="8424000" cy="72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359999" y="1836000"/>
            <a:ext cx="8424000" cy="2574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7614000" y="4783500"/>
            <a:ext cx="1170000" cy="360000"/>
          </a:xfrm>
          <a:prstGeom prst="rect">
            <a:avLst/>
          </a:prstGeom>
        </p:spPr>
        <p:txBody>
          <a:bodyPr vert="horz" lIns="0" tIns="0" rIns="0" bIns="0" rtlCol="0" anchor="ctr" anchorCtr="0">
            <a:noAutofit/>
          </a:bodyPr>
          <a:lstStyle>
            <a:lvl1pPr algn="ctr">
              <a:defRPr sz="750" b="1">
                <a:solidFill>
                  <a:schemeClr val="tx1"/>
                </a:solidFill>
              </a:defRPr>
            </a:lvl1pPr>
          </a:lstStyle>
          <a:p>
            <a:pPr algn="r"/>
            <a:r>
              <a:rPr lang="fr-FR" cap="all"/>
              <a:t>04/06/2025</a:t>
            </a:r>
          </a:p>
        </p:txBody>
      </p:sp>
      <p:sp>
        <p:nvSpPr>
          <p:cNvPr id="5" name="Espace réservé du pied de page 4"/>
          <p:cNvSpPr>
            <a:spLocks noGrp="1"/>
          </p:cNvSpPr>
          <p:nvPr>
            <p:ph type="ftr" sz="quarter" idx="3"/>
          </p:nvPr>
        </p:nvSpPr>
        <p:spPr bwMode="gray">
          <a:xfrm>
            <a:off x="360000" y="4783500"/>
            <a:ext cx="5904000" cy="360000"/>
          </a:xfrm>
          <a:prstGeom prst="rect">
            <a:avLst/>
          </a:prstGeom>
        </p:spPr>
        <p:txBody>
          <a:bodyPr vert="horz" lIns="0" tIns="0" rIns="0" bIns="0" rtlCol="0" anchor="ctr" anchorCtr="0">
            <a:noAutofit/>
          </a:bodyPr>
          <a:lstStyle>
            <a:lvl1pPr algn="l">
              <a:defRPr sz="750" b="1">
                <a:solidFill>
                  <a:schemeClr val="tx1"/>
                </a:solidFill>
              </a:defRPr>
            </a:lvl1pPr>
          </a:lstStyle>
          <a:p>
            <a:r>
              <a:rPr lang="fr-FR"/>
              <a:t>Institut national de l’information  géographique et forestière</a:t>
            </a:r>
          </a:p>
        </p:txBody>
      </p:sp>
      <p:sp>
        <p:nvSpPr>
          <p:cNvPr id="6" name="Espace réservé du numéro de diapositive 5"/>
          <p:cNvSpPr>
            <a:spLocks noGrp="1"/>
          </p:cNvSpPr>
          <p:nvPr>
            <p:ph type="sldNum" sz="quarter" idx="4"/>
          </p:nvPr>
        </p:nvSpPr>
        <p:spPr bwMode="gray">
          <a:xfrm>
            <a:off x="6264000" y="4783500"/>
            <a:ext cx="1350000" cy="360000"/>
          </a:xfrm>
          <a:prstGeom prst="rect">
            <a:avLst/>
          </a:prstGeom>
        </p:spPr>
        <p:txBody>
          <a:bodyPr vert="horz" lIns="0" tIns="0" rIns="0" bIns="0" rtlCol="0" anchor="ctr" anchorCtr="0">
            <a:noAutofit/>
          </a:bodyPr>
          <a:lstStyle>
            <a:lvl1pPr algn="r">
              <a:defRPr sz="750" b="1">
                <a:solidFill>
                  <a:schemeClr val="tx1"/>
                </a:solidFill>
              </a:defRPr>
            </a:lvl1pPr>
          </a:lstStyle>
          <a:p>
            <a:fld id="{733122C9-A0B9-462F-8757-0847AD287B63}" type="slidenum">
              <a:rPr lang="fr-FR" smtClean="0"/>
              <a:pPr/>
              <a:t>‹N°›</a:t>
            </a:fld>
            <a:endParaRPr lang="fr-FR"/>
          </a:p>
        </p:txBody>
      </p:sp>
      <p:cxnSp>
        <p:nvCxnSpPr>
          <p:cNvPr id="10" name="Connecteur droit 9"/>
          <p:cNvCxnSpPr/>
          <p:nvPr/>
        </p:nvCxnSpPr>
        <p:spPr bwMode="gray">
          <a:xfrm>
            <a:off x="360000" y="4784400"/>
            <a:ext cx="8424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Image 6"/>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288000" y="108000"/>
            <a:ext cx="540000" cy="540000"/>
          </a:xfrm>
          <a:prstGeom prst="rect">
            <a:avLst/>
          </a:prstGeom>
        </p:spPr>
      </p:pic>
      <p:pic>
        <p:nvPicPr>
          <p:cNvPr id="11" name="Picture 2"/>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a:stretch/>
        </p:blipFill>
        <p:spPr bwMode="auto">
          <a:xfrm>
            <a:off x="1180883" y="197038"/>
            <a:ext cx="590843" cy="325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808" r:id="rId1"/>
    <p:sldLayoutId id="2147483812" r:id="rId2"/>
    <p:sldLayoutId id="2147483810" r:id="rId3"/>
    <p:sldLayoutId id="2147483811" r:id="rId4"/>
    <p:sldLayoutId id="2147483809" r:id="rId5"/>
    <p:sldLayoutId id="2147483798" r:id="rId6"/>
    <p:sldLayoutId id="2147483815" r:id="rId7"/>
  </p:sldLayoutIdLst>
  <p:hf hdr="0"/>
  <p:txStyles>
    <p:titleStyle>
      <a:lvl1pPr algn="l" defTabSz="914400" rtl="0" eaLnBrk="1" latinLnBrk="0" hangingPunct="1">
        <a:lnSpc>
          <a:spcPct val="90000"/>
        </a:lnSpc>
        <a:spcBef>
          <a:spcPct val="0"/>
        </a:spcBef>
        <a:buNone/>
        <a:defRPr sz="255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292F264-9D89-442C-A33D-26D9F2FEFE94}"/>
              </a:ext>
            </a:extLst>
          </p:cNvPr>
          <p:cNvSpPr/>
          <p:nvPr/>
        </p:nvSpPr>
        <p:spPr>
          <a:xfrm>
            <a:off x="7298372" y="241541"/>
            <a:ext cx="1631272" cy="1252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013"/>
          </a:p>
        </p:txBody>
      </p:sp>
      <p:sp>
        <p:nvSpPr>
          <p:cNvPr id="6" name="Espace réservé du texte 5"/>
          <p:cNvSpPr>
            <a:spLocks noGrp="1"/>
          </p:cNvSpPr>
          <p:nvPr>
            <p:ph type="body" sz="quarter" idx="13"/>
          </p:nvPr>
        </p:nvSpPr>
        <p:spPr>
          <a:xfrm>
            <a:off x="378251" y="2312894"/>
            <a:ext cx="7459464" cy="2268834"/>
          </a:xfr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spcBef>
                <a:spcPts val="750"/>
              </a:spcBef>
              <a:defRPr/>
            </a:pPr>
            <a:r>
              <a:rPr lang="fr-FR" sz="2400" dirty="0">
                <a:solidFill>
                  <a:srgbClr val="554538"/>
                </a:solidFill>
                <a:latin typeface="Calibri"/>
                <a:ea typeface="Calibri"/>
                <a:cs typeface="Calibri"/>
              </a:rPr>
              <a:t>Ateliers </a:t>
            </a:r>
            <a:endParaRPr lang="fr-FR" sz="2400" dirty="0">
              <a:solidFill>
                <a:srgbClr val="554538"/>
              </a:solidFill>
              <a:latin typeface="Calibri"/>
              <a:ea typeface="Calibri"/>
              <a:cs typeface="Calibri" panose="020F0502020204030204" pitchFamily="34" charset="0"/>
            </a:endParaRPr>
          </a:p>
          <a:p>
            <a:pPr algn="r">
              <a:spcBef>
                <a:spcPts val="750"/>
              </a:spcBef>
              <a:defRPr/>
            </a:pPr>
            <a:endParaRPr lang="fr-FR" sz="2400" dirty="0">
              <a:solidFill>
                <a:srgbClr val="554538"/>
              </a:solidFill>
              <a:latin typeface="Calibri"/>
              <a:ea typeface="Calibri"/>
              <a:cs typeface="Calibri"/>
            </a:endParaRPr>
          </a:p>
          <a:p>
            <a:pPr algn="r">
              <a:spcBef>
                <a:spcPts val="750"/>
              </a:spcBef>
              <a:defRPr/>
            </a:pPr>
            <a:r>
              <a:rPr lang="fr-FR" sz="2400" dirty="0">
                <a:solidFill>
                  <a:srgbClr val="554538"/>
                </a:solidFill>
                <a:latin typeface="Calibri"/>
                <a:ea typeface="Calibri"/>
                <a:cs typeface="Calibri"/>
              </a:rPr>
              <a:t>linéaires tronçons</a:t>
            </a:r>
          </a:p>
          <a:p>
            <a:pPr marR="0" lvl="0" algn="r" defTabSz="685800" rtl="0" eaLnBrk="1" fontAlgn="auto" latinLnBrk="0" hangingPunct="1">
              <a:lnSpc>
                <a:spcPct val="90000"/>
              </a:lnSpc>
              <a:spcBef>
                <a:spcPts val="750"/>
              </a:spcBef>
              <a:spcAft>
                <a:spcPts val="0"/>
              </a:spcAft>
              <a:buClrTx/>
              <a:buSzTx/>
              <a:tabLst/>
              <a:defRPr/>
            </a:pPr>
            <a:endParaRPr lang="fr-FR" sz="1125" b="1" i="0" u="none" strike="noStrike" kern="1200" cap="all" spc="0" normalizeH="0" baseline="0" noProof="0" dirty="0">
              <a:ln>
                <a:noFill/>
              </a:ln>
              <a:solidFill>
                <a:srgbClr val="554538"/>
              </a:solidFill>
              <a:effectLst/>
              <a:uLnTx/>
              <a:uFillTx/>
              <a:latin typeface="Calibri" panose="020F0502020204030204" pitchFamily="34" charset="0"/>
              <a:ea typeface="Calibri" panose="020F0502020204030204" pitchFamily="34" charset="0"/>
              <a:cs typeface="Calibri" panose="020F0502020204030204" pitchFamily="34" charset="0"/>
            </a:endParaRPr>
          </a:p>
          <a:p>
            <a:pPr marR="0" lvl="0" algn="r" defTabSz="685800">
              <a:lnSpc>
                <a:spcPct val="90000"/>
              </a:lnSpc>
              <a:spcBef>
                <a:spcPts val="750"/>
              </a:spcBef>
              <a:spcAft>
                <a:spcPts val="0"/>
              </a:spcAft>
              <a:buClrTx/>
              <a:buSzTx/>
              <a:tabLst/>
              <a:defRPr/>
            </a:pPr>
            <a:endParaRPr lang="fr-FR" sz="1100" i="0" u="none" strike="noStrike" kern="1200" cap="all" spc="0" normalizeH="0" baseline="0" noProof="0" dirty="0">
              <a:ln>
                <a:noFill/>
              </a:ln>
              <a:solidFill>
                <a:srgbClr val="554538"/>
              </a:solidFill>
              <a:effectLst/>
              <a:uLnTx/>
              <a:uFillTx/>
              <a:latin typeface="Calibri" panose="020F0502020204030204" pitchFamily="34" charset="0"/>
              <a:ea typeface="Calibri"/>
              <a:cs typeface="Calibri" panose="020F0502020204030204" pitchFamily="34" charset="0"/>
            </a:endParaRPr>
          </a:p>
          <a:p>
            <a:pPr marL="171450" indent="-171450" algn="r">
              <a:spcBef>
                <a:spcPts val="750"/>
              </a:spcBef>
              <a:buChar char="•"/>
              <a:defRPr/>
            </a:pPr>
            <a:endParaRPr lang="fr-FR" sz="975" b="0" dirty="0">
              <a:solidFill>
                <a:srgbClr val="4EA72E">
                  <a:lumMod val="60000"/>
                  <a:lumOff val="40000"/>
                </a:srgbClr>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Image 3">
            <a:extLst>
              <a:ext uri="{FF2B5EF4-FFF2-40B4-BE49-F238E27FC236}">
                <a16:creationId xmlns:a16="http://schemas.microsoft.com/office/drawing/2014/main" id="{7C8BCD97-9F6D-4AAF-B243-ACDF4EC3C8DF}"/>
              </a:ext>
            </a:extLst>
          </p:cNvPr>
          <p:cNvPicPr>
            <a:picLocks noChangeAspect="1"/>
          </p:cNvPicPr>
          <p:nvPr/>
        </p:nvPicPr>
        <p:blipFill>
          <a:blip r:embed="rId3"/>
          <a:stretch>
            <a:fillRect/>
          </a:stretch>
        </p:blipFill>
        <p:spPr>
          <a:xfrm>
            <a:off x="360001" y="323569"/>
            <a:ext cx="1890489" cy="1008089"/>
          </a:xfrm>
          <a:prstGeom prst="rect">
            <a:avLst/>
          </a:prstGeom>
          <a:ln>
            <a:noFill/>
          </a:ln>
        </p:spPr>
      </p:pic>
      <p:pic>
        <p:nvPicPr>
          <p:cNvPr id="7" name="Image 6">
            <a:extLst>
              <a:ext uri="{FF2B5EF4-FFF2-40B4-BE49-F238E27FC236}">
                <a16:creationId xmlns:a16="http://schemas.microsoft.com/office/drawing/2014/main" id="{AF4B4D34-3332-4206-9757-BB8A2646C209}"/>
              </a:ext>
            </a:extLst>
          </p:cNvPr>
          <p:cNvPicPr>
            <a:picLocks noChangeAspect="1"/>
          </p:cNvPicPr>
          <p:nvPr/>
        </p:nvPicPr>
        <p:blipFill>
          <a:blip r:embed="rId4"/>
          <a:stretch>
            <a:fillRect/>
          </a:stretch>
        </p:blipFill>
        <p:spPr>
          <a:xfrm>
            <a:off x="7614000" y="229860"/>
            <a:ext cx="1000016" cy="1088371"/>
          </a:xfrm>
          <a:prstGeom prst="rect">
            <a:avLst/>
          </a:prstGeom>
          <a:ln>
            <a:noFill/>
          </a:ln>
        </p:spPr>
      </p:pic>
      <p:sp>
        <p:nvSpPr>
          <p:cNvPr id="8" name="Espace réservé du numéro de diapositive 3">
            <a:extLst>
              <a:ext uri="{FF2B5EF4-FFF2-40B4-BE49-F238E27FC236}">
                <a16:creationId xmlns:a16="http://schemas.microsoft.com/office/drawing/2014/main" id="{23C5C4C4-B3D8-4A4B-A2A2-51393C9BB76E}"/>
              </a:ext>
            </a:extLst>
          </p:cNvPr>
          <p:cNvSpPr txBox="1">
            <a:spLocks/>
          </p:cNvSpPr>
          <p:nvPr/>
        </p:nvSpPr>
        <p:spPr>
          <a:xfrm>
            <a:off x="8278324" y="4860000"/>
            <a:ext cx="745028" cy="216000"/>
          </a:xfrm>
          <a:prstGeom prst="rect">
            <a:avLst/>
          </a:prstGeom>
        </p:spPr>
        <p:txBody>
          <a:bodyP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defRPr/>
            </a:pPr>
            <a:endParaRPr lang="fr-FR" sz="825" dirty="0">
              <a:solidFill>
                <a:srgbClr val="7D7D68"/>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2A1BE3EA-BC1C-4F4B-BEBE-F790BF497879}"/>
              </a:ext>
            </a:extLst>
          </p:cNvPr>
          <p:cNvSpPr/>
          <p:nvPr/>
        </p:nvSpPr>
        <p:spPr>
          <a:xfrm>
            <a:off x="7963678" y="2309910"/>
            <a:ext cx="62689" cy="1569730"/>
          </a:xfrm>
          <a:prstGeom prst="rect">
            <a:avLst/>
          </a:prstGeom>
          <a:solidFill>
            <a:srgbClr val="8A9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fr-FR" sz="1013"/>
          </a:p>
        </p:txBody>
      </p:sp>
      <p:pic>
        <p:nvPicPr>
          <p:cNvPr id="5" name="Image 4" descr="Une image contenant texte, Police, logo, Graphique&#10;&#10;Le contenu généré par l’IA peut être incorrect.">
            <a:extLst>
              <a:ext uri="{FF2B5EF4-FFF2-40B4-BE49-F238E27FC236}">
                <a16:creationId xmlns:a16="http://schemas.microsoft.com/office/drawing/2014/main" id="{55898B98-6CBE-40D9-CC2E-BFB3DD313E13}"/>
              </a:ext>
            </a:extLst>
          </p:cNvPr>
          <p:cNvPicPr>
            <a:picLocks noChangeAspect="1"/>
          </p:cNvPicPr>
          <p:nvPr/>
        </p:nvPicPr>
        <p:blipFill>
          <a:blip r:embed="rId5"/>
          <a:stretch>
            <a:fillRect/>
          </a:stretch>
        </p:blipFill>
        <p:spPr>
          <a:xfrm>
            <a:off x="6115391" y="183016"/>
            <a:ext cx="1181532" cy="1265466"/>
          </a:xfrm>
          <a:prstGeom prst="rect">
            <a:avLst/>
          </a:prstGeom>
          <a:ln>
            <a:noFill/>
          </a:ln>
        </p:spPr>
      </p:pic>
      <p:pic>
        <p:nvPicPr>
          <p:cNvPr id="18" name="Image 10">
            <a:extLst>
              <a:ext uri="{FF2B5EF4-FFF2-40B4-BE49-F238E27FC236}">
                <a16:creationId xmlns:a16="http://schemas.microsoft.com/office/drawing/2014/main" id="{85455156-CA8E-44FF-88AF-0243B8E80C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24572" y="2007676"/>
            <a:ext cx="2031073" cy="2031073"/>
          </a:xfrm>
          <a:prstGeom prst="rect">
            <a:avLst/>
          </a:prstGeom>
          <a:ln>
            <a:noFill/>
          </a:ln>
        </p:spPr>
      </p:pic>
      <p:pic>
        <p:nvPicPr>
          <p:cNvPr id="12" name="Image 11">
            <a:extLst>
              <a:ext uri="{FF2B5EF4-FFF2-40B4-BE49-F238E27FC236}">
                <a16:creationId xmlns:a16="http://schemas.microsoft.com/office/drawing/2014/main" id="{CB131529-0D4F-4171-9917-E2B6F9BD3ED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36593" y="3295652"/>
            <a:ext cx="965807" cy="965807"/>
          </a:xfrm>
          <a:prstGeom prst="rect">
            <a:avLst/>
          </a:prstGeom>
          <a:ln>
            <a:noFill/>
          </a:ln>
        </p:spPr>
      </p:pic>
      <p:pic>
        <p:nvPicPr>
          <p:cNvPr id="13" name="Image 12">
            <a:extLst>
              <a:ext uri="{FF2B5EF4-FFF2-40B4-BE49-F238E27FC236}">
                <a16:creationId xmlns:a16="http://schemas.microsoft.com/office/drawing/2014/main" id="{BD3A6AC6-9EC3-4B4C-8BCC-0CDF0B526C8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2979070" y="3072944"/>
            <a:ext cx="965806" cy="965806"/>
          </a:xfrm>
          <a:prstGeom prst="rect">
            <a:avLst/>
          </a:prstGeom>
          <a:ln>
            <a:noFill/>
          </a:ln>
        </p:spPr>
      </p:pic>
      <p:pic>
        <p:nvPicPr>
          <p:cNvPr id="14" name="Image 13">
            <a:extLst>
              <a:ext uri="{FF2B5EF4-FFF2-40B4-BE49-F238E27FC236}">
                <a16:creationId xmlns:a16="http://schemas.microsoft.com/office/drawing/2014/main" id="{E9AF8D38-FAC6-4321-ACD7-16F536668A7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753327" y="2789618"/>
            <a:ext cx="235498" cy="235498"/>
          </a:xfrm>
          <a:prstGeom prst="rect">
            <a:avLst/>
          </a:prstGeom>
          <a:ln>
            <a:noFill/>
          </a:ln>
        </p:spPr>
      </p:pic>
      <p:pic>
        <p:nvPicPr>
          <p:cNvPr id="15" name="Image 14">
            <a:extLst>
              <a:ext uri="{FF2B5EF4-FFF2-40B4-BE49-F238E27FC236}">
                <a16:creationId xmlns:a16="http://schemas.microsoft.com/office/drawing/2014/main" id="{6C5BBA72-1878-453A-B073-EF55F2AA4B7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421032" y="2907366"/>
            <a:ext cx="585413" cy="585413"/>
          </a:xfrm>
          <a:prstGeom prst="rect">
            <a:avLst/>
          </a:prstGeom>
          <a:ln>
            <a:noFill/>
          </a:ln>
        </p:spPr>
      </p:pic>
      <p:sp>
        <p:nvSpPr>
          <p:cNvPr id="2" name="Espace réservé de la date 1">
            <a:extLst>
              <a:ext uri="{FF2B5EF4-FFF2-40B4-BE49-F238E27FC236}">
                <a16:creationId xmlns:a16="http://schemas.microsoft.com/office/drawing/2014/main" id="{8A31229A-73AF-40B9-BDC6-362330BDF2D9}"/>
              </a:ext>
            </a:extLst>
          </p:cNvPr>
          <p:cNvSpPr>
            <a:spLocks noGrp="1"/>
          </p:cNvSpPr>
          <p:nvPr>
            <p:ph type="dt" sz="half" idx="10"/>
          </p:nvPr>
        </p:nvSpPr>
        <p:spPr/>
        <p:txBody>
          <a:bodyPr/>
          <a:lstStyle/>
          <a:p>
            <a:pPr algn="r"/>
            <a:r>
              <a:rPr lang="fr-FR" cap="all" dirty="0"/>
              <a:t>04/06/2025</a:t>
            </a:r>
          </a:p>
        </p:txBody>
      </p:sp>
      <p:sp>
        <p:nvSpPr>
          <p:cNvPr id="11" name="Espace réservé du pied de page 10">
            <a:extLst>
              <a:ext uri="{FF2B5EF4-FFF2-40B4-BE49-F238E27FC236}">
                <a16:creationId xmlns:a16="http://schemas.microsoft.com/office/drawing/2014/main" id="{B82313C9-D5BF-4E03-9936-9A509F430E5A}"/>
              </a:ext>
            </a:extLst>
          </p:cNvPr>
          <p:cNvSpPr>
            <a:spLocks noGrp="1"/>
          </p:cNvSpPr>
          <p:nvPr>
            <p:ph type="ftr" sz="quarter" idx="11"/>
          </p:nvPr>
        </p:nvSpPr>
        <p:spPr/>
        <p:txBody>
          <a:bodyPr/>
          <a:lstStyle/>
          <a:p>
            <a:r>
              <a:rPr lang="fr-FR"/>
              <a:t>Institut national de l’information  géographique et forestière</a:t>
            </a:r>
          </a:p>
        </p:txBody>
      </p:sp>
      <p:sp>
        <p:nvSpPr>
          <p:cNvPr id="17" name="Espace réservé du numéro de diapositive 16">
            <a:extLst>
              <a:ext uri="{FF2B5EF4-FFF2-40B4-BE49-F238E27FC236}">
                <a16:creationId xmlns:a16="http://schemas.microsoft.com/office/drawing/2014/main" id="{7FA9FD43-0EA4-4063-8C97-F0E6FE8C5FA3}"/>
              </a:ext>
            </a:extLst>
          </p:cNvPr>
          <p:cNvSpPr>
            <a:spLocks noGrp="1"/>
          </p:cNvSpPr>
          <p:nvPr>
            <p:ph type="sldNum" sz="quarter" idx="12"/>
          </p:nvPr>
        </p:nvSpPr>
        <p:spPr/>
        <p:txBody>
          <a:bodyPr/>
          <a:lstStyle/>
          <a:p>
            <a:fld id="{733122C9-A0B9-462F-8757-0847AD287B63}" type="slidenum">
              <a:rPr lang="fr-FR" smtClean="0"/>
              <a:pPr/>
              <a:t>1</a:t>
            </a:fld>
            <a:endParaRPr lang="fr-FR"/>
          </a:p>
        </p:txBody>
      </p:sp>
    </p:spTree>
    <p:extLst>
      <p:ext uri="{BB962C8B-B14F-4D97-AF65-F5344CB8AC3E}">
        <p14:creationId xmlns:p14="http://schemas.microsoft.com/office/powerpoint/2010/main" val="2897004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659A0-8D28-73CE-FC3C-07C1F2AF23E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5D80718-F366-32AC-B8EB-FE08084735F1}"/>
              </a:ext>
            </a:extLst>
          </p:cNvPr>
          <p:cNvSpPr>
            <a:spLocks noGrp="1"/>
          </p:cNvSpPr>
          <p:nvPr>
            <p:ph type="dt" sz="half" idx="10"/>
          </p:nvPr>
        </p:nvSpPr>
        <p:spPr/>
        <p:txBody>
          <a:bodyPr/>
          <a:lstStyle/>
          <a:p>
            <a:pPr algn="r"/>
            <a:r>
              <a:rPr lang="fr-FR" cap="all"/>
              <a:t>04/06/2025</a:t>
            </a:r>
            <a:endParaRPr lang="fr-FR" cap="all" dirty="0"/>
          </a:p>
        </p:txBody>
      </p:sp>
      <p:sp>
        <p:nvSpPr>
          <p:cNvPr id="5" name="Espace réservé du pied de page 4">
            <a:extLst>
              <a:ext uri="{FF2B5EF4-FFF2-40B4-BE49-F238E27FC236}">
                <a16:creationId xmlns:a16="http://schemas.microsoft.com/office/drawing/2014/main" id="{A0008525-092B-97F0-719E-F2B4ACA7B1EE}"/>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9AC48205-CEA1-74EA-3B52-D14C79F560FD}"/>
              </a:ext>
            </a:extLst>
          </p:cNvPr>
          <p:cNvSpPr>
            <a:spLocks noGrp="1"/>
          </p:cNvSpPr>
          <p:nvPr>
            <p:ph type="sldNum" sz="quarter" idx="12"/>
          </p:nvPr>
        </p:nvSpPr>
        <p:spPr/>
        <p:txBody>
          <a:bodyPr/>
          <a:lstStyle/>
          <a:p>
            <a:fld id="{733122C9-A0B9-462F-8757-0847AD287B63}" type="slidenum">
              <a:rPr lang="fr-FR" smtClean="0"/>
              <a:pPr/>
              <a:t>2</a:t>
            </a:fld>
            <a:endParaRPr lang="fr-FR"/>
          </a:p>
        </p:txBody>
      </p:sp>
      <p:sp>
        <p:nvSpPr>
          <p:cNvPr id="9" name="Espace réservé du contenu 8">
            <a:extLst>
              <a:ext uri="{FF2B5EF4-FFF2-40B4-BE49-F238E27FC236}">
                <a16:creationId xmlns:a16="http://schemas.microsoft.com/office/drawing/2014/main" id="{649CAF71-85BB-E46B-C9EF-3972E4D631E0}"/>
              </a:ext>
            </a:extLst>
          </p:cNvPr>
          <p:cNvSpPr>
            <a:spLocks noGrp="1"/>
          </p:cNvSpPr>
          <p:nvPr>
            <p:ph sz="quarter" idx="14"/>
          </p:nvPr>
        </p:nvSpPr>
        <p:spPr>
          <a:xfrm>
            <a:off x="360000" y="1214970"/>
            <a:ext cx="8424000" cy="2531473"/>
          </a:xfrm>
        </p:spPr>
        <p:txBody>
          <a:bodyPr/>
          <a:lstStyle/>
          <a:p>
            <a:r>
              <a:rPr lang="fr-FR" sz="2000" b="0" dirty="0">
                <a:solidFill>
                  <a:schemeClr val="tx1"/>
                </a:solidFill>
                <a:latin typeface="+mn-lt"/>
                <a:cs typeface="Arial"/>
              </a:rPr>
              <a:t>On part du tableau avec le standard V1​</a:t>
            </a:r>
          </a:p>
          <a:p>
            <a:pPr lvl="1"/>
            <a:r>
              <a:rPr lang="fr-FR" sz="1800" dirty="0">
                <a:cs typeface="Arial"/>
              </a:rPr>
              <a:t>On v</a:t>
            </a:r>
            <a:r>
              <a:rPr lang="fr-FR" sz="1800" b="0" dirty="0">
                <a:solidFill>
                  <a:schemeClr val="tx1"/>
                </a:solidFill>
                <a:latin typeface="+mn-lt"/>
                <a:cs typeface="Arial"/>
              </a:rPr>
              <a:t>oit si un alignement est possible avec un élément BD TOPO​</a:t>
            </a:r>
          </a:p>
          <a:p>
            <a:pPr lvl="1"/>
            <a:r>
              <a:rPr lang="fr-FR" sz="1800" dirty="0">
                <a:cs typeface="Arial"/>
              </a:rPr>
              <a:t>On d</a:t>
            </a:r>
            <a:r>
              <a:rPr lang="fr-FR" sz="1800" b="0" dirty="0">
                <a:solidFill>
                  <a:schemeClr val="tx1"/>
                </a:solidFill>
                <a:latin typeface="+mn-lt"/>
                <a:cs typeface="Arial"/>
              </a:rPr>
              <a:t>iscute des besoins Transport de bois + DFCI​</a:t>
            </a:r>
          </a:p>
          <a:p>
            <a:pPr lvl="1"/>
            <a:r>
              <a:rPr lang="fr-FR" sz="1800" dirty="0">
                <a:cs typeface="Arial"/>
              </a:rPr>
              <a:t>On v</a:t>
            </a:r>
            <a:r>
              <a:rPr lang="fr-FR" sz="1800" b="0" dirty="0">
                <a:solidFill>
                  <a:schemeClr val="tx1"/>
                </a:solidFill>
                <a:latin typeface="+mn-lt"/>
                <a:cs typeface="Arial"/>
              </a:rPr>
              <a:t>oit quelle évolution technique est possible avec les experts BD TOPO</a:t>
            </a:r>
            <a:endParaRPr lang="fr-FR" sz="1800" dirty="0"/>
          </a:p>
        </p:txBody>
      </p:sp>
      <p:sp>
        <p:nvSpPr>
          <p:cNvPr id="10" name="Espace réservé du texte 7">
            <a:extLst>
              <a:ext uri="{FF2B5EF4-FFF2-40B4-BE49-F238E27FC236}">
                <a16:creationId xmlns:a16="http://schemas.microsoft.com/office/drawing/2014/main" id="{F1DCB85A-A34F-4AAE-85E5-400DFC79239D}"/>
              </a:ext>
            </a:extLst>
          </p:cNvPr>
          <p:cNvSpPr txBox="1">
            <a:spLocks/>
          </p:cNvSpPr>
          <p:nvPr/>
        </p:nvSpPr>
        <p:spPr bwMode="gray">
          <a:xfrm>
            <a:off x="2944607" y="180000"/>
            <a:ext cx="5929201" cy="360000"/>
          </a:xfrm>
          <a:prstGeom prst="rect">
            <a:avLst/>
          </a:prstGeom>
        </p:spPr>
        <p:txBody>
          <a:bodyPr vert="horz" lIns="0" tIns="0" rIns="0" bIns="0" rtlCol="0" anchor="t" anchorCtr="0">
            <a:noAutofit/>
          </a:bodyPr>
          <a:lstStyle>
            <a:lvl1pPr marL="108000" indent="-108000" algn="r" defTabSz="914400" rtl="0" eaLnBrk="1" latinLnBrk="0" hangingPunct="1">
              <a:lnSpc>
                <a:spcPct val="100000"/>
              </a:lnSpc>
              <a:spcBef>
                <a:spcPts val="0"/>
              </a:spcBef>
              <a:spcAft>
                <a:spcPts val="0"/>
              </a:spcAft>
              <a:buFont typeface="+mj-lt"/>
              <a:buAutoNum type="arabicPeriod"/>
              <a:defRPr sz="750" b="1" kern="1200">
                <a:solidFill>
                  <a:schemeClr val="tx1"/>
                </a:solidFill>
                <a:latin typeface="+mn-lt"/>
                <a:ea typeface="+mn-ea"/>
                <a:cs typeface="+mn-cs"/>
              </a:defRPr>
            </a:lvl1pPr>
            <a:lvl2pPr marL="108000" indent="-108000" algn="r" defTabSz="914400" rtl="0" eaLnBrk="1" latinLnBrk="0" hangingPunct="1">
              <a:lnSpc>
                <a:spcPct val="100000"/>
              </a:lnSpc>
              <a:spcBef>
                <a:spcPts val="0"/>
              </a:spcBef>
              <a:spcAft>
                <a:spcPts val="0"/>
              </a:spcAft>
              <a:buFont typeface="+mj-lt"/>
              <a:buAutoNum type="alphaLcPeriod"/>
              <a:defRPr sz="7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mj-lt"/>
              <a:buNone/>
            </a:pPr>
            <a:r>
              <a:rPr lang="fr-FR" sz="2600" dirty="0"/>
              <a:t>Démarche</a:t>
            </a:r>
            <a:endParaRPr lang="fr-FR" dirty="0"/>
          </a:p>
        </p:txBody>
      </p:sp>
      <p:pic>
        <p:nvPicPr>
          <p:cNvPr id="7" name="Image 6">
            <a:extLst>
              <a:ext uri="{FF2B5EF4-FFF2-40B4-BE49-F238E27FC236}">
                <a16:creationId xmlns:a16="http://schemas.microsoft.com/office/drawing/2014/main" id="{CBAAAC15-0E7D-4580-BAEB-7D4C6F48DC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8772" y="3107246"/>
            <a:ext cx="1314167" cy="1314167"/>
          </a:xfrm>
          <a:prstGeom prst="rect">
            <a:avLst/>
          </a:prstGeom>
          <a:ln>
            <a:noFill/>
          </a:ln>
        </p:spPr>
      </p:pic>
    </p:spTree>
    <p:extLst>
      <p:ext uri="{BB962C8B-B14F-4D97-AF65-F5344CB8AC3E}">
        <p14:creationId xmlns:p14="http://schemas.microsoft.com/office/powerpoint/2010/main" val="1514211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659A0-8D28-73CE-FC3C-07C1F2AF23E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5D80718-F366-32AC-B8EB-FE08084735F1}"/>
              </a:ext>
            </a:extLst>
          </p:cNvPr>
          <p:cNvSpPr>
            <a:spLocks noGrp="1"/>
          </p:cNvSpPr>
          <p:nvPr>
            <p:ph type="dt" sz="half" idx="10"/>
          </p:nvPr>
        </p:nvSpPr>
        <p:spPr/>
        <p:txBody>
          <a:bodyPr/>
          <a:lstStyle/>
          <a:p>
            <a:pPr algn="r"/>
            <a:r>
              <a:rPr lang="fr-FR" cap="all"/>
              <a:t>04/06/2025</a:t>
            </a:r>
            <a:endParaRPr lang="fr-FR" cap="all" dirty="0"/>
          </a:p>
        </p:txBody>
      </p:sp>
      <p:sp>
        <p:nvSpPr>
          <p:cNvPr id="5" name="Espace réservé du pied de page 4">
            <a:extLst>
              <a:ext uri="{FF2B5EF4-FFF2-40B4-BE49-F238E27FC236}">
                <a16:creationId xmlns:a16="http://schemas.microsoft.com/office/drawing/2014/main" id="{A0008525-092B-97F0-719E-F2B4ACA7B1EE}"/>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9AC48205-CEA1-74EA-3B52-D14C79F560FD}"/>
              </a:ext>
            </a:extLst>
          </p:cNvPr>
          <p:cNvSpPr>
            <a:spLocks noGrp="1"/>
          </p:cNvSpPr>
          <p:nvPr>
            <p:ph type="sldNum" sz="quarter" idx="12"/>
          </p:nvPr>
        </p:nvSpPr>
        <p:spPr/>
        <p:txBody>
          <a:bodyPr/>
          <a:lstStyle/>
          <a:p>
            <a:fld id="{733122C9-A0B9-462F-8757-0847AD287B63}" type="slidenum">
              <a:rPr lang="fr-FR" smtClean="0"/>
              <a:pPr/>
              <a:t>3</a:t>
            </a:fld>
            <a:endParaRPr lang="fr-FR"/>
          </a:p>
        </p:txBody>
      </p:sp>
      <p:sp>
        <p:nvSpPr>
          <p:cNvPr id="9" name="Espace réservé du contenu 8">
            <a:extLst>
              <a:ext uri="{FF2B5EF4-FFF2-40B4-BE49-F238E27FC236}">
                <a16:creationId xmlns:a16="http://schemas.microsoft.com/office/drawing/2014/main" id="{649CAF71-85BB-E46B-C9EF-3972E4D631E0}"/>
              </a:ext>
            </a:extLst>
          </p:cNvPr>
          <p:cNvSpPr>
            <a:spLocks noGrp="1"/>
          </p:cNvSpPr>
          <p:nvPr>
            <p:ph sz="quarter" idx="14"/>
          </p:nvPr>
        </p:nvSpPr>
        <p:spPr>
          <a:xfrm>
            <a:off x="360000" y="1174951"/>
            <a:ext cx="8424000" cy="3483552"/>
          </a:xfrm>
        </p:spPr>
        <p:txBody>
          <a:bodyPr/>
          <a:lstStyle/>
          <a:p>
            <a:r>
              <a:rPr lang="fr-FR" sz="2000" b="1" dirty="0"/>
              <a:t>24 attributs, 10 thématiques :</a:t>
            </a:r>
          </a:p>
        </p:txBody>
      </p:sp>
      <p:sp>
        <p:nvSpPr>
          <p:cNvPr id="10" name="Espace réservé du texte 7">
            <a:extLst>
              <a:ext uri="{FF2B5EF4-FFF2-40B4-BE49-F238E27FC236}">
                <a16:creationId xmlns:a16="http://schemas.microsoft.com/office/drawing/2014/main" id="{F1DCB85A-A34F-4AAE-85E5-400DFC79239D}"/>
              </a:ext>
            </a:extLst>
          </p:cNvPr>
          <p:cNvSpPr txBox="1">
            <a:spLocks/>
          </p:cNvSpPr>
          <p:nvPr/>
        </p:nvSpPr>
        <p:spPr bwMode="gray">
          <a:xfrm>
            <a:off x="2944607" y="180000"/>
            <a:ext cx="5929201" cy="360000"/>
          </a:xfrm>
          <a:prstGeom prst="rect">
            <a:avLst/>
          </a:prstGeom>
        </p:spPr>
        <p:txBody>
          <a:bodyPr vert="horz" lIns="0" tIns="0" rIns="0" bIns="0" rtlCol="0" anchor="t" anchorCtr="0">
            <a:noAutofit/>
          </a:bodyPr>
          <a:lstStyle>
            <a:lvl1pPr marL="108000" indent="-108000" algn="r" defTabSz="914400" rtl="0" eaLnBrk="1" latinLnBrk="0" hangingPunct="1">
              <a:lnSpc>
                <a:spcPct val="100000"/>
              </a:lnSpc>
              <a:spcBef>
                <a:spcPts val="0"/>
              </a:spcBef>
              <a:spcAft>
                <a:spcPts val="0"/>
              </a:spcAft>
              <a:buFont typeface="+mj-lt"/>
              <a:buAutoNum type="arabicPeriod"/>
              <a:defRPr sz="750" b="1" kern="1200">
                <a:solidFill>
                  <a:schemeClr val="tx1"/>
                </a:solidFill>
                <a:latin typeface="+mn-lt"/>
                <a:ea typeface="+mn-ea"/>
                <a:cs typeface="+mn-cs"/>
              </a:defRPr>
            </a:lvl1pPr>
            <a:lvl2pPr marL="108000" indent="-108000" algn="r" defTabSz="914400" rtl="0" eaLnBrk="1" latinLnBrk="0" hangingPunct="1">
              <a:lnSpc>
                <a:spcPct val="100000"/>
              </a:lnSpc>
              <a:spcBef>
                <a:spcPts val="0"/>
              </a:spcBef>
              <a:spcAft>
                <a:spcPts val="0"/>
              </a:spcAft>
              <a:buFont typeface="+mj-lt"/>
              <a:buAutoNum type="alphaLcPeriod"/>
              <a:defRPr sz="7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mj-lt"/>
              <a:buNone/>
            </a:pPr>
            <a:r>
              <a:rPr lang="fr-FR" sz="2600" dirty="0"/>
              <a:t>Démarche</a:t>
            </a:r>
            <a:endParaRPr lang="fr-FR" dirty="0"/>
          </a:p>
        </p:txBody>
      </p:sp>
      <p:sp>
        <p:nvSpPr>
          <p:cNvPr id="11" name="ZoneTexte 10">
            <a:extLst>
              <a:ext uri="{FF2B5EF4-FFF2-40B4-BE49-F238E27FC236}">
                <a16:creationId xmlns:a16="http://schemas.microsoft.com/office/drawing/2014/main" id="{A5CC490A-6F87-46E6-B268-47C974E51358}"/>
              </a:ext>
            </a:extLst>
          </p:cNvPr>
          <p:cNvSpPr txBox="1"/>
          <p:nvPr/>
        </p:nvSpPr>
        <p:spPr>
          <a:xfrm>
            <a:off x="4070838" y="1793542"/>
            <a:ext cx="4572000" cy="1477328"/>
          </a:xfrm>
          <a:prstGeom prst="rect">
            <a:avLst/>
          </a:prstGeom>
          <a:noFill/>
        </p:spPr>
        <p:txBody>
          <a:bodyPr wrap="square">
            <a:spAutoFit/>
          </a:bodyPr>
          <a:lstStyle/>
          <a:p>
            <a:pPr marL="537750" lvl="1" indent="-285750">
              <a:buFontTx/>
              <a:buChar char="-"/>
            </a:pPr>
            <a:r>
              <a:rPr lang="fr-FR" dirty="0"/>
              <a:t>INSEE/Département</a:t>
            </a:r>
          </a:p>
          <a:p>
            <a:pPr marL="537750" lvl="1" indent="-285750">
              <a:buFontTx/>
              <a:buChar char="-"/>
            </a:pPr>
            <a:r>
              <a:rPr lang="fr-FR" dirty="0"/>
              <a:t>Gestionnaire</a:t>
            </a:r>
          </a:p>
          <a:p>
            <a:pPr marL="537750" lvl="1" indent="-285750">
              <a:buFontTx/>
              <a:buChar char="-"/>
            </a:pPr>
            <a:r>
              <a:rPr lang="fr-FR" sz="1800" dirty="0"/>
              <a:t>DFCI</a:t>
            </a:r>
          </a:p>
          <a:p>
            <a:pPr marL="537750" lvl="1" indent="-285750">
              <a:buFontTx/>
              <a:buChar char="-"/>
            </a:pPr>
            <a:r>
              <a:rPr lang="fr-FR" sz="1800" dirty="0"/>
              <a:t>Autre</a:t>
            </a:r>
          </a:p>
          <a:p>
            <a:pPr marL="537750" lvl="1" indent="-285750">
              <a:buFontTx/>
              <a:buChar char="-"/>
            </a:pPr>
            <a:r>
              <a:rPr lang="fr-FR" dirty="0"/>
              <a:t>Equipement</a:t>
            </a:r>
            <a:r>
              <a:rPr lang="fr-FR" sz="1800" dirty="0"/>
              <a:t> </a:t>
            </a:r>
          </a:p>
        </p:txBody>
      </p:sp>
      <p:sp>
        <p:nvSpPr>
          <p:cNvPr id="12" name="ZoneTexte 11">
            <a:extLst>
              <a:ext uri="{FF2B5EF4-FFF2-40B4-BE49-F238E27FC236}">
                <a16:creationId xmlns:a16="http://schemas.microsoft.com/office/drawing/2014/main" id="{B7623094-EC22-4786-8B05-650A27926844}"/>
              </a:ext>
            </a:extLst>
          </p:cNvPr>
          <p:cNvSpPr txBox="1"/>
          <p:nvPr/>
        </p:nvSpPr>
        <p:spPr>
          <a:xfrm>
            <a:off x="263770" y="1793542"/>
            <a:ext cx="4141176" cy="1477328"/>
          </a:xfrm>
          <a:prstGeom prst="rect">
            <a:avLst/>
          </a:prstGeom>
          <a:noFill/>
        </p:spPr>
        <p:txBody>
          <a:bodyPr wrap="square">
            <a:spAutoFit/>
          </a:bodyPr>
          <a:lstStyle/>
          <a:p>
            <a:pPr marL="537750" lvl="1" indent="-285750">
              <a:buFontTx/>
              <a:buChar char="-"/>
            </a:pPr>
            <a:r>
              <a:rPr lang="fr-FR" sz="1800" dirty="0"/>
              <a:t>Transport exceptionnel</a:t>
            </a:r>
          </a:p>
          <a:p>
            <a:pPr marL="537750" lvl="1" indent="-285750">
              <a:buFontTx/>
              <a:buChar char="-"/>
            </a:pPr>
            <a:r>
              <a:rPr lang="fr-FR" sz="1800" dirty="0"/>
              <a:t>Route</a:t>
            </a:r>
          </a:p>
          <a:p>
            <a:pPr marL="537750" lvl="1" indent="-285750">
              <a:buFontTx/>
              <a:buChar char="-"/>
            </a:pPr>
            <a:r>
              <a:rPr lang="fr-FR" sz="1800" dirty="0"/>
              <a:t>Piste DFCI</a:t>
            </a:r>
          </a:p>
          <a:p>
            <a:pPr marL="537750" lvl="1" indent="-285750">
              <a:buFontTx/>
              <a:buChar char="-"/>
            </a:pPr>
            <a:r>
              <a:rPr lang="fr-FR" sz="1800" dirty="0"/>
              <a:t>État de la route</a:t>
            </a:r>
          </a:p>
          <a:p>
            <a:pPr marL="537750" lvl="1" indent="-285750">
              <a:buFontTx/>
              <a:buChar char="-"/>
            </a:pPr>
            <a:r>
              <a:rPr lang="fr-FR" sz="1800" dirty="0"/>
              <a:t>Restriction routière</a:t>
            </a:r>
          </a:p>
        </p:txBody>
      </p:sp>
      <p:pic>
        <p:nvPicPr>
          <p:cNvPr id="19" name="Image 18">
            <a:extLst>
              <a:ext uri="{FF2B5EF4-FFF2-40B4-BE49-F238E27FC236}">
                <a16:creationId xmlns:a16="http://schemas.microsoft.com/office/drawing/2014/main" id="{8648AF58-D3B9-4D9C-BE2C-77BF9708C211}"/>
              </a:ext>
            </a:extLst>
          </p:cNvPr>
          <p:cNvPicPr>
            <a:picLocks noChangeAspect="1"/>
          </p:cNvPicPr>
          <p:nvPr/>
        </p:nvPicPr>
        <p:blipFill>
          <a:blip r:embed="rId2"/>
          <a:stretch>
            <a:fillRect/>
          </a:stretch>
        </p:blipFill>
        <p:spPr>
          <a:xfrm>
            <a:off x="6897427" y="2743199"/>
            <a:ext cx="1635369" cy="1635369"/>
          </a:xfrm>
          <a:prstGeom prst="rect">
            <a:avLst/>
          </a:prstGeom>
        </p:spPr>
      </p:pic>
    </p:spTree>
    <p:extLst>
      <p:ext uri="{BB962C8B-B14F-4D97-AF65-F5344CB8AC3E}">
        <p14:creationId xmlns:p14="http://schemas.microsoft.com/office/powerpoint/2010/main" val="3027977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4</a:t>
            </a:fld>
            <a:endParaRPr lang="fr-FR"/>
          </a:p>
        </p:txBody>
      </p:sp>
      <p:sp>
        <p:nvSpPr>
          <p:cNvPr id="8" name="Espace réservé du texte 7">
            <a:extLst>
              <a:ext uri="{FF2B5EF4-FFF2-40B4-BE49-F238E27FC236}">
                <a16:creationId xmlns:a16="http://schemas.microsoft.com/office/drawing/2014/main" id="{39A34D4C-BF23-47C3-8364-19CD7D44A393}"/>
              </a:ext>
            </a:extLst>
          </p:cNvPr>
          <p:cNvSpPr>
            <a:spLocks noGrp="1"/>
          </p:cNvSpPr>
          <p:nvPr>
            <p:ph type="body" sz="quarter" idx="13"/>
          </p:nvPr>
        </p:nvSpPr>
        <p:spPr>
          <a:xfrm>
            <a:off x="2944607" y="180000"/>
            <a:ext cx="5929201" cy="360000"/>
          </a:xfrm>
        </p:spPr>
        <p:txBody>
          <a:bodyPr/>
          <a:lstStyle/>
          <a:p>
            <a:pPr marL="0" indent="0">
              <a:buNone/>
            </a:pPr>
            <a:r>
              <a:rPr lang="fr-FR" sz="2600" b="0" dirty="0"/>
              <a:t>1. Transport exceptionnel</a:t>
            </a:r>
          </a:p>
          <a:p>
            <a:pPr marL="107950" indent="-107950"/>
            <a:endParaRPr lang="fr-FR" dirty="0"/>
          </a:p>
        </p:txBody>
      </p:sp>
      <p:graphicFrame>
        <p:nvGraphicFramePr>
          <p:cNvPr id="12" name="Tableau 11">
            <a:extLst>
              <a:ext uri="{FF2B5EF4-FFF2-40B4-BE49-F238E27FC236}">
                <a16:creationId xmlns:a16="http://schemas.microsoft.com/office/drawing/2014/main" id="{3D63D877-7D36-489B-8304-391D9D919723}"/>
              </a:ext>
            </a:extLst>
          </p:cNvPr>
          <p:cNvGraphicFramePr>
            <a:graphicFrameLocks noGrp="1"/>
          </p:cNvGraphicFramePr>
          <p:nvPr>
            <p:extLst>
              <p:ext uri="{D42A27DB-BD31-4B8C-83A1-F6EECF244321}">
                <p14:modId xmlns:p14="http://schemas.microsoft.com/office/powerpoint/2010/main" val="2791052689"/>
              </p:ext>
            </p:extLst>
          </p:nvPr>
        </p:nvGraphicFramePr>
        <p:xfrm>
          <a:off x="0" y="776368"/>
          <a:ext cx="9144003" cy="4362009"/>
        </p:xfrm>
        <a:graphic>
          <a:graphicData uri="http://schemas.openxmlformats.org/drawingml/2006/table">
            <a:tbl>
              <a:tblPr/>
              <a:tblGrid>
                <a:gridCol w="637028">
                  <a:extLst>
                    <a:ext uri="{9D8B030D-6E8A-4147-A177-3AD203B41FA5}">
                      <a16:colId xmlns:a16="http://schemas.microsoft.com/office/drawing/2014/main" val="984589749"/>
                    </a:ext>
                  </a:extLst>
                </a:gridCol>
                <a:gridCol w="637028">
                  <a:extLst>
                    <a:ext uri="{9D8B030D-6E8A-4147-A177-3AD203B41FA5}">
                      <a16:colId xmlns:a16="http://schemas.microsoft.com/office/drawing/2014/main" val="2568116402"/>
                    </a:ext>
                  </a:extLst>
                </a:gridCol>
                <a:gridCol w="435301">
                  <a:extLst>
                    <a:ext uri="{9D8B030D-6E8A-4147-A177-3AD203B41FA5}">
                      <a16:colId xmlns:a16="http://schemas.microsoft.com/office/drawing/2014/main" val="32063739"/>
                    </a:ext>
                  </a:extLst>
                </a:gridCol>
                <a:gridCol w="637028">
                  <a:extLst>
                    <a:ext uri="{9D8B030D-6E8A-4147-A177-3AD203B41FA5}">
                      <a16:colId xmlns:a16="http://schemas.microsoft.com/office/drawing/2014/main" val="319361680"/>
                    </a:ext>
                  </a:extLst>
                </a:gridCol>
                <a:gridCol w="637028">
                  <a:extLst>
                    <a:ext uri="{9D8B030D-6E8A-4147-A177-3AD203B41FA5}">
                      <a16:colId xmlns:a16="http://schemas.microsoft.com/office/drawing/2014/main" val="2750637577"/>
                    </a:ext>
                  </a:extLst>
                </a:gridCol>
                <a:gridCol w="637028">
                  <a:extLst>
                    <a:ext uri="{9D8B030D-6E8A-4147-A177-3AD203B41FA5}">
                      <a16:colId xmlns:a16="http://schemas.microsoft.com/office/drawing/2014/main" val="2737638871"/>
                    </a:ext>
                  </a:extLst>
                </a:gridCol>
                <a:gridCol w="637028">
                  <a:extLst>
                    <a:ext uri="{9D8B030D-6E8A-4147-A177-3AD203B41FA5}">
                      <a16:colId xmlns:a16="http://schemas.microsoft.com/office/drawing/2014/main" val="511667525"/>
                    </a:ext>
                  </a:extLst>
                </a:gridCol>
                <a:gridCol w="637028">
                  <a:extLst>
                    <a:ext uri="{9D8B030D-6E8A-4147-A177-3AD203B41FA5}">
                      <a16:colId xmlns:a16="http://schemas.microsoft.com/office/drawing/2014/main" val="2015275262"/>
                    </a:ext>
                  </a:extLst>
                </a:gridCol>
                <a:gridCol w="469808">
                  <a:extLst>
                    <a:ext uri="{9D8B030D-6E8A-4147-A177-3AD203B41FA5}">
                      <a16:colId xmlns:a16="http://schemas.microsoft.com/office/drawing/2014/main" val="4230010088"/>
                    </a:ext>
                  </a:extLst>
                </a:gridCol>
                <a:gridCol w="637028">
                  <a:extLst>
                    <a:ext uri="{9D8B030D-6E8A-4147-A177-3AD203B41FA5}">
                      <a16:colId xmlns:a16="http://schemas.microsoft.com/office/drawing/2014/main" val="462594074"/>
                    </a:ext>
                  </a:extLst>
                </a:gridCol>
                <a:gridCol w="637028">
                  <a:extLst>
                    <a:ext uri="{9D8B030D-6E8A-4147-A177-3AD203B41FA5}">
                      <a16:colId xmlns:a16="http://schemas.microsoft.com/office/drawing/2014/main" val="3904428846"/>
                    </a:ext>
                  </a:extLst>
                </a:gridCol>
                <a:gridCol w="637028">
                  <a:extLst>
                    <a:ext uri="{9D8B030D-6E8A-4147-A177-3AD203B41FA5}">
                      <a16:colId xmlns:a16="http://schemas.microsoft.com/office/drawing/2014/main" val="4123615397"/>
                    </a:ext>
                  </a:extLst>
                </a:gridCol>
                <a:gridCol w="1868614">
                  <a:extLst>
                    <a:ext uri="{9D8B030D-6E8A-4147-A177-3AD203B41FA5}">
                      <a16:colId xmlns:a16="http://schemas.microsoft.com/office/drawing/2014/main" val="2727121588"/>
                    </a:ext>
                  </a:extLst>
                </a:gridCol>
              </a:tblGrid>
              <a:tr h="861237">
                <a:tc>
                  <a:txBody>
                    <a:bodyPr/>
                    <a:lstStyle/>
                    <a:p>
                      <a:pPr algn="l" fontAlgn="ctr"/>
                      <a:r>
                        <a:rPr lang="fr-FR" sz="1000" b="0" i="0" u="none" strike="noStrike">
                          <a:solidFill>
                            <a:srgbClr val="000000"/>
                          </a:solidFill>
                          <a:effectLst/>
                          <a:latin typeface="Calibri" panose="020F0502020204030204" pitchFamily="34" charset="0"/>
                        </a:rPr>
                        <a:t>Nom en français</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ctr"/>
                      <a:r>
                        <a:rPr lang="fr-FR" sz="1000" b="0" i="0" u="none" strike="noStrike">
                          <a:solidFill>
                            <a:srgbClr val="000000"/>
                          </a:solidFill>
                          <a:effectLst/>
                          <a:latin typeface="Calibri" panose="020F0502020204030204" pitchFamily="34" charset="0"/>
                        </a:rPr>
                        <a:t>Nom SHP dans le std boi s+ DFCI </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fr-FR" sz="1000" b="0" i="0" u="none" strike="noStrike">
                          <a:solidFill>
                            <a:srgbClr val="000000"/>
                          </a:solidFill>
                          <a:effectLst/>
                          <a:latin typeface="Calibri" panose="020F0502020204030204" pitchFamily="34" charset="0"/>
                        </a:rPr>
                        <a:t>Type de valeur std bois + DFCI</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fr-FR" sz="1000" b="0" i="0" u="none" strike="noStrike">
                          <a:solidFill>
                            <a:srgbClr val="000000"/>
                          </a:solidFill>
                          <a:effectLst/>
                          <a:latin typeface="Calibri" panose="020F0502020204030204" pitchFamily="34" charset="0"/>
                        </a:rPr>
                        <a:t>Description std bois  + DFCI</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fr-FR" sz="1000" b="0" i="0" u="none" strike="noStrike">
                          <a:solidFill>
                            <a:srgbClr val="000000"/>
                          </a:solidFill>
                          <a:effectLst/>
                          <a:latin typeface="Calibri" panose="020F0502020204030204" pitchFamily="34" charset="0"/>
                        </a:rPr>
                        <a:t>Origine de la donnée std bois + DFCI</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fr-FR" sz="1000" b="0" i="0" u="none" strike="noStrike">
                          <a:solidFill>
                            <a:srgbClr val="000000"/>
                          </a:solidFill>
                          <a:effectLst/>
                          <a:latin typeface="Calibri" panose="020F0502020204030204" pitchFamily="34" charset="0"/>
                        </a:rPr>
                        <a:t>Exemples de valeurs possibles std bois + DFCI</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fr-FR" sz="1000" b="0" i="0" u="none" strike="noStrike">
                          <a:solidFill>
                            <a:srgbClr val="000000"/>
                          </a:solidFill>
                          <a:effectLst/>
                          <a:latin typeface="Calibri" panose="020F0502020204030204" pitchFamily="34" charset="0"/>
                        </a:rPr>
                        <a:t>Element Obligatoire/Optionnel std bois + DFCI</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fr-FR" sz="1000" b="0" i="0" u="none" strike="noStrike">
                          <a:solidFill>
                            <a:srgbClr val="000000"/>
                          </a:solidFill>
                          <a:effectLst/>
                          <a:latin typeface="Calibri" panose="020F0502020204030204" pitchFamily="34" charset="0"/>
                        </a:rPr>
                        <a:t>Nom dans la BDTOPO</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ctr"/>
                      <a:r>
                        <a:rPr lang="fr-FR" sz="1000" b="0" i="0" u="none" strike="noStrike">
                          <a:solidFill>
                            <a:srgbClr val="000000"/>
                          </a:solidFill>
                          <a:effectLst/>
                          <a:latin typeface="Calibri" panose="020F0502020204030204" pitchFamily="34" charset="0"/>
                        </a:rPr>
                        <a:t>Type de valeur BDTOPO</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ctr"/>
                      <a:r>
                        <a:rPr lang="fr-FR" sz="1000" b="0" i="0" u="none" strike="noStrike">
                          <a:solidFill>
                            <a:srgbClr val="000000"/>
                          </a:solidFill>
                          <a:effectLst/>
                          <a:latin typeface="Calibri" panose="020F0502020204030204" pitchFamily="34" charset="0"/>
                        </a:rPr>
                        <a:t>Source de la donnée dans la BDTOPO</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ctr"/>
                      <a:r>
                        <a:rPr lang="fr-FR" sz="1000" b="0" i="0" u="none" strike="noStrike">
                          <a:solidFill>
                            <a:srgbClr val="000000"/>
                          </a:solidFill>
                          <a:effectLst/>
                          <a:latin typeface="Calibri" panose="020F0502020204030204" pitchFamily="34" charset="0"/>
                        </a:rPr>
                        <a:t>Description présente dans la spec de la BDTOPO</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ctr"/>
                      <a:r>
                        <a:rPr lang="fr-FR" sz="1000" b="0" i="0" u="none" strike="noStrike">
                          <a:solidFill>
                            <a:srgbClr val="000000"/>
                          </a:solidFill>
                          <a:effectLst/>
                          <a:latin typeface="Calibri" panose="020F0502020204030204" pitchFamily="34" charset="0"/>
                        </a:rPr>
                        <a:t>Exemples de valeurs possibles BDTOPO</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ctr"/>
                      <a:r>
                        <a:rPr lang="fr-FR" sz="1000" b="0" i="0" u="none" strike="noStrike" dirty="0">
                          <a:solidFill>
                            <a:srgbClr val="000000"/>
                          </a:solidFill>
                          <a:effectLst/>
                          <a:latin typeface="Calibri" panose="020F0502020204030204" pitchFamily="34" charset="0"/>
                        </a:rPr>
                        <a:t>Remarque 04/06/2025</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3458595001"/>
                  </a:ext>
                </a:extLst>
              </a:tr>
              <a:tr h="1945759">
                <a:tc>
                  <a:txBody>
                    <a:bodyPr/>
                    <a:lstStyle/>
                    <a:p>
                      <a:pPr algn="ctr" fontAlgn="ctr"/>
                      <a:r>
                        <a:rPr lang="fr-FR" sz="1000" b="0" i="0" u="none" strike="noStrike" dirty="0">
                          <a:solidFill>
                            <a:srgbClr val="000000"/>
                          </a:solidFill>
                          <a:effectLst/>
                          <a:latin typeface="Calibri" panose="020F0502020204030204" pitchFamily="34" charset="0"/>
                        </a:rPr>
                        <a:t>Réseau Transports exceptionnels</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RESEAU_TE</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Liste</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Réseau permanent de transport exceptionnel auquel appartient le tronçon</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DDT, Gestionnaire de voiries, DSR</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48 / 72 / 94 / 120 / Non concerné / Inconnu</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Obligatoire</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nl-NL" sz="1000" b="0" i="0" u="none" strike="noStrike">
                          <a:solidFill>
                            <a:srgbClr val="000000"/>
                          </a:solidFill>
                          <a:effectLst/>
                          <a:latin typeface="Calibri" panose="020F0502020204030204" pitchFamily="34" charset="0"/>
                        </a:rPr>
                        <a:t>SQL/GPKG : reseau_te</a:t>
                      </a:r>
                      <a:br>
                        <a:rPr lang="nl-NL" sz="1000" b="0" i="0" u="none" strike="noStrike">
                          <a:solidFill>
                            <a:srgbClr val="000000"/>
                          </a:solidFill>
                          <a:effectLst/>
                          <a:latin typeface="Calibri" panose="020F0502020204030204" pitchFamily="34" charset="0"/>
                        </a:rPr>
                      </a:br>
                      <a:r>
                        <a:rPr lang="nl-NL" sz="1000" b="0" i="0" u="none" strike="noStrike">
                          <a:solidFill>
                            <a:srgbClr val="000000"/>
                          </a:solidFill>
                          <a:effectLst/>
                          <a:latin typeface="Calibri" panose="020F0502020204030204" pitchFamily="34" charset="0"/>
                        </a:rPr>
                        <a:t>SHP : RESEAU_TE</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DDT, Gestionnaire de voiries, DSR</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Réseau de transport exceptionnel auquel appartient le tronçon routier</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nl-NL" sz="1000" b="0" i="0" u="none" strike="noStrike" dirty="0">
                          <a:solidFill>
                            <a:srgbClr val="000000"/>
                          </a:solidFill>
                          <a:effectLst/>
                          <a:latin typeface="Calibri" panose="020F0502020204030204" pitchFamily="34" charset="0"/>
                        </a:rPr>
                        <a:t>nul par </a:t>
                      </a:r>
                      <a:r>
                        <a:rPr lang="nl-NL" sz="1000" b="0" i="0" u="none" strike="noStrike" dirty="0" err="1">
                          <a:solidFill>
                            <a:srgbClr val="000000"/>
                          </a:solidFill>
                          <a:effectLst/>
                          <a:latin typeface="Calibri" panose="020F0502020204030204" pitchFamily="34" charset="0"/>
                        </a:rPr>
                        <a:t>défaut</a:t>
                      </a:r>
                      <a:r>
                        <a:rPr lang="nl-NL" sz="1000" b="0" i="0" u="none" strike="noStrike" dirty="0">
                          <a:solidFill>
                            <a:srgbClr val="000000"/>
                          </a:solidFill>
                          <a:effectLst/>
                          <a:latin typeface="Calibri" panose="020F0502020204030204" pitchFamily="34" charset="0"/>
                        </a:rPr>
                        <a:t> | 1TE | 2TE48 | TE120 | TE72 | TE94</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 valeur dans la BDTE (BD spécialisée pour le TE, compatible BD TOPO) : Sans valeur | 1TE | 2TE48 | TE120 | TE72 | TE94</a:t>
                      </a:r>
                      <a:br>
                        <a:rPr lang="fr-FR" sz="1000" b="0" i="0" u="none" strike="noStrike" dirty="0">
                          <a:solidFill>
                            <a:srgbClr val="000000"/>
                          </a:solidFill>
                          <a:effectLst/>
                          <a:latin typeface="Calibri" panose="020F0502020204030204" pitchFamily="34" charset="0"/>
                        </a:rPr>
                      </a:br>
                      <a:br>
                        <a:rPr lang="fr-FR" sz="1000" b="0" i="0" u="none" strike="noStrike" dirty="0">
                          <a:solidFill>
                            <a:srgbClr val="000000"/>
                          </a:solidFill>
                          <a:effectLst/>
                          <a:latin typeface="Calibri" panose="020F0502020204030204" pitchFamily="34" charset="0"/>
                        </a:rPr>
                      </a:br>
                      <a:r>
                        <a:rPr lang="fr-FR" sz="1000" b="0" i="0" u="none" strike="noStrike" dirty="0">
                          <a:solidFill>
                            <a:srgbClr val="000000"/>
                          </a:solidFill>
                          <a:effectLst/>
                          <a:latin typeface="Calibri" panose="020F0502020204030204" pitchFamily="34" charset="0"/>
                        </a:rPr>
                        <a:t>- valeur renseignée essentiellement pour le réseau autoroute nationale et départemental majeur. Ca ne concerne pas vraiment les dessertes intra-massif. Faut-il laisser l'élément dans le standard (besoin ITBR à la base)?</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94668142"/>
                  </a:ext>
                </a:extLst>
              </a:tr>
              <a:tr h="1555013">
                <a:tc>
                  <a:txBody>
                    <a:bodyPr/>
                    <a:lstStyle/>
                    <a:p>
                      <a:pPr algn="ctr" fontAlgn="ctr"/>
                      <a:r>
                        <a:rPr lang="fr-FR" sz="1000" b="0" i="0" u="none" strike="noStrike">
                          <a:solidFill>
                            <a:srgbClr val="000000"/>
                          </a:solidFill>
                          <a:effectLst/>
                          <a:latin typeface="Calibri" panose="020F0502020204030204" pitchFamily="34" charset="0"/>
                        </a:rPr>
                        <a:t>Catégorie Transports exceptionnels</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CAT_TE</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Catégorie maximale de transport exceptionnel à laquelle appartient le tronçon</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DDT, Gestionnaire de voiries</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CAT1 / CAT2 / CAT3 / Non concerné / Inconnu</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Obligatoire</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nl-NL" sz="1000" b="0" i="0" u="none" strike="noStrike">
                          <a:solidFill>
                            <a:srgbClr val="000000"/>
                          </a:solidFill>
                          <a:effectLst/>
                          <a:latin typeface="Calibri" panose="020F0502020204030204" pitchFamily="34" charset="0"/>
                        </a:rPr>
                        <a:t>SQL/GPKG : categorie_te</a:t>
                      </a:r>
                      <a:br>
                        <a:rPr lang="nl-NL" sz="1000" b="0" i="0" u="none" strike="noStrike">
                          <a:solidFill>
                            <a:srgbClr val="000000"/>
                          </a:solidFill>
                          <a:effectLst/>
                          <a:latin typeface="Calibri" panose="020F0502020204030204" pitchFamily="34" charset="0"/>
                        </a:rPr>
                      </a:br>
                      <a:r>
                        <a:rPr lang="nl-NL" sz="1000" b="0" i="0" u="none" strike="noStrike">
                          <a:solidFill>
                            <a:srgbClr val="000000"/>
                          </a:solidFill>
                          <a:effectLst/>
                          <a:latin typeface="Calibri" panose="020F0502020204030204" pitchFamily="34" charset="0"/>
                        </a:rPr>
                        <a:t>SHP : CAT_TE</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Texte</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DDT, Gestionnaire de voiries</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Catégorie de transport exceptionnel à laquelle appartient le tronçon routier</a:t>
                      </a:r>
                    </a:p>
                  </a:txBody>
                  <a:tcPr marL="7974" marR="7974" marT="7974" marB="382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a:solidFill>
                            <a:srgbClr val="000000"/>
                          </a:solidFill>
                          <a:effectLst/>
                          <a:latin typeface="Calibri" panose="020F0502020204030204" pitchFamily="34" charset="0"/>
                        </a:rPr>
                        <a:t>48 | 72</a:t>
                      </a:r>
                    </a:p>
                  </a:txBody>
                  <a:tcPr marL="7974" marR="7974" marT="7974" marB="3827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fr-FR" sz="1000" b="0" i="0" u="none" strike="noStrike" dirty="0">
                          <a:solidFill>
                            <a:srgbClr val="000000"/>
                          </a:solidFill>
                          <a:effectLst/>
                          <a:latin typeface="Calibri" panose="020F0502020204030204" pitchFamily="34" charset="0"/>
                        </a:rPr>
                        <a:t>- besoin du GT à confirmer pour cet élément</a:t>
                      </a:r>
                    </a:p>
                  </a:txBody>
                  <a:tcPr marL="7974" marR="7974" marT="7974" marB="3827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6811403"/>
                  </a:ext>
                </a:extLst>
              </a:tr>
            </a:tbl>
          </a:graphicData>
        </a:graphic>
      </p:graphicFrame>
    </p:spTree>
    <p:extLst>
      <p:ext uri="{BB962C8B-B14F-4D97-AF65-F5344CB8AC3E}">
        <p14:creationId xmlns:p14="http://schemas.microsoft.com/office/powerpoint/2010/main" val="3660228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5</a:t>
            </a:fld>
            <a:endParaRPr lang="fr-FR"/>
          </a:p>
        </p:txBody>
      </p:sp>
      <p:graphicFrame>
        <p:nvGraphicFramePr>
          <p:cNvPr id="3" name="Tableau 2">
            <a:extLst>
              <a:ext uri="{FF2B5EF4-FFF2-40B4-BE49-F238E27FC236}">
                <a16:creationId xmlns:a16="http://schemas.microsoft.com/office/drawing/2014/main" id="{3B466245-5843-4A8C-BBF8-12FEF9D59C08}"/>
              </a:ext>
            </a:extLst>
          </p:cNvPr>
          <p:cNvGraphicFramePr>
            <a:graphicFrameLocks noGrp="1"/>
          </p:cNvGraphicFramePr>
          <p:nvPr>
            <p:extLst>
              <p:ext uri="{D42A27DB-BD31-4B8C-83A1-F6EECF244321}">
                <p14:modId xmlns:p14="http://schemas.microsoft.com/office/powerpoint/2010/main" val="1767456115"/>
              </p:ext>
            </p:extLst>
          </p:nvPr>
        </p:nvGraphicFramePr>
        <p:xfrm>
          <a:off x="166935" y="1006737"/>
          <a:ext cx="8977068" cy="2791540"/>
        </p:xfrm>
        <a:graphic>
          <a:graphicData uri="http://schemas.openxmlformats.org/drawingml/2006/table">
            <a:tbl>
              <a:tblPr/>
              <a:tblGrid>
                <a:gridCol w="625398">
                  <a:extLst>
                    <a:ext uri="{9D8B030D-6E8A-4147-A177-3AD203B41FA5}">
                      <a16:colId xmlns:a16="http://schemas.microsoft.com/office/drawing/2014/main" val="3956864938"/>
                    </a:ext>
                  </a:extLst>
                </a:gridCol>
                <a:gridCol w="625398">
                  <a:extLst>
                    <a:ext uri="{9D8B030D-6E8A-4147-A177-3AD203B41FA5}">
                      <a16:colId xmlns:a16="http://schemas.microsoft.com/office/drawing/2014/main" val="2767885991"/>
                    </a:ext>
                  </a:extLst>
                </a:gridCol>
                <a:gridCol w="427356">
                  <a:extLst>
                    <a:ext uri="{9D8B030D-6E8A-4147-A177-3AD203B41FA5}">
                      <a16:colId xmlns:a16="http://schemas.microsoft.com/office/drawing/2014/main" val="1050728232"/>
                    </a:ext>
                  </a:extLst>
                </a:gridCol>
                <a:gridCol w="625398">
                  <a:extLst>
                    <a:ext uri="{9D8B030D-6E8A-4147-A177-3AD203B41FA5}">
                      <a16:colId xmlns:a16="http://schemas.microsoft.com/office/drawing/2014/main" val="1820354639"/>
                    </a:ext>
                  </a:extLst>
                </a:gridCol>
                <a:gridCol w="625398">
                  <a:extLst>
                    <a:ext uri="{9D8B030D-6E8A-4147-A177-3AD203B41FA5}">
                      <a16:colId xmlns:a16="http://schemas.microsoft.com/office/drawing/2014/main" val="467420837"/>
                    </a:ext>
                  </a:extLst>
                </a:gridCol>
                <a:gridCol w="625398">
                  <a:extLst>
                    <a:ext uri="{9D8B030D-6E8A-4147-A177-3AD203B41FA5}">
                      <a16:colId xmlns:a16="http://schemas.microsoft.com/office/drawing/2014/main" val="948173241"/>
                    </a:ext>
                  </a:extLst>
                </a:gridCol>
                <a:gridCol w="625398">
                  <a:extLst>
                    <a:ext uri="{9D8B030D-6E8A-4147-A177-3AD203B41FA5}">
                      <a16:colId xmlns:a16="http://schemas.microsoft.com/office/drawing/2014/main" val="155817456"/>
                    </a:ext>
                  </a:extLst>
                </a:gridCol>
                <a:gridCol w="625398">
                  <a:extLst>
                    <a:ext uri="{9D8B030D-6E8A-4147-A177-3AD203B41FA5}">
                      <a16:colId xmlns:a16="http://schemas.microsoft.com/office/drawing/2014/main" val="1210890035"/>
                    </a:ext>
                  </a:extLst>
                </a:gridCol>
                <a:gridCol w="461231">
                  <a:extLst>
                    <a:ext uri="{9D8B030D-6E8A-4147-A177-3AD203B41FA5}">
                      <a16:colId xmlns:a16="http://schemas.microsoft.com/office/drawing/2014/main" val="3091770436"/>
                    </a:ext>
                  </a:extLst>
                </a:gridCol>
                <a:gridCol w="625398">
                  <a:extLst>
                    <a:ext uri="{9D8B030D-6E8A-4147-A177-3AD203B41FA5}">
                      <a16:colId xmlns:a16="http://schemas.microsoft.com/office/drawing/2014/main" val="1731772023"/>
                    </a:ext>
                  </a:extLst>
                </a:gridCol>
                <a:gridCol w="625398">
                  <a:extLst>
                    <a:ext uri="{9D8B030D-6E8A-4147-A177-3AD203B41FA5}">
                      <a16:colId xmlns:a16="http://schemas.microsoft.com/office/drawing/2014/main" val="3903067971"/>
                    </a:ext>
                  </a:extLst>
                </a:gridCol>
                <a:gridCol w="625398">
                  <a:extLst>
                    <a:ext uri="{9D8B030D-6E8A-4147-A177-3AD203B41FA5}">
                      <a16:colId xmlns:a16="http://schemas.microsoft.com/office/drawing/2014/main" val="2685545791"/>
                    </a:ext>
                  </a:extLst>
                </a:gridCol>
                <a:gridCol w="1834501">
                  <a:extLst>
                    <a:ext uri="{9D8B030D-6E8A-4147-A177-3AD203B41FA5}">
                      <a16:colId xmlns:a16="http://schemas.microsoft.com/office/drawing/2014/main" val="1565877074"/>
                    </a:ext>
                  </a:extLst>
                </a:gridCol>
              </a:tblGrid>
              <a:tr h="1196374">
                <a:tc>
                  <a:txBody>
                    <a:bodyPr/>
                    <a:lstStyle/>
                    <a:p>
                      <a:pPr algn="ctr" fontAlgn="ctr"/>
                      <a:r>
                        <a:rPr lang="fr-FR" sz="900" b="0" i="0" u="none" strike="noStrike">
                          <a:solidFill>
                            <a:srgbClr val="000000"/>
                          </a:solidFill>
                          <a:effectLst/>
                          <a:latin typeface="Calibri" panose="020F0502020204030204" pitchFamily="34" charset="0"/>
                        </a:rPr>
                        <a:t>Nom en français</a:t>
                      </a:r>
                    </a:p>
                  </a:txBody>
                  <a:tcPr marL="7346" marR="7346" marT="7346" marB="3526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900" b="0" i="0" u="none" strike="noStrike">
                          <a:solidFill>
                            <a:srgbClr val="000000"/>
                          </a:solidFill>
                          <a:effectLst/>
                          <a:latin typeface="Calibri" panose="020F0502020204030204" pitchFamily="34" charset="0"/>
                        </a:rPr>
                        <a:t>Nom SHP dans le std boi s+ DFCI </a:t>
                      </a:r>
                    </a:p>
                  </a:txBody>
                  <a:tcPr marL="7346" marR="7346" marT="7346" marB="3526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Type de valeur std bois + DFCI</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Description std bois  + DFCI</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Origine de la donnée std bois + DFCI</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Exemples de valeurs possibles std bois + DFCI</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Element Obligatoire/Optionnel std bois + DFCI</a:t>
                      </a:r>
                    </a:p>
                  </a:txBody>
                  <a:tcPr marL="7346" marR="7346" marT="7346" marB="3526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Nom dans la BDTOPO</a:t>
                      </a:r>
                    </a:p>
                  </a:txBody>
                  <a:tcPr marL="7346" marR="7346" marT="7346" marB="3526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Type de valeur BDTOPO</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Source de la donnée dans la BDTOPO</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Description présente dans la spec de la BDTOPO</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Exemples de valeurs possibles BDTOPO</a:t>
                      </a:r>
                    </a:p>
                  </a:txBody>
                  <a:tcPr marL="7346" marR="7346" marT="7346" marB="3526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Remarque 04/06/2025</a:t>
                      </a:r>
                    </a:p>
                  </a:txBody>
                  <a:tcPr marL="7346" marR="7346" marT="7346" marB="3526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3374181503"/>
                  </a:ext>
                </a:extLst>
              </a:tr>
              <a:tr h="1595166">
                <a:tc>
                  <a:txBody>
                    <a:bodyPr/>
                    <a:lstStyle/>
                    <a:p>
                      <a:pPr algn="ctr" fontAlgn="ctr"/>
                      <a:r>
                        <a:rPr lang="fr-FR" sz="900" b="0" i="0" u="none" strike="noStrike">
                          <a:solidFill>
                            <a:srgbClr val="000000"/>
                          </a:solidFill>
                          <a:effectLst/>
                          <a:latin typeface="Calibri" panose="020F0502020204030204" pitchFamily="34" charset="0"/>
                        </a:rPr>
                        <a:t>Longueur du tronçon</a:t>
                      </a:r>
                    </a:p>
                  </a:txBody>
                  <a:tcPr marL="7346" marR="7346" marT="7346" marB="3526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LONGUEUR</a:t>
                      </a:r>
                    </a:p>
                  </a:txBody>
                  <a:tcPr marL="7346" marR="7346" marT="7346" marB="3526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Calculée</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Longueur du tronçon en m</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Calcul automatique</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Valeur calculée</a:t>
                      </a: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Obligatoire</a:t>
                      </a:r>
                    </a:p>
                  </a:txBody>
                  <a:tcPr marL="7346" marR="7346" marT="7346" marB="3526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7346" marR="7346" marT="7346" marB="3526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7346" marR="7346" marT="7346" marB="3526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7346" marR="7346" marT="7346" marB="3526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élément prévu pour les ITBR à la base. Elément prévu pour le calcul hors ligne. </a:t>
                      </a:r>
                    </a:p>
                    <a:p>
                      <a:pPr algn="ctr" fontAlgn="ctr"/>
                      <a:r>
                        <a:rPr lang="fr-FR" sz="900" b="0" i="0" u="none" strike="noStrike" dirty="0">
                          <a:solidFill>
                            <a:srgbClr val="000000"/>
                          </a:solidFill>
                          <a:effectLst/>
                          <a:latin typeface="Calibri" panose="020F0502020204030204" pitchFamily="34" charset="0"/>
                        </a:rPr>
                        <a:t>Il rajoute ajd de la lourdeur à la BD. Il peut être calculé d'avance dans le SIG. Ya t'il encore un besoin ajd?</a:t>
                      </a:r>
                      <a:br>
                        <a:rPr lang="fr-FR" sz="900" b="0" i="0" u="none" strike="noStrike" dirty="0">
                          <a:solidFill>
                            <a:srgbClr val="000000"/>
                          </a:solidFill>
                          <a:effectLst/>
                          <a:latin typeface="Calibri" panose="020F0502020204030204" pitchFamily="34" charset="0"/>
                        </a:rPr>
                      </a:br>
                      <a:r>
                        <a:rPr lang="fr-FR" sz="900" b="0" i="0" u="none" strike="noStrike" dirty="0">
                          <a:solidFill>
                            <a:srgbClr val="000000"/>
                          </a:solidFill>
                          <a:effectLst/>
                          <a:latin typeface="Calibri" panose="020F0502020204030204" pitchFamily="34" charset="0"/>
                        </a:rPr>
                        <a:t>-&gt; discussion du besoin pour les transporteurs de bois</a:t>
                      </a:r>
                    </a:p>
                  </a:txBody>
                  <a:tcPr marL="7346" marR="7346" marT="7346" marB="3526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9205440"/>
                  </a:ext>
                </a:extLst>
              </a:tr>
            </a:tbl>
          </a:graphicData>
        </a:graphic>
      </p:graphicFrame>
      <p:sp>
        <p:nvSpPr>
          <p:cNvPr id="9" name="Espace réservé du texte 8">
            <a:extLst>
              <a:ext uri="{FF2B5EF4-FFF2-40B4-BE49-F238E27FC236}">
                <a16:creationId xmlns:a16="http://schemas.microsoft.com/office/drawing/2014/main" id="{95402352-5BF5-4FE7-B76B-2CBBA8FC39FE}"/>
              </a:ext>
            </a:extLst>
          </p:cNvPr>
          <p:cNvSpPr>
            <a:spLocks noGrp="1"/>
          </p:cNvSpPr>
          <p:nvPr>
            <p:ph type="body" sz="quarter" idx="13"/>
          </p:nvPr>
        </p:nvSpPr>
        <p:spPr/>
        <p:txBody>
          <a:bodyPr/>
          <a:lstStyle/>
          <a:p>
            <a:endParaRPr lang="fr-FR"/>
          </a:p>
        </p:txBody>
      </p:sp>
      <p:sp>
        <p:nvSpPr>
          <p:cNvPr id="11" name="Espace réservé du texte 7">
            <a:extLst>
              <a:ext uri="{FF2B5EF4-FFF2-40B4-BE49-F238E27FC236}">
                <a16:creationId xmlns:a16="http://schemas.microsoft.com/office/drawing/2014/main" id="{32D28906-3A9A-42DE-8E8E-F4AE5DB4F1D5}"/>
              </a:ext>
            </a:extLst>
          </p:cNvPr>
          <p:cNvSpPr txBox="1">
            <a:spLocks/>
          </p:cNvSpPr>
          <p:nvPr/>
        </p:nvSpPr>
        <p:spPr bwMode="gray">
          <a:xfrm>
            <a:off x="2944607" y="180000"/>
            <a:ext cx="5929201" cy="360000"/>
          </a:xfrm>
          <a:prstGeom prst="rect">
            <a:avLst/>
          </a:prstGeom>
        </p:spPr>
        <p:txBody>
          <a:bodyPr vert="horz" lIns="0" tIns="0" rIns="0" bIns="0" rtlCol="0" anchor="t" anchorCtr="0">
            <a:noAutofit/>
          </a:bodyPr>
          <a:lstStyle>
            <a:lvl1pPr marL="108000" indent="-108000" algn="r" defTabSz="914400" rtl="0" eaLnBrk="1" latinLnBrk="0" hangingPunct="1">
              <a:lnSpc>
                <a:spcPct val="100000"/>
              </a:lnSpc>
              <a:spcBef>
                <a:spcPts val="0"/>
              </a:spcBef>
              <a:spcAft>
                <a:spcPts val="0"/>
              </a:spcAft>
              <a:buFont typeface="+mj-lt"/>
              <a:buAutoNum type="arabicPeriod"/>
              <a:defRPr sz="750" b="1" kern="1200">
                <a:solidFill>
                  <a:schemeClr val="tx1"/>
                </a:solidFill>
                <a:latin typeface="+mn-lt"/>
                <a:ea typeface="+mn-ea"/>
                <a:cs typeface="+mn-cs"/>
              </a:defRPr>
            </a:lvl1pPr>
            <a:lvl2pPr marL="108000" indent="-108000" algn="r" defTabSz="914400" rtl="0" eaLnBrk="1" latinLnBrk="0" hangingPunct="1">
              <a:lnSpc>
                <a:spcPct val="100000"/>
              </a:lnSpc>
              <a:spcBef>
                <a:spcPts val="0"/>
              </a:spcBef>
              <a:spcAft>
                <a:spcPts val="0"/>
              </a:spcAft>
              <a:buFont typeface="+mj-lt"/>
              <a:buAutoNum type="alphaLcPeriod"/>
              <a:defRPr sz="7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mj-lt"/>
              <a:buNone/>
            </a:pPr>
            <a:r>
              <a:rPr lang="fr-FR" sz="2600" b="0"/>
              <a:t>2. Route</a:t>
            </a:r>
          </a:p>
          <a:p>
            <a:pPr marL="107950" indent="-107950"/>
            <a:endParaRPr lang="fr-FR" dirty="0"/>
          </a:p>
        </p:txBody>
      </p:sp>
    </p:spTree>
    <p:extLst>
      <p:ext uri="{BB962C8B-B14F-4D97-AF65-F5344CB8AC3E}">
        <p14:creationId xmlns:p14="http://schemas.microsoft.com/office/powerpoint/2010/main" val="2986694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6</a:t>
            </a:fld>
            <a:endParaRPr lang="fr-FR"/>
          </a:p>
        </p:txBody>
      </p:sp>
      <p:graphicFrame>
        <p:nvGraphicFramePr>
          <p:cNvPr id="2" name="Tableau 1">
            <a:extLst>
              <a:ext uri="{FF2B5EF4-FFF2-40B4-BE49-F238E27FC236}">
                <a16:creationId xmlns:a16="http://schemas.microsoft.com/office/drawing/2014/main" id="{D7144F33-AAF4-48EE-8811-D90CFC0BB156}"/>
              </a:ext>
            </a:extLst>
          </p:cNvPr>
          <p:cNvGraphicFramePr>
            <a:graphicFrameLocks noGrp="1"/>
          </p:cNvGraphicFramePr>
          <p:nvPr>
            <p:extLst>
              <p:ext uri="{D42A27DB-BD31-4B8C-83A1-F6EECF244321}">
                <p14:modId xmlns:p14="http://schemas.microsoft.com/office/powerpoint/2010/main" val="805482750"/>
              </p:ext>
            </p:extLst>
          </p:nvPr>
        </p:nvGraphicFramePr>
        <p:xfrm>
          <a:off x="1" y="540000"/>
          <a:ext cx="9144002" cy="4823706"/>
        </p:xfrm>
        <a:graphic>
          <a:graphicData uri="http://schemas.openxmlformats.org/drawingml/2006/table">
            <a:tbl>
              <a:tblPr/>
              <a:tblGrid>
                <a:gridCol w="637028">
                  <a:extLst>
                    <a:ext uri="{9D8B030D-6E8A-4147-A177-3AD203B41FA5}">
                      <a16:colId xmlns:a16="http://schemas.microsoft.com/office/drawing/2014/main" val="3894902240"/>
                    </a:ext>
                  </a:extLst>
                </a:gridCol>
                <a:gridCol w="637028">
                  <a:extLst>
                    <a:ext uri="{9D8B030D-6E8A-4147-A177-3AD203B41FA5}">
                      <a16:colId xmlns:a16="http://schemas.microsoft.com/office/drawing/2014/main" val="2841804859"/>
                    </a:ext>
                  </a:extLst>
                </a:gridCol>
                <a:gridCol w="435303">
                  <a:extLst>
                    <a:ext uri="{9D8B030D-6E8A-4147-A177-3AD203B41FA5}">
                      <a16:colId xmlns:a16="http://schemas.microsoft.com/office/drawing/2014/main" val="1586782194"/>
                    </a:ext>
                  </a:extLst>
                </a:gridCol>
                <a:gridCol w="637028">
                  <a:extLst>
                    <a:ext uri="{9D8B030D-6E8A-4147-A177-3AD203B41FA5}">
                      <a16:colId xmlns:a16="http://schemas.microsoft.com/office/drawing/2014/main" val="2090830899"/>
                    </a:ext>
                  </a:extLst>
                </a:gridCol>
                <a:gridCol w="637028">
                  <a:extLst>
                    <a:ext uri="{9D8B030D-6E8A-4147-A177-3AD203B41FA5}">
                      <a16:colId xmlns:a16="http://schemas.microsoft.com/office/drawing/2014/main" val="814803250"/>
                    </a:ext>
                  </a:extLst>
                </a:gridCol>
                <a:gridCol w="637028">
                  <a:extLst>
                    <a:ext uri="{9D8B030D-6E8A-4147-A177-3AD203B41FA5}">
                      <a16:colId xmlns:a16="http://schemas.microsoft.com/office/drawing/2014/main" val="3879464684"/>
                    </a:ext>
                  </a:extLst>
                </a:gridCol>
                <a:gridCol w="637028">
                  <a:extLst>
                    <a:ext uri="{9D8B030D-6E8A-4147-A177-3AD203B41FA5}">
                      <a16:colId xmlns:a16="http://schemas.microsoft.com/office/drawing/2014/main" val="2412932747"/>
                    </a:ext>
                  </a:extLst>
                </a:gridCol>
                <a:gridCol w="637028">
                  <a:extLst>
                    <a:ext uri="{9D8B030D-6E8A-4147-A177-3AD203B41FA5}">
                      <a16:colId xmlns:a16="http://schemas.microsoft.com/office/drawing/2014/main" val="687606019"/>
                    </a:ext>
                  </a:extLst>
                </a:gridCol>
                <a:gridCol w="469808">
                  <a:extLst>
                    <a:ext uri="{9D8B030D-6E8A-4147-A177-3AD203B41FA5}">
                      <a16:colId xmlns:a16="http://schemas.microsoft.com/office/drawing/2014/main" val="1245325892"/>
                    </a:ext>
                  </a:extLst>
                </a:gridCol>
                <a:gridCol w="637028">
                  <a:extLst>
                    <a:ext uri="{9D8B030D-6E8A-4147-A177-3AD203B41FA5}">
                      <a16:colId xmlns:a16="http://schemas.microsoft.com/office/drawing/2014/main" val="1655571309"/>
                    </a:ext>
                  </a:extLst>
                </a:gridCol>
                <a:gridCol w="637028">
                  <a:extLst>
                    <a:ext uri="{9D8B030D-6E8A-4147-A177-3AD203B41FA5}">
                      <a16:colId xmlns:a16="http://schemas.microsoft.com/office/drawing/2014/main" val="3357424912"/>
                    </a:ext>
                  </a:extLst>
                </a:gridCol>
                <a:gridCol w="637028">
                  <a:extLst>
                    <a:ext uri="{9D8B030D-6E8A-4147-A177-3AD203B41FA5}">
                      <a16:colId xmlns:a16="http://schemas.microsoft.com/office/drawing/2014/main" val="1253997895"/>
                    </a:ext>
                  </a:extLst>
                </a:gridCol>
                <a:gridCol w="1868611">
                  <a:extLst>
                    <a:ext uri="{9D8B030D-6E8A-4147-A177-3AD203B41FA5}">
                      <a16:colId xmlns:a16="http://schemas.microsoft.com/office/drawing/2014/main" val="2673348727"/>
                    </a:ext>
                  </a:extLst>
                </a:gridCol>
              </a:tblGrid>
              <a:tr h="0">
                <a:tc>
                  <a:txBody>
                    <a:bodyPr/>
                    <a:lstStyle/>
                    <a:p>
                      <a:pPr algn="ctr" fontAlgn="ctr"/>
                      <a:r>
                        <a:rPr lang="fr-FR" sz="1000" b="0" i="0" u="none" strike="noStrike">
                          <a:solidFill>
                            <a:srgbClr val="000000"/>
                          </a:solidFill>
                          <a:effectLst/>
                          <a:latin typeface="Calibri" panose="020F0502020204030204" pitchFamily="34" charset="0"/>
                        </a:rPr>
                        <a:t>Nom en français</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1000" b="0" i="0" u="none" strike="noStrike">
                          <a:solidFill>
                            <a:srgbClr val="000000"/>
                          </a:solidFill>
                          <a:effectLst/>
                          <a:latin typeface="Calibri" panose="020F0502020204030204" pitchFamily="34" charset="0"/>
                        </a:rPr>
                        <a:t>Nom SHP dans le std boi s+ DFCI </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Type de valeur std bois +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Description std bois  +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Origine de la donnée std bois +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Exemples de valeurs possibles std bois +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Element Obligatoire/Optionnel std bois + DFCI</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Nom dans la BDTOPO</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Type de valeur BDTOPO</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Source de la donnée dans la BDTOPO</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Description présente dans la spec de la BDTOPO</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Exemples de valeurs possibles BDTOPO</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Remarque 04/06/2025</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4251139767"/>
                  </a:ext>
                </a:extLst>
              </a:tr>
              <a:tr h="78581">
                <a:tc>
                  <a:txBody>
                    <a:bodyPr/>
                    <a:lstStyle/>
                    <a:p>
                      <a:pPr algn="ctr" fontAlgn="ctr"/>
                      <a:r>
                        <a:rPr lang="fr-FR" sz="900" b="0" i="0" u="none" strike="noStrike" dirty="0">
                          <a:solidFill>
                            <a:srgbClr val="000000"/>
                          </a:solidFill>
                          <a:effectLst/>
                          <a:latin typeface="Calibri" panose="020F0502020204030204" pitchFamily="34" charset="0"/>
                        </a:rPr>
                        <a:t>Itinéraire desserte forestière</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ITDF</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Booléen</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Tronçon portant une qualification spécifique métier liée à son usage intra massif forestier</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Saisie contributeur</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Oui / Non (par </a:t>
                      </a:r>
                      <a:r>
                        <a:rPr lang="fr-FR" sz="900" b="0" i="0" u="none" strike="noStrike" dirty="0" err="1">
                          <a:solidFill>
                            <a:srgbClr val="000000"/>
                          </a:solidFill>
                          <a:effectLst/>
                          <a:latin typeface="Calibri" panose="020F0502020204030204" pitchFamily="34" charset="0"/>
                        </a:rPr>
                        <a:t>defaut</a:t>
                      </a:r>
                      <a:r>
                        <a:rPr lang="fr-FR" sz="900" b="0" i="0" u="none" strike="noStrike" dirty="0">
                          <a:solidFill>
                            <a:srgbClr val="000000"/>
                          </a:solidFill>
                          <a:effectLst/>
                          <a:latin typeface="Calibri" panose="020F0502020204030204" pitchFamily="34" charset="0"/>
                        </a:rPr>
                        <a:t> : Non)</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Obligatoire</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Saisie contributeur</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36038632"/>
                  </a:ext>
                </a:extLst>
              </a:tr>
              <a:tr h="234872">
                <a:tc>
                  <a:txBody>
                    <a:bodyPr/>
                    <a:lstStyle/>
                    <a:p>
                      <a:pPr algn="ctr" fontAlgn="ctr"/>
                      <a:r>
                        <a:rPr lang="fr-FR" sz="900" b="0" i="0" u="none" strike="noStrike">
                          <a:solidFill>
                            <a:srgbClr val="000000"/>
                          </a:solidFill>
                          <a:effectLst/>
                          <a:latin typeface="Calibri" panose="020F0502020204030204" pitchFamily="34" charset="0"/>
                        </a:rPr>
                        <a:t>Usage DFCI pour ITDF</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ITDF_DFCI</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Liste</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Type d'usage du tronçon ITDF en lien avec la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Saisie contributeur</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Usage exclusif DFCI / Mixte / Inconnu</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Optionnel</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Saisie contributeur</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3439832"/>
                  </a:ext>
                </a:extLst>
              </a:tr>
              <a:tr h="468087">
                <a:tc>
                  <a:txBody>
                    <a:bodyPr/>
                    <a:lstStyle/>
                    <a:p>
                      <a:pPr algn="ctr" fontAlgn="ctr"/>
                      <a:r>
                        <a:rPr lang="fr-FR" sz="900" b="0" i="0" u="none" strike="noStrike">
                          <a:solidFill>
                            <a:srgbClr val="000000"/>
                          </a:solidFill>
                          <a:effectLst/>
                          <a:latin typeface="Calibri" panose="020F0502020204030204" pitchFamily="34" charset="0"/>
                        </a:rPr>
                        <a:t>Type de route = Piste DFCI (pour nom et numéro de route DFCI)</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a:solidFill>
                            <a:srgbClr val="000000"/>
                          </a:solidFill>
                          <a:effectLst/>
                          <a:latin typeface="Calibri" panose="020F0502020204030204" pitchFamily="34" charset="0"/>
                        </a:rPr>
                        <a:t>numéro ou nom piste DFCI</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Classe Route numérotée ou nommée. Information redescendue sur la classe Tronçon de route</a:t>
                      </a:r>
                      <a:br>
                        <a:rPr lang="fr-FR" sz="900" b="0" i="0" u="none" strike="noStrike" dirty="0">
                          <a:solidFill>
                            <a:srgbClr val="000000"/>
                          </a:solidFill>
                          <a:effectLst/>
                          <a:latin typeface="Calibri" panose="020F0502020204030204" pitchFamily="34" charset="0"/>
                        </a:rPr>
                      </a:br>
                      <a:r>
                        <a:rPr lang="fr-FR" sz="900" b="0" i="0" u="none" strike="noStrike" dirty="0">
                          <a:solidFill>
                            <a:srgbClr val="000000"/>
                          </a:solidFill>
                          <a:effectLst/>
                          <a:latin typeface="Calibri" panose="020F0502020204030204" pitchFamily="34" charset="0"/>
                        </a:rPr>
                        <a:t>SQL/GPKG : </a:t>
                      </a:r>
                      <a:br>
                        <a:rPr lang="fr-FR" sz="900" b="0" i="0" u="none" strike="noStrike" dirty="0">
                          <a:solidFill>
                            <a:srgbClr val="000000"/>
                          </a:solidFill>
                          <a:effectLst/>
                          <a:latin typeface="Calibri" panose="020F0502020204030204" pitchFamily="34" charset="0"/>
                        </a:rPr>
                      </a:br>
                      <a:r>
                        <a:rPr lang="fr-FR" sz="900" b="0" i="0" u="none" strike="noStrike" dirty="0">
                          <a:solidFill>
                            <a:srgbClr val="000000"/>
                          </a:solidFill>
                          <a:effectLst/>
                          <a:latin typeface="Calibri" panose="020F0502020204030204" pitchFamily="34" charset="0"/>
                        </a:rPr>
                        <a:t>SHP : </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booléen</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dirty="0">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définition pas claire dans la BD TOPO, servirait à définir la servitude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900" b="0" i="0" u="none" strike="noStrike" dirty="0">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900" b="0" i="0" u="none" strike="noStrike" dirty="0">
                          <a:solidFill>
                            <a:srgbClr val="000000"/>
                          </a:solidFill>
                          <a:effectLst/>
                          <a:latin typeface="Calibri" panose="020F0502020204030204" pitchFamily="34" charset="0"/>
                        </a:rPr>
                        <a:t>-</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30231308"/>
                  </a:ext>
                </a:extLst>
              </a:tr>
              <a:tr h="981274">
                <a:tc>
                  <a:txBody>
                    <a:bodyPr/>
                    <a:lstStyle/>
                    <a:p>
                      <a:pPr algn="ctr" fontAlgn="ctr"/>
                      <a:r>
                        <a:rPr lang="fr-FR" sz="1000" b="0" i="0" u="none" strike="noStrike">
                          <a:solidFill>
                            <a:srgbClr val="000000"/>
                          </a:solidFill>
                          <a:effectLst/>
                          <a:latin typeface="Calibri" panose="020F0502020204030204" pitchFamily="34" charset="0"/>
                        </a:rPr>
                        <a:t>Piste DFCI</a:t>
                      </a: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Piste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SQL/GPKG : piste_dfci</a:t>
                      </a:r>
                      <a:br>
                        <a:rPr lang="fr-FR" sz="1000" b="0" i="0" u="none" strike="noStrike">
                          <a:solidFill>
                            <a:srgbClr val="000000"/>
                          </a:solidFill>
                          <a:effectLst/>
                          <a:latin typeface="Calibri" panose="020F0502020204030204" pitchFamily="34" charset="0"/>
                        </a:rPr>
                      </a:br>
                      <a:r>
                        <a:rPr lang="fr-FR" sz="1000" b="0" i="0" u="none" strike="noStrike">
                          <a:solidFill>
                            <a:srgbClr val="000000"/>
                          </a:solidFill>
                          <a:effectLst/>
                          <a:latin typeface="Calibri" panose="020F0502020204030204" pitchFamily="34" charset="0"/>
                        </a:rPr>
                        <a:t>SHP : PISTE_DFCI</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Tronçon de route faisant partie du réseau de pistes DFCI.</a:t>
                      </a:r>
                    </a:p>
                  </a:txBody>
                  <a:tcPr marL="2712" marR="2712" marT="2712" marB="13016"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2712" marR="2712" marT="2712" marB="13016"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a:t>
                      </a:r>
                    </a:p>
                  </a:txBody>
                  <a:tcPr marL="2712" marR="2712" marT="2712" marB="13016"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73437913"/>
                  </a:ext>
                </a:extLst>
              </a:tr>
            </a:tbl>
          </a:graphicData>
        </a:graphic>
      </p:graphicFrame>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3. Piste DFCI</a:t>
            </a:r>
          </a:p>
          <a:p>
            <a:pPr marL="107950" indent="-107950"/>
            <a:endParaRPr lang="fr-FR" dirty="0"/>
          </a:p>
        </p:txBody>
      </p:sp>
    </p:spTree>
    <p:extLst>
      <p:ext uri="{BB962C8B-B14F-4D97-AF65-F5344CB8AC3E}">
        <p14:creationId xmlns:p14="http://schemas.microsoft.com/office/powerpoint/2010/main" val="974520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7</a:t>
            </a:fld>
            <a:endParaRPr lang="fr-FR"/>
          </a:p>
        </p:txBody>
      </p:sp>
      <p:sp>
        <p:nvSpPr>
          <p:cNvPr id="8" name="Espace réservé du texte 7">
            <a:extLst>
              <a:ext uri="{FF2B5EF4-FFF2-40B4-BE49-F238E27FC236}">
                <a16:creationId xmlns:a16="http://schemas.microsoft.com/office/drawing/2014/main" id="{39A34D4C-BF23-47C3-8364-19CD7D44A393}"/>
              </a:ext>
            </a:extLst>
          </p:cNvPr>
          <p:cNvSpPr>
            <a:spLocks noGrp="1"/>
          </p:cNvSpPr>
          <p:nvPr>
            <p:ph type="body" sz="quarter" idx="13"/>
          </p:nvPr>
        </p:nvSpPr>
        <p:spPr>
          <a:xfrm>
            <a:off x="2944607" y="180000"/>
            <a:ext cx="5929201" cy="360000"/>
          </a:xfrm>
        </p:spPr>
        <p:txBody>
          <a:bodyPr/>
          <a:lstStyle/>
          <a:p>
            <a:pPr marL="0" indent="0">
              <a:buNone/>
            </a:pPr>
            <a:r>
              <a:rPr lang="fr-FR" sz="2600" b="0" dirty="0"/>
              <a:t>3. Piste DFCI</a:t>
            </a:r>
          </a:p>
          <a:p>
            <a:pPr marL="107950" indent="-107950"/>
            <a:endParaRPr lang="fr-FR" dirty="0"/>
          </a:p>
        </p:txBody>
      </p:sp>
      <p:sp>
        <p:nvSpPr>
          <p:cNvPr id="7" name="Espace réservé du contenu 8">
            <a:extLst>
              <a:ext uri="{FF2B5EF4-FFF2-40B4-BE49-F238E27FC236}">
                <a16:creationId xmlns:a16="http://schemas.microsoft.com/office/drawing/2014/main" id="{3D3362DA-007F-4FE0-9792-0479DED8CA20}"/>
              </a:ext>
            </a:extLst>
          </p:cNvPr>
          <p:cNvSpPr>
            <a:spLocks noGrp="1"/>
          </p:cNvSpPr>
          <p:nvPr>
            <p:ph sz="quarter" idx="14"/>
          </p:nvPr>
        </p:nvSpPr>
        <p:spPr>
          <a:xfrm>
            <a:off x="360000" y="697292"/>
            <a:ext cx="8424000" cy="3748915"/>
          </a:xfrm>
        </p:spPr>
        <p:txBody>
          <a:bodyPr/>
          <a:lstStyle/>
          <a:p>
            <a:pPr algn="ctr"/>
            <a:r>
              <a:rPr lang="fr-FR" sz="1400" dirty="0">
                <a:effectLst/>
                <a:latin typeface="Calibri" panose="020F0502020204030204" pitchFamily="34" charset="0"/>
                <a:ea typeface="Calibri" panose="020F0502020204030204" pitchFamily="34" charset="0"/>
              </a:rPr>
              <a:t>2 sujets distincts = 2 attributs distincts </a:t>
            </a:r>
            <a:r>
              <a:rPr lang="fr-FR" sz="1400" dirty="0">
                <a:latin typeface="Calibri" panose="020F0502020204030204" pitchFamily="34" charset="0"/>
                <a:ea typeface="Calibri" panose="020F0502020204030204" pitchFamily="34" charset="0"/>
              </a:rPr>
              <a:t>-&gt; </a:t>
            </a:r>
            <a:r>
              <a:rPr lang="fr-FR" sz="1400" dirty="0">
                <a:effectLst/>
                <a:latin typeface="Calibri" panose="020F0502020204030204" pitchFamily="34" charset="0"/>
                <a:ea typeface="Calibri" panose="020F0502020204030204" pitchFamily="34" charset="0"/>
              </a:rPr>
              <a:t>1 attribut Piste DFCI et 1 attribut Desserte forestière </a:t>
            </a:r>
          </a:p>
          <a:p>
            <a:pPr algn="ctr"/>
            <a:endParaRPr lang="fr-FR"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fr-FR" sz="1400" b="1" dirty="0">
                <a:latin typeface="Calibri" panose="020F0502020204030204" pitchFamily="34" charset="0"/>
                <a:ea typeface="Times New Roman" panose="02020603050405020304" pitchFamily="18" charset="0"/>
              </a:rPr>
              <a:t>Réseau DFCI </a:t>
            </a:r>
            <a:r>
              <a:rPr lang="fr-FR" sz="1400" dirty="0">
                <a:latin typeface="Calibri" panose="020F0502020204030204" pitchFamily="34" charset="0"/>
                <a:ea typeface="Times New Roman" panose="02020603050405020304" pitchFamily="18" charset="0"/>
              </a:rPr>
              <a:t>(Liste) : </a:t>
            </a:r>
            <a:r>
              <a:rPr lang="fr-FR" sz="1400" i="1" dirty="0">
                <a:latin typeface="Calibri" panose="020F0502020204030204" pitchFamily="34" charset="0"/>
                <a:ea typeface="Times New Roman" panose="02020603050405020304" pitchFamily="18" charset="0"/>
              </a:rPr>
              <a:t>Voie utilisée pour la DFCI</a:t>
            </a:r>
          </a:p>
          <a:p>
            <a:pPr marL="594900" lvl="1" indent="-342900">
              <a:buFont typeface="Calibri" panose="020F0502020204030204" pitchFamily="34" charset="0"/>
              <a:buChar char="-"/>
            </a:pPr>
            <a:r>
              <a:rPr lang="fr-FR" sz="1400" i="1" dirty="0" err="1">
                <a:effectLst/>
                <a:latin typeface="Calibri" panose="020F0502020204030204" pitchFamily="34" charset="0"/>
                <a:ea typeface="Times New Roman" panose="02020603050405020304" pitchFamily="18" charset="0"/>
              </a:rPr>
              <a:t>null</a:t>
            </a:r>
            <a:r>
              <a:rPr lang="fr-FR" sz="1400" dirty="0">
                <a:effectLst/>
                <a:latin typeface="Calibri" panose="020F0502020204030204" pitchFamily="34" charset="0"/>
                <a:ea typeface="Times New Roman" panose="02020603050405020304" pitchFamily="18" charset="0"/>
              </a:rPr>
              <a:t> | </a:t>
            </a:r>
            <a:r>
              <a:rPr lang="fr-FR" sz="1400" dirty="0">
                <a:latin typeface="Calibri" panose="020F0502020204030204" pitchFamily="34" charset="0"/>
                <a:ea typeface="Times New Roman" panose="02020603050405020304" pitchFamily="18" charset="0"/>
              </a:rPr>
              <a:t>Piste</a:t>
            </a:r>
            <a:r>
              <a:rPr lang="fr-FR" sz="1400" dirty="0">
                <a:effectLst/>
                <a:latin typeface="Calibri" panose="020F0502020204030204" pitchFamily="34" charset="0"/>
                <a:ea typeface="Times New Roman" panose="02020603050405020304" pitchFamily="18" charset="0"/>
              </a:rPr>
              <a:t> DFCI | </a:t>
            </a:r>
            <a:r>
              <a:rPr lang="fr-FR" sz="1400" dirty="0">
                <a:latin typeface="Calibri" panose="020F0502020204030204" pitchFamily="34" charset="0"/>
                <a:ea typeface="Times New Roman" panose="02020603050405020304" pitchFamily="18" charset="0"/>
              </a:rPr>
              <a:t>Intérêt</a:t>
            </a:r>
            <a:r>
              <a:rPr lang="fr-FR" sz="1400" dirty="0">
                <a:effectLst/>
                <a:latin typeface="Calibri" panose="020F0502020204030204" pitchFamily="34" charset="0"/>
                <a:ea typeface="Times New Roman" panose="02020603050405020304" pitchFamily="18" charset="0"/>
              </a:rPr>
              <a:t> DFCI | autres voies DFCI</a:t>
            </a:r>
          </a:p>
          <a:p>
            <a:pPr marL="594900" lvl="1" indent="-342900">
              <a:buFont typeface="Calibri" panose="020F0502020204030204" pitchFamily="34" charset="0"/>
              <a:buChar char="-"/>
            </a:pPr>
            <a:r>
              <a:rPr lang="fr-FR" sz="1400" i="1" dirty="0">
                <a:latin typeface="Calibri" panose="020F0502020204030204" pitchFamily="34" charset="0"/>
                <a:ea typeface="Times New Roman" panose="02020603050405020304" pitchFamily="18" charset="0"/>
              </a:rPr>
              <a:t>(Voir définitions du GT servitude DFCI) et articles de loi </a:t>
            </a:r>
          </a:p>
          <a:p>
            <a:pPr marL="594900" lvl="1" indent="-342900">
              <a:buFont typeface="Calibri" panose="020F0502020204030204" pitchFamily="34" charset="0"/>
              <a:buChar char="-"/>
            </a:pPr>
            <a:r>
              <a:rPr lang="fr-FR" sz="1400" i="1" dirty="0">
                <a:latin typeface="Calibri" panose="020F0502020204030204" pitchFamily="34" charset="0"/>
                <a:ea typeface="Times New Roman" panose="02020603050405020304" pitchFamily="18" charset="0"/>
              </a:rPr>
              <a:t>Piste</a:t>
            </a:r>
            <a:r>
              <a:rPr lang="fr-FR" sz="1400" i="1" dirty="0">
                <a:effectLst/>
                <a:latin typeface="Calibri" panose="020F0502020204030204" pitchFamily="34" charset="0"/>
                <a:ea typeface="Times New Roman" panose="02020603050405020304" pitchFamily="18" charset="0"/>
              </a:rPr>
              <a:t> DFCI :  (spécifier la servitude dans la définition)</a:t>
            </a:r>
          </a:p>
          <a:p>
            <a:pPr marL="594900" lvl="1" indent="-342900">
              <a:buFont typeface="Calibri" panose="020F0502020204030204" pitchFamily="34" charset="0"/>
              <a:buChar char="-"/>
            </a:pPr>
            <a:endParaRPr lang="fr-FR"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fr-FR" sz="1400" b="1" dirty="0">
                <a:latin typeface="Calibri" panose="020F0502020204030204" pitchFamily="34" charset="0"/>
                <a:ea typeface="Times New Roman" panose="02020603050405020304" pitchFamily="18" charset="0"/>
              </a:rPr>
              <a:t>Réseau transport de bois</a:t>
            </a:r>
            <a:r>
              <a:rPr lang="fr-FR" sz="1400" b="1" dirty="0">
                <a:effectLst/>
                <a:latin typeface="Calibri" panose="020F0502020204030204" pitchFamily="34" charset="0"/>
                <a:ea typeface="Times New Roman" panose="02020603050405020304" pitchFamily="18" charset="0"/>
              </a:rPr>
              <a:t> </a:t>
            </a:r>
            <a:r>
              <a:rPr lang="fr-FR" sz="1400" dirty="0">
                <a:effectLst/>
                <a:latin typeface="Calibri" panose="020F0502020204030204" pitchFamily="34" charset="0"/>
                <a:ea typeface="Times New Roman" panose="02020603050405020304" pitchFamily="18" charset="0"/>
              </a:rPr>
              <a:t>(liste) </a:t>
            </a:r>
            <a:r>
              <a:rPr lang="fr-FR" sz="1400" dirty="0">
                <a:latin typeface="Calibri" panose="020F0502020204030204" pitchFamily="34" charset="0"/>
                <a:ea typeface="Times New Roman" panose="02020603050405020304" pitchFamily="18" charset="0"/>
              </a:rPr>
              <a:t>: </a:t>
            </a:r>
            <a:r>
              <a:rPr lang="fr-FR" sz="1400" i="1" dirty="0">
                <a:latin typeface="Calibri" panose="020F0502020204030204" pitchFamily="34" charset="0"/>
                <a:ea typeface="Times New Roman" panose="02020603050405020304" pitchFamily="18" charset="0"/>
              </a:rPr>
              <a:t>Voie utilisée par les professionnels pour la gestion des forêts ou l’accès aux ressources forestières</a:t>
            </a:r>
            <a:endParaRPr lang="fr-FR" sz="1400" dirty="0">
              <a:effectLst/>
              <a:latin typeface="Calibri" panose="020F0502020204030204" pitchFamily="34" charset="0"/>
              <a:ea typeface="Times New Roman" panose="02020603050405020304" pitchFamily="18" charset="0"/>
            </a:endParaRPr>
          </a:p>
          <a:p>
            <a:pPr marL="594900" lvl="1" indent="-342900">
              <a:buFont typeface="Calibri" panose="020F0502020204030204" pitchFamily="34" charset="0"/>
              <a:buChar char="-"/>
            </a:pPr>
            <a:r>
              <a:rPr lang="fr-FR" sz="1400" i="1" dirty="0" err="1">
                <a:effectLst/>
                <a:latin typeface="Calibri" panose="020F0502020204030204" pitchFamily="34" charset="0"/>
                <a:ea typeface="Times New Roman" panose="02020603050405020304" pitchFamily="18" charset="0"/>
              </a:rPr>
              <a:t>null</a:t>
            </a:r>
            <a:r>
              <a:rPr lang="fr-FR" sz="1400" dirty="0">
                <a:effectLst/>
                <a:latin typeface="Calibri" panose="020F0502020204030204" pitchFamily="34" charset="0"/>
                <a:ea typeface="Times New Roman" panose="02020603050405020304" pitchFamily="18" charset="0"/>
              </a:rPr>
              <a:t> </a:t>
            </a:r>
            <a:r>
              <a:rPr lang="fr-FR" sz="1400" dirty="0">
                <a:latin typeface="Calibri" panose="020F0502020204030204" pitchFamily="34" charset="0"/>
                <a:ea typeface="Times New Roman" panose="02020603050405020304" pitchFamily="18" charset="0"/>
              </a:rPr>
              <a:t>|</a:t>
            </a:r>
            <a:r>
              <a:rPr lang="fr-FR" sz="1400" dirty="0">
                <a:effectLst/>
                <a:latin typeface="Calibri" panose="020F0502020204030204" pitchFamily="34" charset="0"/>
                <a:ea typeface="Times New Roman" panose="02020603050405020304" pitchFamily="18" charset="0"/>
              </a:rPr>
              <a:t> Desserte forestière | Itinéraire Bois Rond</a:t>
            </a:r>
          </a:p>
          <a:p>
            <a:pPr marL="594900" lvl="1" indent="-342900">
              <a:buFont typeface="Calibri" panose="020F0502020204030204" pitchFamily="34" charset="0"/>
              <a:buChar char="-"/>
            </a:pPr>
            <a:r>
              <a:rPr lang="fr-FR" sz="1400" dirty="0">
                <a:latin typeface="Calibri" panose="020F0502020204030204" pitchFamily="34" charset="0"/>
                <a:ea typeface="Times New Roman" panose="02020603050405020304" pitchFamily="18" charset="0"/>
              </a:rPr>
              <a:t>(supprimerait le booléen ITBR dans le standard)</a:t>
            </a:r>
          </a:p>
          <a:p>
            <a:pPr marL="594900" lvl="1" indent="-342900">
              <a:buFont typeface="Calibri" panose="020F0502020204030204" pitchFamily="34" charset="0"/>
              <a:buChar char="-"/>
            </a:pPr>
            <a:r>
              <a:rPr lang="fr-FR" sz="1400" dirty="0">
                <a:effectLst/>
                <a:latin typeface="Calibri" panose="020F0502020204030204" pitchFamily="34" charset="0"/>
                <a:ea typeface="Times New Roman" panose="02020603050405020304" pitchFamily="18" charset="0"/>
              </a:rPr>
              <a:t>Si le champ ITBR est définit, voir les autres attributs ITBR pour ret</a:t>
            </a:r>
            <a:r>
              <a:rPr lang="fr-FR" sz="1400" dirty="0">
                <a:latin typeface="Calibri" panose="020F0502020204030204" pitchFamily="34" charset="0"/>
                <a:ea typeface="Times New Roman" panose="02020603050405020304" pitchFamily="18" charset="0"/>
              </a:rPr>
              <a:t>rouver les informations d’autorisations</a:t>
            </a:r>
            <a:endParaRPr lang="fr-FR" sz="1400" dirty="0">
              <a:effectLst/>
              <a:latin typeface="Calibri" panose="020F0502020204030204" pitchFamily="34" charset="0"/>
              <a:ea typeface="Times New Roman" panose="02020603050405020304" pitchFamily="18" charset="0"/>
            </a:endParaRPr>
          </a:p>
          <a:p>
            <a:pPr marL="342900" lvl="0" indent="-342900">
              <a:buFont typeface="Calibri" panose="020F0502020204030204" pitchFamily="34" charset="0"/>
              <a:buChar char="-"/>
            </a:pPr>
            <a:endParaRPr lang="fr-FR"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44977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8</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4. Etat de la route - 1</a:t>
            </a:r>
          </a:p>
          <a:p>
            <a:pPr marL="107950" indent="-107950"/>
            <a:endParaRPr lang="fr-FR" dirty="0"/>
          </a:p>
        </p:txBody>
      </p:sp>
      <p:graphicFrame>
        <p:nvGraphicFramePr>
          <p:cNvPr id="3" name="Tableau 2">
            <a:extLst>
              <a:ext uri="{FF2B5EF4-FFF2-40B4-BE49-F238E27FC236}">
                <a16:creationId xmlns:a16="http://schemas.microsoft.com/office/drawing/2014/main" id="{D0AD0355-F125-4D80-BB94-B0331004AD1E}"/>
              </a:ext>
            </a:extLst>
          </p:cNvPr>
          <p:cNvGraphicFramePr>
            <a:graphicFrameLocks noGrp="1"/>
          </p:cNvGraphicFramePr>
          <p:nvPr>
            <p:extLst>
              <p:ext uri="{D42A27DB-BD31-4B8C-83A1-F6EECF244321}">
                <p14:modId xmlns:p14="http://schemas.microsoft.com/office/powerpoint/2010/main" val="503284960"/>
              </p:ext>
            </p:extLst>
          </p:nvPr>
        </p:nvGraphicFramePr>
        <p:xfrm>
          <a:off x="-1" y="790453"/>
          <a:ext cx="9150006" cy="3790339"/>
        </p:xfrm>
        <a:graphic>
          <a:graphicData uri="http://schemas.openxmlformats.org/drawingml/2006/table">
            <a:tbl>
              <a:tblPr/>
              <a:tblGrid>
                <a:gridCol w="637446">
                  <a:extLst>
                    <a:ext uri="{9D8B030D-6E8A-4147-A177-3AD203B41FA5}">
                      <a16:colId xmlns:a16="http://schemas.microsoft.com/office/drawing/2014/main" val="568779901"/>
                    </a:ext>
                  </a:extLst>
                </a:gridCol>
                <a:gridCol w="637446">
                  <a:extLst>
                    <a:ext uri="{9D8B030D-6E8A-4147-A177-3AD203B41FA5}">
                      <a16:colId xmlns:a16="http://schemas.microsoft.com/office/drawing/2014/main" val="61977371"/>
                    </a:ext>
                  </a:extLst>
                </a:gridCol>
                <a:gridCol w="435587">
                  <a:extLst>
                    <a:ext uri="{9D8B030D-6E8A-4147-A177-3AD203B41FA5}">
                      <a16:colId xmlns:a16="http://schemas.microsoft.com/office/drawing/2014/main" val="2023251"/>
                    </a:ext>
                  </a:extLst>
                </a:gridCol>
                <a:gridCol w="637446">
                  <a:extLst>
                    <a:ext uri="{9D8B030D-6E8A-4147-A177-3AD203B41FA5}">
                      <a16:colId xmlns:a16="http://schemas.microsoft.com/office/drawing/2014/main" val="4055272118"/>
                    </a:ext>
                  </a:extLst>
                </a:gridCol>
                <a:gridCol w="637446">
                  <a:extLst>
                    <a:ext uri="{9D8B030D-6E8A-4147-A177-3AD203B41FA5}">
                      <a16:colId xmlns:a16="http://schemas.microsoft.com/office/drawing/2014/main" val="966690490"/>
                    </a:ext>
                  </a:extLst>
                </a:gridCol>
                <a:gridCol w="637446">
                  <a:extLst>
                    <a:ext uri="{9D8B030D-6E8A-4147-A177-3AD203B41FA5}">
                      <a16:colId xmlns:a16="http://schemas.microsoft.com/office/drawing/2014/main" val="3573464694"/>
                    </a:ext>
                  </a:extLst>
                </a:gridCol>
                <a:gridCol w="637446">
                  <a:extLst>
                    <a:ext uri="{9D8B030D-6E8A-4147-A177-3AD203B41FA5}">
                      <a16:colId xmlns:a16="http://schemas.microsoft.com/office/drawing/2014/main" val="4142332961"/>
                    </a:ext>
                  </a:extLst>
                </a:gridCol>
                <a:gridCol w="637446">
                  <a:extLst>
                    <a:ext uri="{9D8B030D-6E8A-4147-A177-3AD203B41FA5}">
                      <a16:colId xmlns:a16="http://schemas.microsoft.com/office/drawing/2014/main" val="13568533"/>
                    </a:ext>
                  </a:extLst>
                </a:gridCol>
                <a:gridCol w="470116">
                  <a:extLst>
                    <a:ext uri="{9D8B030D-6E8A-4147-A177-3AD203B41FA5}">
                      <a16:colId xmlns:a16="http://schemas.microsoft.com/office/drawing/2014/main" val="3787524335"/>
                    </a:ext>
                  </a:extLst>
                </a:gridCol>
                <a:gridCol w="637446">
                  <a:extLst>
                    <a:ext uri="{9D8B030D-6E8A-4147-A177-3AD203B41FA5}">
                      <a16:colId xmlns:a16="http://schemas.microsoft.com/office/drawing/2014/main" val="2103959445"/>
                    </a:ext>
                  </a:extLst>
                </a:gridCol>
                <a:gridCol w="637446">
                  <a:extLst>
                    <a:ext uri="{9D8B030D-6E8A-4147-A177-3AD203B41FA5}">
                      <a16:colId xmlns:a16="http://schemas.microsoft.com/office/drawing/2014/main" val="1984474656"/>
                    </a:ext>
                  </a:extLst>
                </a:gridCol>
                <a:gridCol w="637446">
                  <a:extLst>
                    <a:ext uri="{9D8B030D-6E8A-4147-A177-3AD203B41FA5}">
                      <a16:colId xmlns:a16="http://schemas.microsoft.com/office/drawing/2014/main" val="1223794124"/>
                    </a:ext>
                  </a:extLst>
                </a:gridCol>
                <a:gridCol w="1869843">
                  <a:extLst>
                    <a:ext uri="{9D8B030D-6E8A-4147-A177-3AD203B41FA5}">
                      <a16:colId xmlns:a16="http://schemas.microsoft.com/office/drawing/2014/main" val="4025149032"/>
                    </a:ext>
                  </a:extLst>
                </a:gridCol>
              </a:tblGrid>
              <a:tr h="1029376">
                <a:tc>
                  <a:txBody>
                    <a:bodyPr/>
                    <a:lstStyle/>
                    <a:p>
                      <a:pPr algn="ctr" fontAlgn="ctr"/>
                      <a:r>
                        <a:rPr lang="fr-FR" sz="1000" b="0" i="0" u="none" strike="noStrike">
                          <a:solidFill>
                            <a:srgbClr val="000000"/>
                          </a:solidFill>
                          <a:effectLst/>
                          <a:latin typeface="Calibri" panose="020F0502020204030204" pitchFamily="34" charset="0"/>
                        </a:rPr>
                        <a:t>Nom en français</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1000" b="0" i="0" u="none" strike="noStrike">
                          <a:solidFill>
                            <a:srgbClr val="000000"/>
                          </a:solidFill>
                          <a:effectLst/>
                          <a:latin typeface="Calibri" panose="020F0502020204030204" pitchFamily="34" charset="0"/>
                        </a:rPr>
                        <a:t>Nom SHP dans le std boi s+ DFCI </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Type de valeur std bois + DFCI</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Description std bois  + DFCI</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Origine de la donnée std bois + DFCI</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Exemples de valeurs possibles std bois + DFCI</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Element Obligatoire/Optionnel std bois + DFCI</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Nom dans la BDTOPO</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Type de valeur BDTOPO</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Source de la donnée dans la BDTOPO</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Description présente dans la spec de la BDTOPO</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Exemples de valeurs possibles BDTOPO</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Remarque 04/06/2025</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696515996"/>
                  </a:ext>
                </a:extLst>
              </a:tr>
              <a:tr h="1204928">
                <a:tc>
                  <a:txBody>
                    <a:bodyPr/>
                    <a:lstStyle/>
                    <a:p>
                      <a:pPr algn="ctr" fontAlgn="ctr"/>
                      <a:r>
                        <a:rPr lang="fr-FR" sz="1000" b="0" i="0" u="none" strike="noStrike">
                          <a:solidFill>
                            <a:srgbClr val="000000"/>
                          </a:solidFill>
                          <a:effectLst/>
                          <a:latin typeface="Calibri" panose="020F0502020204030204" pitchFamily="34" charset="0"/>
                        </a:rPr>
                        <a:t>Accessibilité aux grumiers et semi-remorques</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ITDF_ACCES_GRUMIER_SR</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Tronçon ITDF accessible aux grumiers et semi-remorques</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Oui / Non (par defaut : Null)</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Obligatoire</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 à rapprocher de la caractérisation des véhicules DFCI pour tout inclure dans le même attribut?</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69115859"/>
                  </a:ext>
                </a:extLst>
              </a:tr>
              <a:tr h="1556035">
                <a:tc>
                  <a:txBody>
                    <a:bodyPr/>
                    <a:lstStyle/>
                    <a:p>
                      <a:pPr algn="ctr" fontAlgn="ctr"/>
                      <a:r>
                        <a:rPr lang="fr-FR" sz="1000" b="0" i="0" u="none" strike="noStrike">
                          <a:solidFill>
                            <a:srgbClr val="000000"/>
                          </a:solidFill>
                          <a:effectLst/>
                          <a:latin typeface="Calibri" panose="020F0502020204030204" pitchFamily="34" charset="0"/>
                        </a:rPr>
                        <a:t>Etat de la route</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ITDF_ETAT</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Etat général du tronçon ITDF (sans impact sur l'accessibilité, utile pour l'entretien)</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Bon / Mauvais</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Optionnel</a:t>
                      </a: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7980" marR="7980" marT="7980" marB="38302"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attribut métier bois, pas de question BDTOPO.</a:t>
                      </a:r>
                    </a:p>
                  </a:txBody>
                  <a:tcPr marL="7980" marR="7980" marT="7980" marB="38302"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86557134"/>
                  </a:ext>
                </a:extLst>
              </a:tr>
            </a:tbl>
          </a:graphicData>
        </a:graphic>
      </p:graphicFrame>
    </p:spTree>
    <p:extLst>
      <p:ext uri="{BB962C8B-B14F-4D97-AF65-F5344CB8AC3E}">
        <p14:creationId xmlns:p14="http://schemas.microsoft.com/office/powerpoint/2010/main" val="1945370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9</a:t>
            </a:fld>
            <a:endParaRPr lang="fr-FR"/>
          </a:p>
        </p:txBody>
      </p:sp>
      <p:sp>
        <p:nvSpPr>
          <p:cNvPr id="8" name="Espace réservé du texte 7">
            <a:extLst>
              <a:ext uri="{FF2B5EF4-FFF2-40B4-BE49-F238E27FC236}">
                <a16:creationId xmlns:a16="http://schemas.microsoft.com/office/drawing/2014/main" id="{39A34D4C-BF23-47C3-8364-19CD7D44A393}"/>
              </a:ext>
            </a:extLst>
          </p:cNvPr>
          <p:cNvSpPr>
            <a:spLocks noGrp="1"/>
          </p:cNvSpPr>
          <p:nvPr>
            <p:ph type="body" sz="quarter" idx="13"/>
          </p:nvPr>
        </p:nvSpPr>
        <p:spPr>
          <a:xfrm>
            <a:off x="2944607" y="180000"/>
            <a:ext cx="5929201" cy="360000"/>
          </a:xfrm>
        </p:spPr>
        <p:txBody>
          <a:bodyPr/>
          <a:lstStyle/>
          <a:p>
            <a:pPr marL="0" indent="0">
              <a:buNone/>
            </a:pPr>
            <a:r>
              <a:rPr lang="fr-FR" sz="2600" b="0" dirty="0"/>
              <a:t>3. Piste DFCI</a:t>
            </a:r>
          </a:p>
          <a:p>
            <a:pPr marL="107950" indent="-107950"/>
            <a:endParaRPr lang="fr-FR" dirty="0"/>
          </a:p>
        </p:txBody>
      </p:sp>
      <p:sp>
        <p:nvSpPr>
          <p:cNvPr id="7" name="Espace réservé du contenu 8">
            <a:extLst>
              <a:ext uri="{FF2B5EF4-FFF2-40B4-BE49-F238E27FC236}">
                <a16:creationId xmlns:a16="http://schemas.microsoft.com/office/drawing/2014/main" id="{3D3362DA-007F-4FE0-9792-0479DED8CA20}"/>
              </a:ext>
            </a:extLst>
          </p:cNvPr>
          <p:cNvSpPr>
            <a:spLocks noGrp="1"/>
          </p:cNvSpPr>
          <p:nvPr>
            <p:ph sz="quarter" idx="14"/>
          </p:nvPr>
        </p:nvSpPr>
        <p:spPr>
          <a:xfrm>
            <a:off x="360000" y="697292"/>
            <a:ext cx="8424000" cy="3748915"/>
          </a:xfrm>
        </p:spPr>
        <p:txBody>
          <a:bodyPr/>
          <a:lstStyle/>
          <a:p>
            <a:r>
              <a:rPr lang="fr-FR" sz="1400" dirty="0">
                <a:effectLst/>
                <a:latin typeface="Calibri" panose="020F0502020204030204" pitchFamily="34" charset="0"/>
                <a:ea typeface="Calibri" panose="020F0502020204030204" pitchFamily="34" charset="0"/>
              </a:rPr>
              <a:t>Accessibilité </a:t>
            </a:r>
            <a:r>
              <a:rPr lang="fr-FR" sz="1400" dirty="0">
                <a:latin typeface="Calibri" panose="020F0502020204030204" pitchFamily="34" charset="0"/>
                <a:ea typeface="Calibri" panose="020F0502020204030204" pitchFamily="34" charset="0"/>
              </a:rPr>
              <a:t>aux ensembles routiers</a:t>
            </a:r>
            <a:r>
              <a:rPr lang="fr-FR" sz="1400" dirty="0">
                <a:effectLst/>
                <a:latin typeface="Calibri" panose="020F0502020204030204" pitchFamily="34" charset="0"/>
                <a:ea typeface="Calibri" panose="020F0502020204030204" pitchFamily="34" charset="0"/>
              </a:rPr>
              <a:t> (liste) : </a:t>
            </a:r>
            <a:r>
              <a:rPr lang="fr-FR" sz="1400" i="1" dirty="0">
                <a:effectLst/>
                <a:latin typeface="Calibri" panose="020F0502020204030204" pitchFamily="34" charset="0"/>
                <a:ea typeface="Calibri" panose="020F0502020204030204" pitchFamily="34" charset="0"/>
              </a:rPr>
              <a:t> </a:t>
            </a:r>
            <a:r>
              <a:rPr lang="fr-FR" sz="1400" dirty="0" err="1">
                <a:effectLst/>
                <a:latin typeface="Calibri" panose="020F0502020204030204" pitchFamily="34" charset="0"/>
                <a:ea typeface="Calibri" panose="020F0502020204030204" pitchFamily="34" charset="0"/>
              </a:rPr>
              <a:t>Troncon</a:t>
            </a:r>
            <a:r>
              <a:rPr lang="fr-FR" sz="1400" dirty="0">
                <a:effectLst/>
                <a:latin typeface="Calibri" panose="020F0502020204030204" pitchFamily="34" charset="0"/>
                <a:ea typeface="Calibri" panose="020F0502020204030204" pitchFamily="34" charset="0"/>
              </a:rPr>
              <a:t> desserte </a:t>
            </a:r>
            <a:r>
              <a:rPr lang="fr-FR" sz="1400" dirty="0" err="1">
                <a:effectLst/>
                <a:latin typeface="Calibri" panose="020F0502020204030204" pitchFamily="34" charset="0"/>
                <a:ea typeface="Calibri" panose="020F0502020204030204" pitchFamily="34" charset="0"/>
              </a:rPr>
              <a:t>forestiere</a:t>
            </a:r>
            <a:r>
              <a:rPr lang="fr-FR" sz="1400" dirty="0">
                <a:effectLst/>
                <a:latin typeface="Calibri" panose="020F0502020204030204" pitchFamily="34" charset="0"/>
                <a:ea typeface="Calibri" panose="020F0502020204030204" pitchFamily="34" charset="0"/>
              </a:rPr>
              <a:t> accessible maximum </a:t>
            </a:r>
          </a:p>
          <a:p>
            <a:pPr marL="285750" indent="-285750">
              <a:buFontTx/>
              <a:buChar char="-"/>
            </a:pPr>
            <a:r>
              <a:rPr lang="fr-FR" sz="1400" dirty="0" err="1">
                <a:latin typeface="Calibri" panose="020F0502020204030204" pitchFamily="34" charset="0"/>
                <a:ea typeface="Times New Roman" panose="02020603050405020304" pitchFamily="18" charset="0"/>
              </a:rPr>
              <a:t>Null</a:t>
            </a:r>
            <a:r>
              <a:rPr lang="fr-FR" sz="1400" dirty="0">
                <a:latin typeface="Calibri" panose="020F0502020204030204" pitchFamily="34" charset="0"/>
                <a:ea typeface="Times New Roman" panose="02020603050405020304" pitchFamily="18" charset="0"/>
              </a:rPr>
              <a:t> (</a:t>
            </a:r>
            <a:r>
              <a:rPr lang="fr-FR" sz="1400" dirty="0" err="1">
                <a:latin typeface="Calibri" panose="020F0502020204030204" pitchFamily="34" charset="0"/>
                <a:ea typeface="Times New Roman" panose="02020603050405020304" pitchFamily="18" charset="0"/>
              </a:rPr>
              <a:t>ie</a:t>
            </a:r>
            <a:r>
              <a:rPr lang="fr-FR" sz="1400" dirty="0">
                <a:latin typeface="Calibri" panose="020F0502020204030204" pitchFamily="34" charset="0"/>
                <a:ea typeface="Times New Roman" panose="02020603050405020304" pitchFamily="18" charset="0"/>
              </a:rPr>
              <a:t> NR)(valeur par </a:t>
            </a:r>
            <a:r>
              <a:rPr lang="fr-FR" sz="1400" dirty="0" err="1">
                <a:latin typeface="Calibri" panose="020F0502020204030204" pitchFamily="34" charset="0"/>
                <a:ea typeface="Times New Roman" panose="02020603050405020304" pitchFamily="18" charset="0"/>
              </a:rPr>
              <a:t>defaut</a:t>
            </a:r>
            <a:r>
              <a:rPr lang="fr-FR" sz="1400" dirty="0">
                <a:latin typeface="Calibri" panose="020F0502020204030204" pitchFamily="34" charset="0"/>
                <a:ea typeface="Times New Roman" panose="02020603050405020304" pitchFamily="18" charset="0"/>
              </a:rPr>
              <a:t>)</a:t>
            </a:r>
          </a:p>
          <a:p>
            <a:pPr marL="285750" indent="-285750">
              <a:buFontTx/>
              <a:buChar char="-"/>
            </a:pPr>
            <a:r>
              <a:rPr lang="fr-FR" sz="1400" dirty="0" err="1">
                <a:effectLst/>
                <a:latin typeface="Calibri" panose="020F0502020204030204" pitchFamily="34" charset="0"/>
                <a:ea typeface="Times New Roman" panose="02020603050405020304" pitchFamily="18" charset="0"/>
              </a:rPr>
              <a:t>Vehicule</a:t>
            </a:r>
            <a:r>
              <a:rPr lang="fr-FR" sz="1400" dirty="0">
                <a:effectLst/>
                <a:latin typeface="Calibri" panose="020F0502020204030204" pitchFamily="34" charset="0"/>
                <a:ea typeface="Times New Roman" panose="02020603050405020304" pitchFamily="18" charset="0"/>
              </a:rPr>
              <a:t> surbaissé</a:t>
            </a:r>
          </a:p>
          <a:p>
            <a:pPr marL="285750" indent="-285750">
              <a:buFontTx/>
              <a:buChar char="-"/>
            </a:pPr>
            <a:r>
              <a:rPr lang="fr-FR" sz="1400" dirty="0">
                <a:latin typeface="Calibri" panose="020F0502020204030204" pitchFamily="34" charset="0"/>
                <a:ea typeface="Times New Roman" panose="02020603050405020304" pitchFamily="18" charset="0"/>
              </a:rPr>
              <a:t>Semi remorque </a:t>
            </a:r>
          </a:p>
          <a:p>
            <a:pPr marL="285750" indent="-285750">
              <a:buFontTx/>
              <a:buChar char="-"/>
            </a:pPr>
            <a:r>
              <a:rPr lang="fr-FR" sz="1400" dirty="0">
                <a:latin typeface="Calibri" panose="020F0502020204030204" pitchFamily="34" charset="0"/>
                <a:ea typeface="Times New Roman" panose="02020603050405020304" pitchFamily="18" charset="0"/>
              </a:rPr>
              <a:t>Camion remorque</a:t>
            </a:r>
          </a:p>
          <a:p>
            <a:pPr marL="285750" indent="-285750">
              <a:buFontTx/>
              <a:buChar char="-"/>
            </a:pPr>
            <a:r>
              <a:rPr lang="fr-FR" sz="1400" dirty="0">
                <a:latin typeface="Calibri" panose="020F0502020204030204" pitchFamily="34" charset="0"/>
                <a:ea typeface="Times New Roman" panose="02020603050405020304" pitchFamily="18" charset="0"/>
              </a:rPr>
              <a:t>Grumier</a:t>
            </a:r>
          </a:p>
          <a:p>
            <a:pPr marL="285750" indent="-285750">
              <a:buFontTx/>
              <a:buChar char="-"/>
            </a:pPr>
            <a:r>
              <a:rPr lang="fr-FR" sz="1400" dirty="0">
                <a:latin typeface="Calibri" panose="020F0502020204030204" pitchFamily="34" charset="0"/>
                <a:ea typeface="Times New Roman" panose="02020603050405020304" pitchFamily="18" charset="0"/>
              </a:rPr>
              <a:t>&gt;&gt; à faire évoluer et </a:t>
            </a:r>
            <a:r>
              <a:rPr lang="fr-FR" sz="1400" dirty="0" err="1">
                <a:latin typeface="Calibri" panose="020F0502020204030204" pitchFamily="34" charset="0"/>
                <a:ea typeface="Times New Roman" panose="02020603050405020304" pitchFamily="18" charset="0"/>
              </a:rPr>
              <a:t>definir</a:t>
            </a:r>
            <a:r>
              <a:rPr lang="fr-FR" sz="1400" dirty="0">
                <a:latin typeface="Calibri" panose="020F0502020204030204" pitchFamily="34" charset="0"/>
                <a:ea typeface="Times New Roman" panose="02020603050405020304" pitchFamily="18" charset="0"/>
              </a:rPr>
              <a:t> avec transporteurs de bois</a:t>
            </a:r>
          </a:p>
          <a:p>
            <a:pPr marL="285750" indent="-285750">
              <a:buFontTx/>
              <a:buChar char="-"/>
            </a:pPr>
            <a:endParaRPr lang="fr-FR" sz="1400" dirty="0">
              <a:latin typeface="Calibri" panose="020F0502020204030204" pitchFamily="34" charset="0"/>
              <a:ea typeface="Times New Roman" panose="02020603050405020304" pitchFamily="18" charset="0"/>
            </a:endParaRPr>
          </a:p>
          <a:p>
            <a:pPr marL="285750" indent="-285750">
              <a:buFontTx/>
              <a:buChar char="-"/>
            </a:pPr>
            <a:endParaRPr lang="fr-FR"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222205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10</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4. Etat de la route - 2</a:t>
            </a:r>
          </a:p>
          <a:p>
            <a:pPr marL="107950" indent="-107950"/>
            <a:endParaRPr lang="fr-FR" dirty="0"/>
          </a:p>
        </p:txBody>
      </p:sp>
      <p:graphicFrame>
        <p:nvGraphicFramePr>
          <p:cNvPr id="2" name="Tableau 1">
            <a:extLst>
              <a:ext uri="{FF2B5EF4-FFF2-40B4-BE49-F238E27FC236}">
                <a16:creationId xmlns:a16="http://schemas.microsoft.com/office/drawing/2014/main" id="{7C63CF2B-F6A0-40DB-83B6-4761B8D0A485}"/>
              </a:ext>
            </a:extLst>
          </p:cNvPr>
          <p:cNvGraphicFramePr>
            <a:graphicFrameLocks noGrp="1"/>
          </p:cNvGraphicFramePr>
          <p:nvPr>
            <p:extLst>
              <p:ext uri="{D42A27DB-BD31-4B8C-83A1-F6EECF244321}">
                <p14:modId xmlns:p14="http://schemas.microsoft.com/office/powerpoint/2010/main" val="311253465"/>
              </p:ext>
            </p:extLst>
          </p:nvPr>
        </p:nvGraphicFramePr>
        <p:xfrm>
          <a:off x="0" y="666372"/>
          <a:ext cx="9144005" cy="4477128"/>
        </p:xfrm>
        <a:graphic>
          <a:graphicData uri="http://schemas.openxmlformats.org/drawingml/2006/table">
            <a:tbl>
              <a:tblPr/>
              <a:tblGrid>
                <a:gridCol w="637028">
                  <a:extLst>
                    <a:ext uri="{9D8B030D-6E8A-4147-A177-3AD203B41FA5}">
                      <a16:colId xmlns:a16="http://schemas.microsoft.com/office/drawing/2014/main" val="2313690742"/>
                    </a:ext>
                  </a:extLst>
                </a:gridCol>
                <a:gridCol w="637028">
                  <a:extLst>
                    <a:ext uri="{9D8B030D-6E8A-4147-A177-3AD203B41FA5}">
                      <a16:colId xmlns:a16="http://schemas.microsoft.com/office/drawing/2014/main" val="3919718925"/>
                    </a:ext>
                  </a:extLst>
                </a:gridCol>
                <a:gridCol w="435302">
                  <a:extLst>
                    <a:ext uri="{9D8B030D-6E8A-4147-A177-3AD203B41FA5}">
                      <a16:colId xmlns:a16="http://schemas.microsoft.com/office/drawing/2014/main" val="3513159741"/>
                    </a:ext>
                  </a:extLst>
                </a:gridCol>
                <a:gridCol w="637028">
                  <a:extLst>
                    <a:ext uri="{9D8B030D-6E8A-4147-A177-3AD203B41FA5}">
                      <a16:colId xmlns:a16="http://schemas.microsoft.com/office/drawing/2014/main" val="452234631"/>
                    </a:ext>
                  </a:extLst>
                </a:gridCol>
                <a:gridCol w="637028">
                  <a:extLst>
                    <a:ext uri="{9D8B030D-6E8A-4147-A177-3AD203B41FA5}">
                      <a16:colId xmlns:a16="http://schemas.microsoft.com/office/drawing/2014/main" val="863018352"/>
                    </a:ext>
                  </a:extLst>
                </a:gridCol>
                <a:gridCol w="637028">
                  <a:extLst>
                    <a:ext uri="{9D8B030D-6E8A-4147-A177-3AD203B41FA5}">
                      <a16:colId xmlns:a16="http://schemas.microsoft.com/office/drawing/2014/main" val="606682596"/>
                    </a:ext>
                  </a:extLst>
                </a:gridCol>
                <a:gridCol w="637028">
                  <a:extLst>
                    <a:ext uri="{9D8B030D-6E8A-4147-A177-3AD203B41FA5}">
                      <a16:colId xmlns:a16="http://schemas.microsoft.com/office/drawing/2014/main" val="2364065112"/>
                    </a:ext>
                  </a:extLst>
                </a:gridCol>
                <a:gridCol w="637028">
                  <a:extLst>
                    <a:ext uri="{9D8B030D-6E8A-4147-A177-3AD203B41FA5}">
                      <a16:colId xmlns:a16="http://schemas.microsoft.com/office/drawing/2014/main" val="1358468959"/>
                    </a:ext>
                  </a:extLst>
                </a:gridCol>
                <a:gridCol w="469809">
                  <a:extLst>
                    <a:ext uri="{9D8B030D-6E8A-4147-A177-3AD203B41FA5}">
                      <a16:colId xmlns:a16="http://schemas.microsoft.com/office/drawing/2014/main" val="2045572424"/>
                    </a:ext>
                  </a:extLst>
                </a:gridCol>
                <a:gridCol w="637028">
                  <a:extLst>
                    <a:ext uri="{9D8B030D-6E8A-4147-A177-3AD203B41FA5}">
                      <a16:colId xmlns:a16="http://schemas.microsoft.com/office/drawing/2014/main" val="1762712179"/>
                    </a:ext>
                  </a:extLst>
                </a:gridCol>
                <a:gridCol w="637028">
                  <a:extLst>
                    <a:ext uri="{9D8B030D-6E8A-4147-A177-3AD203B41FA5}">
                      <a16:colId xmlns:a16="http://schemas.microsoft.com/office/drawing/2014/main" val="4127896896"/>
                    </a:ext>
                  </a:extLst>
                </a:gridCol>
                <a:gridCol w="637028">
                  <a:extLst>
                    <a:ext uri="{9D8B030D-6E8A-4147-A177-3AD203B41FA5}">
                      <a16:colId xmlns:a16="http://schemas.microsoft.com/office/drawing/2014/main" val="1775550131"/>
                    </a:ext>
                  </a:extLst>
                </a:gridCol>
                <a:gridCol w="1868614">
                  <a:extLst>
                    <a:ext uri="{9D8B030D-6E8A-4147-A177-3AD203B41FA5}">
                      <a16:colId xmlns:a16="http://schemas.microsoft.com/office/drawing/2014/main" val="3738925764"/>
                    </a:ext>
                  </a:extLst>
                </a:gridCol>
              </a:tblGrid>
              <a:tr h="723617">
                <a:tc>
                  <a:txBody>
                    <a:bodyPr/>
                    <a:lstStyle/>
                    <a:p>
                      <a:pPr algn="ctr" fontAlgn="ctr"/>
                      <a:r>
                        <a:rPr lang="fr-FR" sz="700" b="0" i="0" u="none" strike="noStrike">
                          <a:solidFill>
                            <a:srgbClr val="000000"/>
                          </a:solidFill>
                          <a:effectLst/>
                          <a:latin typeface="Calibri" panose="020F0502020204030204" pitchFamily="34" charset="0"/>
                        </a:rPr>
                        <a:t>Nom en français</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700" b="0" i="0" u="none" strike="noStrike">
                          <a:solidFill>
                            <a:srgbClr val="000000"/>
                          </a:solidFill>
                          <a:effectLst/>
                          <a:latin typeface="Calibri" panose="020F0502020204030204" pitchFamily="34" charset="0"/>
                        </a:rPr>
                        <a:t>Nom SHP dans le std boi s+ DFCI </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700" b="0" i="0" u="none" strike="noStrike">
                          <a:solidFill>
                            <a:srgbClr val="000000"/>
                          </a:solidFill>
                          <a:effectLst/>
                          <a:latin typeface="Calibri" panose="020F0502020204030204" pitchFamily="34" charset="0"/>
                        </a:rPr>
                        <a:t>Type de valeur std bois + DFCI</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700" b="0" i="0" u="none" strike="noStrike" dirty="0">
                          <a:solidFill>
                            <a:srgbClr val="000000"/>
                          </a:solidFill>
                          <a:effectLst/>
                          <a:latin typeface="Calibri" panose="020F0502020204030204" pitchFamily="34" charset="0"/>
                        </a:rPr>
                        <a:t>Description std bois  + DFCI</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700" b="0" i="0" u="none" strike="noStrike">
                          <a:solidFill>
                            <a:srgbClr val="000000"/>
                          </a:solidFill>
                          <a:effectLst/>
                          <a:latin typeface="Calibri" panose="020F0502020204030204" pitchFamily="34" charset="0"/>
                        </a:rPr>
                        <a:t>Origine de la donnée std bois + DFCI</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700" b="0" i="0" u="none" strike="noStrike">
                          <a:solidFill>
                            <a:srgbClr val="000000"/>
                          </a:solidFill>
                          <a:effectLst/>
                          <a:latin typeface="Calibri" panose="020F0502020204030204" pitchFamily="34" charset="0"/>
                        </a:rPr>
                        <a:t>Exemples de valeurs possibles std bois + DFCI</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700" b="0" i="0" u="none" strike="noStrike">
                          <a:solidFill>
                            <a:srgbClr val="000000"/>
                          </a:solidFill>
                          <a:effectLst/>
                          <a:latin typeface="Calibri" panose="020F0502020204030204" pitchFamily="34" charset="0"/>
                        </a:rPr>
                        <a:t>Element Obligatoire/Optionnel std bois + DFCI</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700" b="0" i="0" u="none" strike="noStrike">
                          <a:solidFill>
                            <a:srgbClr val="000000"/>
                          </a:solidFill>
                          <a:effectLst/>
                          <a:latin typeface="Calibri" panose="020F0502020204030204" pitchFamily="34" charset="0"/>
                        </a:rPr>
                        <a:t>Nom dans la BDTOPO</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700" b="0" i="0" u="none" strike="noStrike">
                          <a:solidFill>
                            <a:srgbClr val="000000"/>
                          </a:solidFill>
                          <a:effectLst/>
                          <a:latin typeface="Calibri" panose="020F0502020204030204" pitchFamily="34" charset="0"/>
                        </a:rPr>
                        <a:t>Type de valeur BDTOPO</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700" b="0" i="0" u="none" strike="noStrike">
                          <a:solidFill>
                            <a:srgbClr val="000000"/>
                          </a:solidFill>
                          <a:effectLst/>
                          <a:latin typeface="Calibri" panose="020F0502020204030204" pitchFamily="34" charset="0"/>
                        </a:rPr>
                        <a:t>Source de la donnée dans la BDTOPO</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700" b="0" i="0" u="none" strike="noStrike">
                          <a:solidFill>
                            <a:srgbClr val="000000"/>
                          </a:solidFill>
                          <a:effectLst/>
                          <a:latin typeface="Calibri" panose="020F0502020204030204" pitchFamily="34" charset="0"/>
                        </a:rPr>
                        <a:t>Description présente dans la spec de la BDTOPO</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700" b="0" i="0" u="none" strike="noStrike">
                          <a:solidFill>
                            <a:srgbClr val="000000"/>
                          </a:solidFill>
                          <a:effectLst/>
                          <a:latin typeface="Calibri" panose="020F0502020204030204" pitchFamily="34" charset="0"/>
                        </a:rPr>
                        <a:t>Exemples de valeurs possibles BDTOPO</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700" b="0" i="0" u="none" strike="noStrike" dirty="0">
                          <a:solidFill>
                            <a:srgbClr val="000000"/>
                          </a:solidFill>
                          <a:effectLst/>
                          <a:latin typeface="Calibri" panose="020F0502020204030204" pitchFamily="34" charset="0"/>
                        </a:rPr>
                        <a:t>Remarque 04/06/2025</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3640212093"/>
                  </a:ext>
                </a:extLst>
              </a:tr>
              <a:tr h="1430772">
                <a:tc>
                  <a:txBody>
                    <a:bodyPr/>
                    <a:lstStyle/>
                    <a:p>
                      <a:pPr algn="ctr" fontAlgn="ctr"/>
                      <a:r>
                        <a:rPr lang="fr-FR" sz="1000" b="0" i="0" u="none" strike="noStrike" dirty="0">
                          <a:solidFill>
                            <a:srgbClr val="000000"/>
                          </a:solidFill>
                          <a:effectLst/>
                          <a:latin typeface="Calibri" panose="020F0502020204030204" pitchFamily="34" charset="0"/>
                        </a:rPr>
                        <a:t>Accessibilité aux ensembles routiers </a:t>
                      </a:r>
                      <a:r>
                        <a:rPr lang="fr-FR" sz="1000" b="0" i="0" u="none" strike="noStrike" dirty="0" err="1">
                          <a:solidFill>
                            <a:srgbClr val="000000"/>
                          </a:solidFill>
                          <a:effectLst/>
                          <a:latin typeface="Calibri" panose="020F0502020204030204" pitchFamily="34" charset="0"/>
                        </a:rPr>
                        <a:t>sur-baissés</a:t>
                      </a:r>
                      <a:endParaRPr lang="fr-FR" sz="1000" b="0" i="0" u="none" strike="noStrike" dirty="0">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ITDF_ACCES_SURBAISSE</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Booléen</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Tronçon ITDF accessible aux ensembles routiers sur-baissés (ex : porte-char)</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Oui / Non (par defaut : Null)</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Optionnel</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attribut métier bois, pas de question BDTOPO.</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80620489"/>
                  </a:ext>
                </a:extLst>
              </a:tr>
              <a:tr h="810303">
                <a:tc>
                  <a:txBody>
                    <a:bodyPr/>
                    <a:lstStyle/>
                    <a:p>
                      <a:pPr algn="ctr" fontAlgn="ctr"/>
                      <a:r>
                        <a:rPr lang="fr-FR" sz="1000" b="0" i="0" u="none" strike="noStrike">
                          <a:solidFill>
                            <a:srgbClr val="000000"/>
                          </a:solidFill>
                          <a:effectLst/>
                          <a:latin typeface="Calibri" panose="020F0502020204030204" pitchFamily="34" charset="0"/>
                        </a:rPr>
                        <a:t>Accessibilité aux fonds mouvants</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ITDF_ACCES_FMA</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Tronçon ITDF accessible aux fonds mouvants</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Oui / Non (par defaut : Null)</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Optionnel</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Saisie contributeur</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attribut métier bois, pas de question BDTOPO.</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47713836"/>
                  </a:ext>
                </a:extLst>
              </a:tr>
              <a:tr h="1512436">
                <a:tc>
                  <a:txBody>
                    <a:bodyPr/>
                    <a:lstStyle/>
                    <a:p>
                      <a:pPr algn="ctr" fontAlgn="ctr"/>
                      <a:r>
                        <a:rPr lang="fr-FR" sz="1000" b="0" i="0" u="none" strike="noStrike">
                          <a:solidFill>
                            <a:srgbClr val="000000"/>
                          </a:solidFill>
                          <a:effectLst/>
                          <a:latin typeface="Calibri" panose="020F0502020204030204" pitchFamily="34" charset="0"/>
                        </a:rPr>
                        <a:t>Piste DFCI débroussaillée</a:t>
                      </a: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Piste DFCI débroussaillée</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SQL/GPKG : piste_dfci_debroussaillee</a:t>
                      </a:r>
                      <a:br>
                        <a:rPr lang="fr-FR" sz="1000" b="0" i="0" u="none" strike="noStrike">
                          <a:solidFill>
                            <a:srgbClr val="000000"/>
                          </a:solidFill>
                          <a:effectLst/>
                          <a:latin typeface="Calibri" panose="020F0502020204030204" pitchFamily="34" charset="0"/>
                        </a:rPr>
                      </a:br>
                      <a:r>
                        <a:rPr lang="fr-FR" sz="1000" b="0" i="0" u="none" strike="noStrike">
                          <a:solidFill>
                            <a:srgbClr val="000000"/>
                          </a:solidFill>
                          <a:effectLst/>
                          <a:latin typeface="Calibri" panose="020F0502020204030204" pitchFamily="34" charset="0"/>
                        </a:rPr>
                        <a:t>SHP : DFCI_DEBRO</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Information renseignant si la piste DFCI est débroussaillée, selon les spécifications DFCI.</a:t>
                      </a:r>
                    </a:p>
                  </a:txBody>
                  <a:tcPr marL="5880" marR="5880" marT="5880" marB="2822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5880" marR="5880" marT="5880" marB="28228"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attribut métier DFCI, pas de question BDTOPO.</a:t>
                      </a:r>
                    </a:p>
                  </a:txBody>
                  <a:tcPr marL="5880" marR="5880" marT="5880" marB="28228"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44139041"/>
                  </a:ext>
                </a:extLst>
              </a:tr>
            </a:tbl>
          </a:graphicData>
        </a:graphic>
      </p:graphicFrame>
    </p:spTree>
    <p:extLst>
      <p:ext uri="{BB962C8B-B14F-4D97-AF65-F5344CB8AC3E}">
        <p14:creationId xmlns:p14="http://schemas.microsoft.com/office/powerpoint/2010/main" val="1746346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11</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5. Restriction</a:t>
            </a:r>
          </a:p>
          <a:p>
            <a:pPr marL="107950" indent="-107950"/>
            <a:endParaRPr lang="fr-FR" dirty="0"/>
          </a:p>
        </p:txBody>
      </p:sp>
      <p:graphicFrame>
        <p:nvGraphicFramePr>
          <p:cNvPr id="3" name="Tableau 2">
            <a:extLst>
              <a:ext uri="{FF2B5EF4-FFF2-40B4-BE49-F238E27FC236}">
                <a16:creationId xmlns:a16="http://schemas.microsoft.com/office/drawing/2014/main" id="{4461730F-37C0-4E1E-920B-722B7A3C25B2}"/>
              </a:ext>
            </a:extLst>
          </p:cNvPr>
          <p:cNvGraphicFramePr>
            <a:graphicFrameLocks noGrp="1"/>
          </p:cNvGraphicFramePr>
          <p:nvPr>
            <p:extLst>
              <p:ext uri="{D42A27DB-BD31-4B8C-83A1-F6EECF244321}">
                <p14:modId xmlns:p14="http://schemas.microsoft.com/office/powerpoint/2010/main" val="1638384047"/>
              </p:ext>
            </p:extLst>
          </p:nvPr>
        </p:nvGraphicFramePr>
        <p:xfrm>
          <a:off x="158785" y="887169"/>
          <a:ext cx="8985220" cy="3359516"/>
        </p:xfrm>
        <a:graphic>
          <a:graphicData uri="http://schemas.openxmlformats.org/drawingml/2006/table">
            <a:tbl>
              <a:tblPr/>
              <a:tblGrid>
                <a:gridCol w="625966">
                  <a:extLst>
                    <a:ext uri="{9D8B030D-6E8A-4147-A177-3AD203B41FA5}">
                      <a16:colId xmlns:a16="http://schemas.microsoft.com/office/drawing/2014/main" val="1192699828"/>
                    </a:ext>
                  </a:extLst>
                </a:gridCol>
                <a:gridCol w="625966">
                  <a:extLst>
                    <a:ext uri="{9D8B030D-6E8A-4147-A177-3AD203B41FA5}">
                      <a16:colId xmlns:a16="http://schemas.microsoft.com/office/drawing/2014/main" val="2454894320"/>
                    </a:ext>
                  </a:extLst>
                </a:gridCol>
                <a:gridCol w="427743">
                  <a:extLst>
                    <a:ext uri="{9D8B030D-6E8A-4147-A177-3AD203B41FA5}">
                      <a16:colId xmlns:a16="http://schemas.microsoft.com/office/drawing/2014/main" val="3651011544"/>
                    </a:ext>
                  </a:extLst>
                </a:gridCol>
                <a:gridCol w="625966">
                  <a:extLst>
                    <a:ext uri="{9D8B030D-6E8A-4147-A177-3AD203B41FA5}">
                      <a16:colId xmlns:a16="http://schemas.microsoft.com/office/drawing/2014/main" val="3135543155"/>
                    </a:ext>
                  </a:extLst>
                </a:gridCol>
                <a:gridCol w="625966">
                  <a:extLst>
                    <a:ext uri="{9D8B030D-6E8A-4147-A177-3AD203B41FA5}">
                      <a16:colId xmlns:a16="http://schemas.microsoft.com/office/drawing/2014/main" val="621236023"/>
                    </a:ext>
                  </a:extLst>
                </a:gridCol>
                <a:gridCol w="625966">
                  <a:extLst>
                    <a:ext uri="{9D8B030D-6E8A-4147-A177-3AD203B41FA5}">
                      <a16:colId xmlns:a16="http://schemas.microsoft.com/office/drawing/2014/main" val="3643433806"/>
                    </a:ext>
                  </a:extLst>
                </a:gridCol>
                <a:gridCol w="625966">
                  <a:extLst>
                    <a:ext uri="{9D8B030D-6E8A-4147-A177-3AD203B41FA5}">
                      <a16:colId xmlns:a16="http://schemas.microsoft.com/office/drawing/2014/main" val="1440499536"/>
                    </a:ext>
                  </a:extLst>
                </a:gridCol>
                <a:gridCol w="625966">
                  <a:extLst>
                    <a:ext uri="{9D8B030D-6E8A-4147-A177-3AD203B41FA5}">
                      <a16:colId xmlns:a16="http://schemas.microsoft.com/office/drawing/2014/main" val="3263551816"/>
                    </a:ext>
                  </a:extLst>
                </a:gridCol>
                <a:gridCol w="461650">
                  <a:extLst>
                    <a:ext uri="{9D8B030D-6E8A-4147-A177-3AD203B41FA5}">
                      <a16:colId xmlns:a16="http://schemas.microsoft.com/office/drawing/2014/main" val="4260194181"/>
                    </a:ext>
                  </a:extLst>
                </a:gridCol>
                <a:gridCol w="625966">
                  <a:extLst>
                    <a:ext uri="{9D8B030D-6E8A-4147-A177-3AD203B41FA5}">
                      <a16:colId xmlns:a16="http://schemas.microsoft.com/office/drawing/2014/main" val="3993225355"/>
                    </a:ext>
                  </a:extLst>
                </a:gridCol>
                <a:gridCol w="625966">
                  <a:extLst>
                    <a:ext uri="{9D8B030D-6E8A-4147-A177-3AD203B41FA5}">
                      <a16:colId xmlns:a16="http://schemas.microsoft.com/office/drawing/2014/main" val="913774559"/>
                    </a:ext>
                  </a:extLst>
                </a:gridCol>
                <a:gridCol w="625966">
                  <a:extLst>
                    <a:ext uri="{9D8B030D-6E8A-4147-A177-3AD203B41FA5}">
                      <a16:colId xmlns:a16="http://schemas.microsoft.com/office/drawing/2014/main" val="647249265"/>
                    </a:ext>
                  </a:extLst>
                </a:gridCol>
                <a:gridCol w="1836167">
                  <a:extLst>
                    <a:ext uri="{9D8B030D-6E8A-4147-A177-3AD203B41FA5}">
                      <a16:colId xmlns:a16="http://schemas.microsoft.com/office/drawing/2014/main" val="3497320701"/>
                    </a:ext>
                  </a:extLst>
                </a:gridCol>
              </a:tblGrid>
              <a:tr h="1180865">
                <a:tc>
                  <a:txBody>
                    <a:bodyPr/>
                    <a:lstStyle/>
                    <a:p>
                      <a:pPr algn="ctr" fontAlgn="ctr"/>
                      <a:r>
                        <a:rPr lang="fr-FR" sz="900" b="0" i="0" u="none" strike="noStrike">
                          <a:solidFill>
                            <a:srgbClr val="000000"/>
                          </a:solidFill>
                          <a:effectLst/>
                          <a:latin typeface="Calibri" panose="020F0502020204030204" pitchFamily="34" charset="0"/>
                        </a:rPr>
                        <a:t>Nom en français</a:t>
                      </a:r>
                    </a:p>
                  </a:txBody>
                  <a:tcPr marL="7012" marR="7012" marT="7012" marB="3365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900" b="0" i="0" u="none" strike="noStrike">
                          <a:solidFill>
                            <a:srgbClr val="000000"/>
                          </a:solidFill>
                          <a:effectLst/>
                          <a:latin typeface="Calibri" panose="020F0502020204030204" pitchFamily="34" charset="0"/>
                        </a:rPr>
                        <a:t>Nom SHP dans le std boi s+ DFCI </a:t>
                      </a:r>
                    </a:p>
                  </a:txBody>
                  <a:tcPr marL="7012" marR="7012" marT="7012" marB="3365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Type de valeur std bois + DFCI</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Description std bois  + DFCI</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Origine de la donnée std bois + DFCI</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Exemples de valeurs possibles std bois + DFCI</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Element Obligatoire/Optionnel std bois + DFCI</a:t>
                      </a:r>
                    </a:p>
                  </a:txBody>
                  <a:tcPr marL="7012" marR="7012" marT="7012" marB="3365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Nom dans la BDTOPO</a:t>
                      </a:r>
                    </a:p>
                  </a:txBody>
                  <a:tcPr marL="7012" marR="7012" marT="7012" marB="3365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Type de valeur BDTOPO</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Source de la donnée dans la BDTOPO</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Description présente dans la spec de la BDTOPO</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Exemples de valeurs possibles BDTOPO</a:t>
                      </a:r>
                    </a:p>
                  </a:txBody>
                  <a:tcPr marL="7012" marR="7012" marT="7012" marB="3365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Remarque 04/06/2025</a:t>
                      </a:r>
                    </a:p>
                  </a:txBody>
                  <a:tcPr marL="7012" marR="7012" marT="7012" marB="3365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276213507"/>
                  </a:ext>
                </a:extLst>
              </a:tr>
              <a:tr h="2178651">
                <a:tc>
                  <a:txBody>
                    <a:bodyPr/>
                    <a:lstStyle/>
                    <a:p>
                      <a:pPr algn="ctr" fontAlgn="ctr"/>
                      <a:r>
                        <a:rPr lang="fr-FR" sz="1050" b="0" i="0" u="none" strike="noStrike">
                          <a:solidFill>
                            <a:srgbClr val="000000"/>
                          </a:solidFill>
                          <a:effectLst/>
                          <a:latin typeface="Calibri" panose="020F0502020204030204" pitchFamily="34" charset="0"/>
                        </a:rPr>
                        <a:t>Restriction saisonnière</a:t>
                      </a:r>
                    </a:p>
                  </a:txBody>
                  <a:tcPr marL="7012" marR="7012" marT="7012" marB="3365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RESTRICTION_SAISON</a:t>
                      </a:r>
                    </a:p>
                  </a:txBody>
                  <a:tcPr marL="7012" marR="7012" marT="7012" marB="3365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Booléen</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Tronçon pouvant être soumis à une restriction saisonnière (ex : col, dégel)</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DDT, Gestionnaire de voiries, </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Saisie contributeur</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Oui / Non (par defaut : Non)</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Optionnel</a:t>
                      </a:r>
                    </a:p>
                  </a:txBody>
                  <a:tcPr marL="7012" marR="7012" marT="7012" marB="3365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periode_de_fermeture</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FERMETURE</a:t>
                      </a:r>
                    </a:p>
                  </a:txBody>
                  <a:tcPr marL="7012" marR="7012" marT="7012" marB="3365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JSON</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DDT, Gestionnaire de voiries, Saisie contributeur</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Période(s) de fermeture d'une route à la circulation automobile, ainsi que les périodes de péages.</a:t>
                      </a:r>
                    </a:p>
                  </a:txBody>
                  <a:tcPr marL="7012" marR="7012" marT="7012" marB="3365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axxxx (année) | j1 (jour 1 = lundi) | M12 (Mois 12 = décembre)</a:t>
                      </a:r>
                    </a:p>
                  </a:txBody>
                  <a:tcPr marL="7012" marR="7012" marT="7012" marB="3365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uniquement pour la filière bois ? Sinon, à intégrer dans le </a:t>
                      </a:r>
                      <a:r>
                        <a:rPr lang="fr-FR" sz="1050" b="0" i="0" u="none" strike="noStrike" dirty="0" err="1">
                          <a:solidFill>
                            <a:srgbClr val="000000"/>
                          </a:solidFill>
                          <a:effectLst/>
                          <a:latin typeface="Calibri" panose="020F0502020204030204" pitchFamily="34" charset="0"/>
                        </a:rPr>
                        <a:t>json</a:t>
                      </a:r>
                      <a:r>
                        <a:rPr lang="fr-FR" sz="1050" b="0" i="0" u="none" strike="noStrike" dirty="0">
                          <a:solidFill>
                            <a:srgbClr val="000000"/>
                          </a:solidFill>
                          <a:effectLst/>
                          <a:latin typeface="Calibri" panose="020F0502020204030204" pitchFamily="34" charset="0"/>
                        </a:rPr>
                        <a:t> de la BDTOPO ?</a:t>
                      </a:r>
                    </a:p>
                  </a:txBody>
                  <a:tcPr marL="7012" marR="7012" marT="7012" marB="3365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01348391"/>
                  </a:ext>
                </a:extLst>
              </a:tr>
            </a:tbl>
          </a:graphicData>
        </a:graphic>
      </p:graphicFrame>
    </p:spTree>
    <p:extLst>
      <p:ext uri="{BB962C8B-B14F-4D97-AF65-F5344CB8AC3E}">
        <p14:creationId xmlns:p14="http://schemas.microsoft.com/office/powerpoint/2010/main" val="280582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12</a:t>
            </a:fld>
            <a:endParaRPr lang="fr-FR"/>
          </a:p>
        </p:txBody>
      </p:sp>
      <p:sp>
        <p:nvSpPr>
          <p:cNvPr id="7" name="Espace réservé du contenu 8">
            <a:extLst>
              <a:ext uri="{FF2B5EF4-FFF2-40B4-BE49-F238E27FC236}">
                <a16:creationId xmlns:a16="http://schemas.microsoft.com/office/drawing/2014/main" id="{3D3362DA-007F-4FE0-9792-0479DED8CA20}"/>
              </a:ext>
            </a:extLst>
          </p:cNvPr>
          <p:cNvSpPr>
            <a:spLocks noGrp="1"/>
          </p:cNvSpPr>
          <p:nvPr>
            <p:ph sz="quarter" idx="14"/>
          </p:nvPr>
        </p:nvSpPr>
        <p:spPr>
          <a:xfrm>
            <a:off x="272077" y="986370"/>
            <a:ext cx="8424000" cy="3453745"/>
          </a:xfrm>
        </p:spPr>
        <p:txBody>
          <a:bodyPr/>
          <a:lstStyle/>
          <a:p>
            <a:pPr lvl="0" fontAlgn="ctr">
              <a:buSzPts val="1000"/>
              <a:tabLst>
                <a:tab pos="457200" algn="l"/>
              </a:tabLst>
            </a:pPr>
            <a:r>
              <a:rPr lang="fr-FR" sz="1800" dirty="0">
                <a:latin typeface="Calibri" panose="020F0502020204030204" pitchFamily="34" charset="0"/>
              </a:rPr>
              <a:t>Questions en cascade pour les codes INSEE/</a:t>
            </a:r>
            <a:r>
              <a:rPr lang="fr-FR" sz="1800" dirty="0" err="1">
                <a:latin typeface="Calibri" panose="020F0502020204030204" pitchFamily="34" charset="0"/>
              </a:rPr>
              <a:t>Dep</a:t>
            </a:r>
            <a:r>
              <a:rPr lang="fr-FR" sz="1800" dirty="0">
                <a:latin typeface="Calibri" panose="020F0502020204030204" pitchFamily="34" charset="0"/>
              </a:rPr>
              <a:t>/Gestionnaire :</a:t>
            </a:r>
          </a:p>
          <a:p>
            <a:pPr marL="285750" lvl="1" indent="-285750" fontAlgn="ctr">
              <a:spcBef>
                <a:spcPts val="0"/>
              </a:spcBef>
              <a:spcAft>
                <a:spcPts val="500"/>
              </a:spcAft>
              <a:buSzPts val="1000"/>
              <a:tabLst>
                <a:tab pos="914400" algn="l"/>
              </a:tabLst>
            </a:pPr>
            <a:r>
              <a:rPr lang="fr-FR" sz="1800" b="1" dirty="0">
                <a:latin typeface="Calibri" panose="020F0502020204030204" pitchFamily="34" charset="0"/>
              </a:rPr>
              <a:t>Code INSEE de la commune</a:t>
            </a:r>
          </a:p>
          <a:p>
            <a:pPr marL="465750" lvl="3" indent="-285750" fontAlgn="ctr">
              <a:spcBef>
                <a:spcPts val="0"/>
              </a:spcBef>
              <a:spcAft>
                <a:spcPts val="500"/>
              </a:spcAft>
              <a:buSzPts val="1000"/>
              <a:tabLst>
                <a:tab pos="1371600" algn="l"/>
              </a:tabLst>
            </a:pPr>
            <a:r>
              <a:rPr lang="fr-FR" sz="1700" dirty="0">
                <a:latin typeface="Calibri" panose="020F0502020204030204" pitchFamily="34" charset="0"/>
              </a:rPr>
              <a:t>Définissez votre besoin &gt; les codes sont déjà présents à 98% dans la BD TOPO. Est-ce vraiment contraignant s'il n'est pas renseigné?</a:t>
            </a:r>
          </a:p>
          <a:p>
            <a:pPr marL="285750" lvl="1" indent="-285750" fontAlgn="ctr">
              <a:spcBef>
                <a:spcPts val="0"/>
              </a:spcBef>
              <a:spcAft>
                <a:spcPts val="500"/>
              </a:spcAft>
              <a:buSzPts val="1000"/>
              <a:tabLst>
                <a:tab pos="914400" algn="l"/>
              </a:tabLst>
            </a:pPr>
            <a:r>
              <a:rPr lang="fr-FR" sz="1800" b="1" dirty="0">
                <a:latin typeface="Calibri" panose="020F0502020204030204" pitchFamily="34" charset="0"/>
              </a:rPr>
              <a:t>Code INSEE du département</a:t>
            </a:r>
          </a:p>
          <a:p>
            <a:pPr marL="465750" lvl="3" indent="-285750" fontAlgn="ctr">
              <a:spcBef>
                <a:spcPts val="0"/>
              </a:spcBef>
              <a:spcAft>
                <a:spcPts val="500"/>
              </a:spcAft>
              <a:buSzPts val="1000"/>
              <a:tabLst>
                <a:tab pos="1371600" algn="l"/>
              </a:tabLst>
            </a:pPr>
            <a:r>
              <a:rPr lang="fr-FR" sz="1700" dirty="0">
                <a:latin typeface="Calibri" panose="020F0502020204030204" pitchFamily="34" charset="0"/>
              </a:rPr>
              <a:t>Définissez votre besoin &gt; Pourrait être calculé dans la BD TOPO depuis le code INSEE de la commune. En cas d'absence de code INSEE commune, a-t-on vraiment besoin du numéro de département ou plutôt d'identifier le département administratif et/ou le département gestionnaire (qui fait l'entretien de la route)? Ou calculer géographiquement le département dans lequel la route se trouve majoritairement ?</a:t>
            </a:r>
          </a:p>
          <a:p>
            <a:pPr marL="285750" lvl="0" indent="-285750" fontAlgn="ctr">
              <a:buSzPts val="1000"/>
              <a:buFont typeface="Arial" panose="020B0604020202020204" pitchFamily="34" charset="0"/>
              <a:buChar char="•"/>
              <a:tabLst>
                <a:tab pos="678180" algn="l"/>
              </a:tabLst>
            </a:pPr>
            <a:r>
              <a:rPr lang="fr-FR" sz="1800" b="1" dirty="0">
                <a:latin typeface="Calibri" panose="020F0502020204030204" pitchFamily="34" charset="0"/>
              </a:rPr>
              <a:t>Gestionnaire administratif / Opérationnel</a:t>
            </a:r>
          </a:p>
          <a:p>
            <a:pPr marL="465750" lvl="2" indent="-285750" fontAlgn="ctr">
              <a:spcBef>
                <a:spcPts val="0"/>
              </a:spcBef>
              <a:spcAft>
                <a:spcPts val="500"/>
              </a:spcAft>
              <a:buSzPts val="1000"/>
              <a:tabLst>
                <a:tab pos="1135380" algn="l"/>
              </a:tabLst>
            </a:pPr>
            <a:r>
              <a:rPr lang="fr-FR" sz="1700" dirty="0">
                <a:latin typeface="Calibri" panose="020F0502020204030204" pitchFamily="34" charset="0"/>
              </a:rPr>
              <a:t>Avez-vous des exemples en interne de gestionnaire administratif et de gestionnaire opérationnel (qui fait l'entretien de la route)? Sont-ils différents? Renseignés? </a:t>
            </a:r>
          </a:p>
          <a:p>
            <a:pPr marL="342900" lvl="0" indent="-342900">
              <a:buFont typeface="Calibri" panose="020F0502020204030204" pitchFamily="34" charset="0"/>
              <a:buChar char="-"/>
            </a:pPr>
            <a:endParaRPr lang="fr-FR" sz="1800" dirty="0">
              <a:effectLst/>
              <a:latin typeface="Calibri" panose="020F0502020204030204" pitchFamily="34" charset="0"/>
              <a:ea typeface="Times New Roman" panose="02020603050405020304" pitchFamily="18" charset="0"/>
            </a:endParaRPr>
          </a:p>
        </p:txBody>
      </p:sp>
      <p:sp>
        <p:nvSpPr>
          <p:cNvPr id="3" name="Espace réservé du texte 2">
            <a:extLst>
              <a:ext uri="{FF2B5EF4-FFF2-40B4-BE49-F238E27FC236}">
                <a16:creationId xmlns:a16="http://schemas.microsoft.com/office/drawing/2014/main" id="{F22DD99F-4479-43B2-85D7-039392C0C713}"/>
              </a:ext>
            </a:extLst>
          </p:cNvPr>
          <p:cNvSpPr>
            <a:spLocks noGrp="1"/>
          </p:cNvSpPr>
          <p:nvPr>
            <p:ph type="body" sz="quarter" idx="13"/>
          </p:nvPr>
        </p:nvSpPr>
        <p:spPr/>
        <p:txBody>
          <a:bodyPr/>
          <a:lstStyle/>
          <a:p>
            <a:endParaRPr lang="fr-FR"/>
          </a:p>
        </p:txBody>
      </p:sp>
      <p:sp>
        <p:nvSpPr>
          <p:cNvPr id="10" name="Espace réservé du texte 7">
            <a:extLst>
              <a:ext uri="{FF2B5EF4-FFF2-40B4-BE49-F238E27FC236}">
                <a16:creationId xmlns:a16="http://schemas.microsoft.com/office/drawing/2014/main" id="{BDDFDBAD-EFBF-4E4C-BE3D-5FF98F4FC918}"/>
              </a:ext>
            </a:extLst>
          </p:cNvPr>
          <p:cNvSpPr txBox="1">
            <a:spLocks/>
          </p:cNvSpPr>
          <p:nvPr/>
        </p:nvSpPr>
        <p:spPr bwMode="gray">
          <a:xfrm>
            <a:off x="2944607" y="180000"/>
            <a:ext cx="5929201" cy="360000"/>
          </a:xfrm>
          <a:prstGeom prst="rect">
            <a:avLst/>
          </a:prstGeom>
        </p:spPr>
        <p:txBody>
          <a:bodyPr vert="horz" lIns="0" tIns="0" rIns="0" bIns="0" rtlCol="0" anchor="t" anchorCtr="0">
            <a:noAutofit/>
          </a:bodyPr>
          <a:lstStyle>
            <a:lvl1pPr marL="108000" indent="-108000" algn="r" defTabSz="914400" rtl="0" eaLnBrk="1" latinLnBrk="0" hangingPunct="1">
              <a:lnSpc>
                <a:spcPct val="100000"/>
              </a:lnSpc>
              <a:spcBef>
                <a:spcPts val="0"/>
              </a:spcBef>
              <a:spcAft>
                <a:spcPts val="0"/>
              </a:spcAft>
              <a:buFont typeface="+mj-lt"/>
              <a:buAutoNum type="arabicPeriod"/>
              <a:defRPr sz="750" b="1" kern="1200">
                <a:solidFill>
                  <a:schemeClr val="tx1"/>
                </a:solidFill>
                <a:latin typeface="+mn-lt"/>
                <a:ea typeface="+mn-ea"/>
                <a:cs typeface="+mn-cs"/>
              </a:defRPr>
            </a:lvl1pPr>
            <a:lvl2pPr marL="108000" indent="-108000" algn="r" defTabSz="914400" rtl="0" eaLnBrk="1" latinLnBrk="0" hangingPunct="1">
              <a:lnSpc>
                <a:spcPct val="100000"/>
              </a:lnSpc>
              <a:spcBef>
                <a:spcPts val="0"/>
              </a:spcBef>
              <a:spcAft>
                <a:spcPts val="0"/>
              </a:spcAft>
              <a:buFont typeface="+mj-lt"/>
              <a:buAutoNum type="alphaLcPeriod"/>
              <a:defRPr sz="7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mj-lt"/>
              <a:buNone/>
            </a:pPr>
            <a:r>
              <a:rPr lang="fr-FR" sz="2600" b="0" dirty="0"/>
              <a:t>6. INSEE/Département - 1</a:t>
            </a:r>
          </a:p>
          <a:p>
            <a:pPr marL="107950" indent="-107950"/>
            <a:endParaRPr lang="fr-FR" dirty="0"/>
          </a:p>
        </p:txBody>
      </p:sp>
    </p:spTree>
    <p:extLst>
      <p:ext uri="{BB962C8B-B14F-4D97-AF65-F5344CB8AC3E}">
        <p14:creationId xmlns:p14="http://schemas.microsoft.com/office/powerpoint/2010/main" val="1158106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13</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6. INSEE/Département - 2</a:t>
            </a:r>
          </a:p>
          <a:p>
            <a:pPr marL="107950" indent="-107950"/>
            <a:endParaRPr lang="fr-FR" dirty="0"/>
          </a:p>
        </p:txBody>
      </p:sp>
      <p:graphicFrame>
        <p:nvGraphicFramePr>
          <p:cNvPr id="9" name="Tableau 8">
            <a:extLst>
              <a:ext uri="{FF2B5EF4-FFF2-40B4-BE49-F238E27FC236}">
                <a16:creationId xmlns:a16="http://schemas.microsoft.com/office/drawing/2014/main" id="{6DE11FEF-5FED-4629-AF18-F7A452DB6538}"/>
              </a:ext>
            </a:extLst>
          </p:cNvPr>
          <p:cNvGraphicFramePr>
            <a:graphicFrameLocks noGrp="1"/>
          </p:cNvGraphicFramePr>
          <p:nvPr>
            <p:extLst>
              <p:ext uri="{D42A27DB-BD31-4B8C-83A1-F6EECF244321}">
                <p14:modId xmlns:p14="http://schemas.microsoft.com/office/powerpoint/2010/main" val="1146146993"/>
              </p:ext>
            </p:extLst>
          </p:nvPr>
        </p:nvGraphicFramePr>
        <p:xfrm>
          <a:off x="0" y="1086474"/>
          <a:ext cx="9143998" cy="4057026"/>
        </p:xfrm>
        <a:graphic>
          <a:graphicData uri="http://schemas.openxmlformats.org/drawingml/2006/table">
            <a:tbl>
              <a:tblPr/>
              <a:tblGrid>
                <a:gridCol w="595539">
                  <a:extLst>
                    <a:ext uri="{9D8B030D-6E8A-4147-A177-3AD203B41FA5}">
                      <a16:colId xmlns:a16="http://schemas.microsoft.com/office/drawing/2014/main" val="3306708298"/>
                    </a:ext>
                  </a:extLst>
                </a:gridCol>
                <a:gridCol w="595539">
                  <a:extLst>
                    <a:ext uri="{9D8B030D-6E8A-4147-A177-3AD203B41FA5}">
                      <a16:colId xmlns:a16="http://schemas.microsoft.com/office/drawing/2014/main" val="125585230"/>
                    </a:ext>
                  </a:extLst>
                </a:gridCol>
                <a:gridCol w="406952">
                  <a:extLst>
                    <a:ext uri="{9D8B030D-6E8A-4147-A177-3AD203B41FA5}">
                      <a16:colId xmlns:a16="http://schemas.microsoft.com/office/drawing/2014/main" val="4280009254"/>
                    </a:ext>
                  </a:extLst>
                </a:gridCol>
                <a:gridCol w="595539">
                  <a:extLst>
                    <a:ext uri="{9D8B030D-6E8A-4147-A177-3AD203B41FA5}">
                      <a16:colId xmlns:a16="http://schemas.microsoft.com/office/drawing/2014/main" val="1112275259"/>
                    </a:ext>
                  </a:extLst>
                </a:gridCol>
                <a:gridCol w="595539">
                  <a:extLst>
                    <a:ext uri="{9D8B030D-6E8A-4147-A177-3AD203B41FA5}">
                      <a16:colId xmlns:a16="http://schemas.microsoft.com/office/drawing/2014/main" val="4002216182"/>
                    </a:ext>
                  </a:extLst>
                </a:gridCol>
                <a:gridCol w="595539">
                  <a:extLst>
                    <a:ext uri="{9D8B030D-6E8A-4147-A177-3AD203B41FA5}">
                      <a16:colId xmlns:a16="http://schemas.microsoft.com/office/drawing/2014/main" val="3524850159"/>
                    </a:ext>
                  </a:extLst>
                </a:gridCol>
                <a:gridCol w="595539">
                  <a:extLst>
                    <a:ext uri="{9D8B030D-6E8A-4147-A177-3AD203B41FA5}">
                      <a16:colId xmlns:a16="http://schemas.microsoft.com/office/drawing/2014/main" val="1223299052"/>
                    </a:ext>
                  </a:extLst>
                </a:gridCol>
                <a:gridCol w="595539">
                  <a:extLst>
                    <a:ext uri="{9D8B030D-6E8A-4147-A177-3AD203B41FA5}">
                      <a16:colId xmlns:a16="http://schemas.microsoft.com/office/drawing/2014/main" val="2507689690"/>
                    </a:ext>
                  </a:extLst>
                </a:gridCol>
                <a:gridCol w="439209">
                  <a:extLst>
                    <a:ext uri="{9D8B030D-6E8A-4147-A177-3AD203B41FA5}">
                      <a16:colId xmlns:a16="http://schemas.microsoft.com/office/drawing/2014/main" val="1926998134"/>
                    </a:ext>
                  </a:extLst>
                </a:gridCol>
                <a:gridCol w="595539">
                  <a:extLst>
                    <a:ext uri="{9D8B030D-6E8A-4147-A177-3AD203B41FA5}">
                      <a16:colId xmlns:a16="http://schemas.microsoft.com/office/drawing/2014/main" val="2185633239"/>
                    </a:ext>
                  </a:extLst>
                </a:gridCol>
                <a:gridCol w="595539">
                  <a:extLst>
                    <a:ext uri="{9D8B030D-6E8A-4147-A177-3AD203B41FA5}">
                      <a16:colId xmlns:a16="http://schemas.microsoft.com/office/drawing/2014/main" val="3243734239"/>
                    </a:ext>
                  </a:extLst>
                </a:gridCol>
                <a:gridCol w="595539">
                  <a:extLst>
                    <a:ext uri="{9D8B030D-6E8A-4147-A177-3AD203B41FA5}">
                      <a16:colId xmlns:a16="http://schemas.microsoft.com/office/drawing/2014/main" val="4015198947"/>
                    </a:ext>
                  </a:extLst>
                </a:gridCol>
                <a:gridCol w="595539">
                  <a:extLst>
                    <a:ext uri="{9D8B030D-6E8A-4147-A177-3AD203B41FA5}">
                      <a16:colId xmlns:a16="http://schemas.microsoft.com/office/drawing/2014/main" val="1534915732"/>
                    </a:ext>
                  </a:extLst>
                </a:gridCol>
                <a:gridCol w="1746908">
                  <a:extLst>
                    <a:ext uri="{9D8B030D-6E8A-4147-A177-3AD203B41FA5}">
                      <a16:colId xmlns:a16="http://schemas.microsoft.com/office/drawing/2014/main" val="419728480"/>
                    </a:ext>
                  </a:extLst>
                </a:gridCol>
              </a:tblGrid>
              <a:tr h="527680">
                <a:tc>
                  <a:txBody>
                    <a:bodyPr/>
                    <a:lstStyle/>
                    <a:p>
                      <a:pPr algn="ctr" fontAlgn="ctr"/>
                      <a:r>
                        <a:rPr lang="fr-FR" sz="800" b="0" i="0" u="none" strike="noStrike" dirty="0">
                          <a:solidFill>
                            <a:srgbClr val="000000"/>
                          </a:solidFill>
                          <a:effectLst/>
                          <a:latin typeface="Calibri" panose="020F0502020204030204" pitchFamily="34" charset="0"/>
                        </a:rPr>
                        <a:t>Nom en français</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800" b="0" i="0" u="none" strike="noStrike">
                          <a:solidFill>
                            <a:srgbClr val="000000"/>
                          </a:solidFill>
                          <a:effectLst/>
                          <a:latin typeface="Calibri" panose="020F0502020204030204" pitchFamily="34" charset="0"/>
                        </a:rPr>
                        <a:t>Nom SHP dans le std boi s+ DFCI </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Type de valeur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Description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Origine de la donnée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Exemples de valeurs possibles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Element Obligatoire/Optionnel std bois + DFCI</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Nom dans la BDTOPO</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Type de valeur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Source de la donnée dans la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Description présente dans la spec de la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Exemples de valeurs possibles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Element Obligatoire/Optionnel BDTOPO</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Remarque 04/06/2025</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087821515"/>
                  </a:ext>
                </a:extLst>
              </a:tr>
              <a:tr h="3529346">
                <a:tc>
                  <a:txBody>
                    <a:bodyPr/>
                    <a:lstStyle/>
                    <a:p>
                      <a:pPr algn="ctr" fontAlgn="ctr"/>
                      <a:r>
                        <a:rPr lang="fr-FR" sz="800" b="0" i="0" u="none" strike="noStrike">
                          <a:solidFill>
                            <a:srgbClr val="000000"/>
                          </a:solidFill>
                          <a:effectLst/>
                          <a:latin typeface="Calibri" panose="020F0502020204030204" pitchFamily="34" charset="0"/>
                        </a:rPr>
                        <a:t>Code Insee du département</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dirty="0">
                          <a:solidFill>
                            <a:srgbClr val="000000"/>
                          </a:solidFill>
                          <a:effectLst/>
                          <a:latin typeface="Calibri" panose="020F0502020204030204" pitchFamily="34" charset="0"/>
                        </a:rPr>
                        <a:t>DEPT</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Liste</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dirty="0">
                          <a:solidFill>
                            <a:srgbClr val="000000"/>
                          </a:solidFill>
                          <a:effectLst/>
                          <a:latin typeface="Calibri" panose="020F0502020204030204" pitchFamily="34" charset="0"/>
                        </a:rPr>
                        <a:t>Numéro du département où se situe le tronçon</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800" b="0" i="0" u="none" strike="noStrike" dirty="0">
                        <a:solidFill>
                          <a:srgbClr val="000000"/>
                        </a:solidFill>
                        <a:effectLst/>
                        <a:latin typeface="Calibri" panose="020F0502020204030204" pitchFamily="34" charset="0"/>
                      </a:endParaRP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Obligatoire</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peut être calculé à partir du code insee commune</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Texte</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Deux premiers numéros du code INSEE de la commune (cf ligne ci-dessus) </a:t>
                      </a:r>
                      <a:r>
                        <a:rPr lang="fr-FR" sz="800" b="1" i="0" u="none" strike="noStrike">
                          <a:solidFill>
                            <a:srgbClr val="000000"/>
                          </a:solidFill>
                          <a:effectLst/>
                          <a:latin typeface="Calibri" panose="020F0502020204030204" pitchFamily="34" charset="0"/>
                        </a:rPr>
                        <a:t>=&gt; choix de la commune à droite ou à gauche du tronçon ?</a:t>
                      </a:r>
                      <a:endParaRPr lang="fr-FR" sz="800" b="0" i="0" u="none" strike="noStrike">
                        <a:solidFill>
                          <a:srgbClr val="000000"/>
                        </a:solidFill>
                        <a:effectLst/>
                        <a:latin typeface="Calibri" panose="020F0502020204030204" pitchFamily="34" charset="0"/>
                      </a:endParaRP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27</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Calibri" panose="020F0502020204030204" pitchFamily="34" charset="0"/>
                        </a:rPr>
                        <a:t>Non obligatoire</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dirty="0">
                          <a:solidFill>
                            <a:srgbClr val="000000"/>
                          </a:solidFill>
                          <a:effectLst/>
                          <a:latin typeface="Calibri" panose="020F0502020204030204" pitchFamily="34" charset="0"/>
                        </a:rPr>
                        <a:t>- besoin de base : pour les TB, il fallait avoir une informations du numéro de département pour définir les </a:t>
                      </a:r>
                      <a:r>
                        <a:rPr lang="fr-FR" sz="800" b="0" i="0" u="none" strike="noStrike" dirty="0" err="1">
                          <a:solidFill>
                            <a:srgbClr val="000000"/>
                          </a:solidFill>
                          <a:effectLst/>
                          <a:latin typeface="Calibri" panose="020F0502020204030204" pitchFamily="34" charset="0"/>
                        </a:rPr>
                        <a:t>décrêts</a:t>
                      </a:r>
                      <a:r>
                        <a:rPr lang="fr-FR" sz="800" b="0" i="0" u="none" strike="noStrike" dirty="0">
                          <a:solidFill>
                            <a:srgbClr val="000000"/>
                          </a:solidFill>
                          <a:effectLst/>
                          <a:latin typeface="Calibri" panose="020F0502020204030204" pitchFamily="34" charset="0"/>
                        </a:rPr>
                        <a:t> liés. Pour la DFCI, besoin de connaître le département gestionnaire de la DFCI.</a:t>
                      </a:r>
                      <a:br>
                        <a:rPr lang="fr-FR" sz="800" b="0" i="0" u="none" strike="noStrike" dirty="0">
                          <a:solidFill>
                            <a:srgbClr val="000000"/>
                          </a:solidFill>
                          <a:effectLst/>
                          <a:latin typeface="Calibri" panose="020F0502020204030204" pitchFamily="34" charset="0"/>
                        </a:rPr>
                      </a:br>
                      <a:br>
                        <a:rPr lang="fr-FR" sz="800" b="0" i="0" u="none" strike="noStrike" dirty="0">
                          <a:solidFill>
                            <a:srgbClr val="000000"/>
                          </a:solidFill>
                          <a:effectLst/>
                          <a:latin typeface="Calibri" panose="020F0502020204030204" pitchFamily="34" charset="0"/>
                        </a:rPr>
                      </a:br>
                      <a:r>
                        <a:rPr lang="fr-FR" sz="800" b="0" i="0" u="none" strike="noStrike" dirty="0">
                          <a:solidFill>
                            <a:srgbClr val="000000"/>
                          </a:solidFill>
                          <a:effectLst/>
                          <a:latin typeface="Calibri" panose="020F0502020204030204" pitchFamily="34" charset="0"/>
                        </a:rPr>
                        <a:t>- pour les routes qui traversent plusieurs départements  &gt;&gt; côté BDTOPO, on ne peut pas systématiquement couper la route et on ne peut pas avoir plusieurs départements pour une même route. Le problème se pose déjà côté </a:t>
                      </a:r>
                      <a:r>
                        <a:rPr lang="fr-FR" sz="800" b="0" i="0" u="none" strike="noStrike" dirty="0" err="1">
                          <a:solidFill>
                            <a:srgbClr val="000000"/>
                          </a:solidFill>
                          <a:effectLst/>
                          <a:latin typeface="Calibri" panose="020F0502020204030204" pitchFamily="34" charset="0"/>
                        </a:rPr>
                        <a:t>NexSIS</a:t>
                      </a:r>
                      <a:r>
                        <a:rPr lang="fr-FR" sz="800" b="0" i="0" u="none" strike="noStrike" dirty="0">
                          <a:solidFill>
                            <a:srgbClr val="000000"/>
                          </a:solidFill>
                          <a:effectLst/>
                          <a:latin typeface="Calibri" panose="020F0502020204030204" pitchFamily="34" charset="0"/>
                        </a:rPr>
                        <a:t> mais n'est pas résolu. </a:t>
                      </a:r>
                      <a:br>
                        <a:rPr lang="fr-FR" sz="800" b="0" i="0" u="none" strike="noStrike" dirty="0">
                          <a:solidFill>
                            <a:srgbClr val="000000"/>
                          </a:solidFill>
                          <a:effectLst/>
                          <a:latin typeface="Calibri" panose="020F0502020204030204" pitchFamily="34" charset="0"/>
                        </a:rPr>
                      </a:br>
                      <a:br>
                        <a:rPr lang="fr-FR" sz="800" b="0" i="0" u="none" strike="noStrike" dirty="0">
                          <a:solidFill>
                            <a:srgbClr val="000000"/>
                          </a:solidFill>
                          <a:effectLst/>
                          <a:latin typeface="Calibri" panose="020F0502020204030204" pitchFamily="34" charset="0"/>
                        </a:rPr>
                      </a:br>
                      <a:r>
                        <a:rPr lang="fr-FR" sz="800" b="0" i="0" u="none" strike="noStrike" dirty="0">
                          <a:solidFill>
                            <a:srgbClr val="000000"/>
                          </a:solidFill>
                          <a:effectLst/>
                          <a:latin typeface="Calibri" panose="020F0502020204030204" pitchFamily="34" charset="0"/>
                        </a:rPr>
                        <a:t>- Dans la BDTOPO, il y a une classe ROUTE NUMEROTEE OU NOMMEE (</a:t>
                      </a:r>
                      <a:r>
                        <a:rPr lang="fr-FR" sz="800" b="0" i="0" u="none" strike="noStrike" dirty="0" err="1">
                          <a:solidFill>
                            <a:srgbClr val="000000"/>
                          </a:solidFill>
                          <a:effectLst/>
                          <a:latin typeface="Calibri" panose="020F0502020204030204" pitchFamily="34" charset="0"/>
                        </a:rPr>
                        <a:t>agregation</a:t>
                      </a:r>
                      <a:r>
                        <a:rPr lang="fr-FR" sz="800" b="0" i="0" u="none" strike="noStrike" dirty="0">
                          <a:solidFill>
                            <a:srgbClr val="000000"/>
                          </a:solidFill>
                          <a:effectLst/>
                          <a:latin typeface="Calibri" panose="020F0502020204030204" pitchFamily="34" charset="0"/>
                        </a:rPr>
                        <a:t> de </a:t>
                      </a:r>
                      <a:r>
                        <a:rPr lang="fr-FR" sz="800" b="0" i="0" u="none" strike="noStrike" dirty="0" err="1">
                          <a:solidFill>
                            <a:srgbClr val="000000"/>
                          </a:solidFill>
                          <a:effectLst/>
                          <a:latin typeface="Calibri" panose="020F0502020204030204" pitchFamily="34" charset="0"/>
                        </a:rPr>
                        <a:t>troncons</a:t>
                      </a:r>
                      <a:r>
                        <a:rPr lang="fr-FR" sz="800" b="0" i="0" u="none" strike="noStrike" dirty="0">
                          <a:solidFill>
                            <a:srgbClr val="000000"/>
                          </a:solidFill>
                          <a:effectLst/>
                          <a:latin typeface="Calibri" panose="020F0502020204030204" pitchFamily="34" charset="0"/>
                        </a:rPr>
                        <a:t>) et à l'intérieur on </a:t>
                      </a:r>
                      <a:r>
                        <a:rPr lang="fr-FR" sz="800" b="0" i="0" u="none" strike="noStrike" dirty="0" err="1">
                          <a:solidFill>
                            <a:srgbClr val="000000"/>
                          </a:solidFill>
                          <a:effectLst/>
                          <a:latin typeface="Calibri" panose="020F0502020204030204" pitchFamily="34" charset="0"/>
                        </a:rPr>
                        <a:t>retouve</a:t>
                      </a:r>
                      <a:r>
                        <a:rPr lang="fr-FR" sz="800" b="0" i="0" u="none" strike="noStrike" dirty="0">
                          <a:solidFill>
                            <a:srgbClr val="000000"/>
                          </a:solidFill>
                          <a:effectLst/>
                          <a:latin typeface="Calibri" panose="020F0502020204030204" pitchFamily="34" charset="0"/>
                        </a:rPr>
                        <a:t> un attribut avec le nom du gestionnaire (mais le type de gestionnaire ou ses actions ne sont pas définies). Est-ce que cela conviendrait mieux?</a:t>
                      </a:r>
                      <a:br>
                        <a:rPr lang="fr-FR" sz="800" b="0" i="0" u="none" strike="noStrike" dirty="0">
                          <a:solidFill>
                            <a:srgbClr val="000000"/>
                          </a:solidFill>
                          <a:effectLst/>
                          <a:latin typeface="Calibri" panose="020F0502020204030204" pitchFamily="34" charset="0"/>
                        </a:rPr>
                      </a:br>
                      <a:br>
                        <a:rPr lang="fr-FR" sz="800" b="0" i="0" u="none" strike="noStrike" dirty="0">
                          <a:solidFill>
                            <a:srgbClr val="000000"/>
                          </a:solidFill>
                          <a:effectLst/>
                          <a:latin typeface="Calibri" panose="020F0502020204030204" pitchFamily="34" charset="0"/>
                        </a:rPr>
                      </a:br>
                      <a:r>
                        <a:rPr lang="fr-FR" sz="800" b="0" i="0" u="none" strike="noStrike" dirty="0">
                          <a:solidFill>
                            <a:srgbClr val="000000"/>
                          </a:solidFill>
                          <a:effectLst/>
                          <a:latin typeface="Calibri" panose="020F0502020204030204" pitchFamily="34" charset="0"/>
                        </a:rPr>
                        <a:t>- Ya t'il besoin d'avoir le Code INSEE de la commune + le code du département (admin) + le code/nom du </a:t>
                      </a:r>
                      <a:r>
                        <a:rPr lang="fr-FR" sz="800" b="0" i="0" u="none" strike="noStrike" dirty="0" err="1">
                          <a:solidFill>
                            <a:srgbClr val="000000"/>
                          </a:solidFill>
                          <a:effectLst/>
                          <a:latin typeface="Calibri" panose="020F0502020204030204" pitchFamily="34" charset="0"/>
                        </a:rPr>
                        <a:t>departement</a:t>
                      </a:r>
                      <a:r>
                        <a:rPr lang="fr-FR" sz="800" b="0" i="0" u="none" strike="noStrike" dirty="0">
                          <a:solidFill>
                            <a:srgbClr val="000000"/>
                          </a:solidFill>
                          <a:effectLst/>
                          <a:latin typeface="Calibri" panose="020F0502020204030204" pitchFamily="34" charset="0"/>
                        </a:rPr>
                        <a:t> gestionnaire? Quel </a:t>
                      </a:r>
                      <a:r>
                        <a:rPr lang="fr-FR" sz="800" b="0" i="0" u="none" strike="noStrike" dirty="0" err="1">
                          <a:solidFill>
                            <a:srgbClr val="000000"/>
                          </a:solidFill>
                          <a:effectLst/>
                          <a:latin typeface="Calibri" panose="020F0502020204030204" pitchFamily="34" charset="0"/>
                        </a:rPr>
                        <a:t>élement</a:t>
                      </a:r>
                      <a:r>
                        <a:rPr lang="fr-FR" sz="800" b="0" i="0" u="none" strike="noStrike" dirty="0">
                          <a:solidFill>
                            <a:srgbClr val="000000"/>
                          </a:solidFill>
                          <a:effectLst/>
                          <a:latin typeface="Calibri" panose="020F0502020204030204" pitchFamily="34" charset="0"/>
                        </a:rPr>
                        <a:t> est obligatoire?</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31236017"/>
                  </a:ext>
                </a:extLst>
              </a:tr>
            </a:tbl>
          </a:graphicData>
        </a:graphic>
      </p:graphicFrame>
    </p:spTree>
    <p:extLst>
      <p:ext uri="{BB962C8B-B14F-4D97-AF65-F5344CB8AC3E}">
        <p14:creationId xmlns:p14="http://schemas.microsoft.com/office/powerpoint/2010/main" val="3063821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14</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6. INSEE/Département</a:t>
            </a:r>
          </a:p>
          <a:p>
            <a:pPr marL="107950" indent="-107950"/>
            <a:endParaRPr lang="fr-FR" dirty="0"/>
          </a:p>
        </p:txBody>
      </p:sp>
      <p:graphicFrame>
        <p:nvGraphicFramePr>
          <p:cNvPr id="9" name="Tableau 8">
            <a:extLst>
              <a:ext uri="{FF2B5EF4-FFF2-40B4-BE49-F238E27FC236}">
                <a16:creationId xmlns:a16="http://schemas.microsoft.com/office/drawing/2014/main" id="{6DE11FEF-5FED-4629-AF18-F7A452DB6538}"/>
              </a:ext>
            </a:extLst>
          </p:cNvPr>
          <p:cNvGraphicFramePr>
            <a:graphicFrameLocks noGrp="1"/>
          </p:cNvGraphicFramePr>
          <p:nvPr>
            <p:extLst>
              <p:ext uri="{D42A27DB-BD31-4B8C-83A1-F6EECF244321}">
                <p14:modId xmlns:p14="http://schemas.microsoft.com/office/powerpoint/2010/main" val="1673243964"/>
              </p:ext>
            </p:extLst>
          </p:nvPr>
        </p:nvGraphicFramePr>
        <p:xfrm>
          <a:off x="0" y="1"/>
          <a:ext cx="10115941" cy="7737720"/>
        </p:xfrm>
        <a:graphic>
          <a:graphicData uri="http://schemas.openxmlformats.org/drawingml/2006/table">
            <a:tbl>
              <a:tblPr/>
              <a:tblGrid>
                <a:gridCol w="636104">
                  <a:extLst>
                    <a:ext uri="{9D8B030D-6E8A-4147-A177-3AD203B41FA5}">
                      <a16:colId xmlns:a16="http://schemas.microsoft.com/office/drawing/2014/main" val="3306708298"/>
                    </a:ext>
                  </a:extLst>
                </a:gridCol>
                <a:gridCol w="447261">
                  <a:extLst>
                    <a:ext uri="{9D8B030D-6E8A-4147-A177-3AD203B41FA5}">
                      <a16:colId xmlns:a16="http://schemas.microsoft.com/office/drawing/2014/main" val="125585230"/>
                    </a:ext>
                  </a:extLst>
                </a:gridCol>
                <a:gridCol w="387626">
                  <a:extLst>
                    <a:ext uri="{9D8B030D-6E8A-4147-A177-3AD203B41FA5}">
                      <a16:colId xmlns:a16="http://schemas.microsoft.com/office/drawing/2014/main" val="4280009254"/>
                    </a:ext>
                  </a:extLst>
                </a:gridCol>
                <a:gridCol w="715618">
                  <a:extLst>
                    <a:ext uri="{9D8B030D-6E8A-4147-A177-3AD203B41FA5}">
                      <a16:colId xmlns:a16="http://schemas.microsoft.com/office/drawing/2014/main" val="1112275259"/>
                    </a:ext>
                  </a:extLst>
                </a:gridCol>
                <a:gridCol w="785191">
                  <a:extLst>
                    <a:ext uri="{9D8B030D-6E8A-4147-A177-3AD203B41FA5}">
                      <a16:colId xmlns:a16="http://schemas.microsoft.com/office/drawing/2014/main" val="4002216182"/>
                    </a:ext>
                  </a:extLst>
                </a:gridCol>
                <a:gridCol w="407504">
                  <a:extLst>
                    <a:ext uri="{9D8B030D-6E8A-4147-A177-3AD203B41FA5}">
                      <a16:colId xmlns:a16="http://schemas.microsoft.com/office/drawing/2014/main" val="3524850159"/>
                    </a:ext>
                  </a:extLst>
                </a:gridCol>
                <a:gridCol w="516835">
                  <a:extLst>
                    <a:ext uri="{9D8B030D-6E8A-4147-A177-3AD203B41FA5}">
                      <a16:colId xmlns:a16="http://schemas.microsoft.com/office/drawing/2014/main" val="1223299052"/>
                    </a:ext>
                  </a:extLst>
                </a:gridCol>
                <a:gridCol w="1013791">
                  <a:extLst>
                    <a:ext uri="{9D8B030D-6E8A-4147-A177-3AD203B41FA5}">
                      <a16:colId xmlns:a16="http://schemas.microsoft.com/office/drawing/2014/main" val="2507689690"/>
                    </a:ext>
                  </a:extLst>
                </a:gridCol>
                <a:gridCol w="397566">
                  <a:extLst>
                    <a:ext uri="{9D8B030D-6E8A-4147-A177-3AD203B41FA5}">
                      <a16:colId xmlns:a16="http://schemas.microsoft.com/office/drawing/2014/main" val="1926998134"/>
                    </a:ext>
                  </a:extLst>
                </a:gridCol>
                <a:gridCol w="1739347">
                  <a:extLst>
                    <a:ext uri="{9D8B030D-6E8A-4147-A177-3AD203B41FA5}">
                      <a16:colId xmlns:a16="http://schemas.microsoft.com/office/drawing/2014/main" val="2185633239"/>
                    </a:ext>
                  </a:extLst>
                </a:gridCol>
                <a:gridCol w="576470">
                  <a:extLst>
                    <a:ext uri="{9D8B030D-6E8A-4147-A177-3AD203B41FA5}">
                      <a16:colId xmlns:a16="http://schemas.microsoft.com/office/drawing/2014/main" val="3243734239"/>
                    </a:ext>
                  </a:extLst>
                </a:gridCol>
                <a:gridCol w="258417">
                  <a:extLst>
                    <a:ext uri="{9D8B030D-6E8A-4147-A177-3AD203B41FA5}">
                      <a16:colId xmlns:a16="http://schemas.microsoft.com/office/drawing/2014/main" val="4015198947"/>
                    </a:ext>
                  </a:extLst>
                </a:gridCol>
                <a:gridCol w="487303">
                  <a:extLst>
                    <a:ext uri="{9D8B030D-6E8A-4147-A177-3AD203B41FA5}">
                      <a16:colId xmlns:a16="http://schemas.microsoft.com/office/drawing/2014/main" val="1534915732"/>
                    </a:ext>
                  </a:extLst>
                </a:gridCol>
                <a:gridCol w="1746908">
                  <a:extLst>
                    <a:ext uri="{9D8B030D-6E8A-4147-A177-3AD203B41FA5}">
                      <a16:colId xmlns:a16="http://schemas.microsoft.com/office/drawing/2014/main" val="419728480"/>
                    </a:ext>
                  </a:extLst>
                </a:gridCol>
              </a:tblGrid>
              <a:tr h="327990">
                <a:tc>
                  <a:txBody>
                    <a:bodyPr/>
                    <a:lstStyle/>
                    <a:p>
                      <a:pPr algn="ctr" fontAlgn="ctr"/>
                      <a:r>
                        <a:rPr lang="fr-FR" sz="800" b="0" i="0" u="none" strike="noStrike" dirty="0">
                          <a:solidFill>
                            <a:srgbClr val="000000"/>
                          </a:solidFill>
                          <a:effectLst/>
                          <a:latin typeface="Calibri" panose="020F0502020204030204" pitchFamily="34" charset="0"/>
                        </a:rPr>
                        <a:t>Nom en français</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800" b="0" i="0" u="none" strike="noStrike">
                          <a:solidFill>
                            <a:srgbClr val="000000"/>
                          </a:solidFill>
                          <a:effectLst/>
                          <a:latin typeface="Calibri" panose="020F0502020204030204" pitchFamily="34" charset="0"/>
                        </a:rPr>
                        <a:t>Nom SHP dans le std boi s+ DFCI </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Type de valeur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Description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Origine de la donnée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Exemples de valeurs possibles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Element Obligatoire/Optionnel std bois + DFCI</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Nom dans la BDTOPO</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Type de valeur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Source de la donnée dans la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Description présente dans la spec de la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Exemples de valeurs possibles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Element Obligatoire/Optionnel BDTOPO</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Remarque 04/06/2025</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087821515"/>
                  </a:ext>
                </a:extLst>
              </a:tr>
              <a:tr h="6635161">
                <a:tc>
                  <a:txBody>
                    <a:bodyPr/>
                    <a:lstStyle/>
                    <a:p>
                      <a:pPr algn="ctr" fontAlgn="ctr"/>
                      <a:r>
                        <a:rPr lang="fr-FR" sz="1050" b="0" i="0" u="none" strike="noStrike" dirty="0">
                          <a:solidFill>
                            <a:srgbClr val="000000"/>
                          </a:solidFill>
                          <a:effectLst/>
                          <a:latin typeface="Calibri" panose="020F0502020204030204" pitchFamily="34" charset="0"/>
                        </a:rPr>
                        <a:t>Code Insee de la commune</a:t>
                      </a:r>
                    </a:p>
                  </a:txBody>
                  <a:tcPr marL="9525" marR="9525" marT="9525">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INSEE_COM</a:t>
                      </a:r>
                    </a:p>
                  </a:txBody>
                  <a:tcPr marL="9525" marR="9525" marT="9525">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Liste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Code INSEE de la commune où se situe le tronçon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BD-Topo, Saisie contributeur </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19227</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Obligatoire</a:t>
                      </a:r>
                    </a:p>
                  </a:txBody>
                  <a:tcPr marL="9525" marR="9525" marT="9525">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SQL/GPKG : </a:t>
                      </a:r>
                      <a:r>
                        <a:rPr lang="fr-FR" sz="1050" b="0" i="0" u="none" strike="noStrike" dirty="0" err="1">
                          <a:solidFill>
                            <a:srgbClr val="000000"/>
                          </a:solidFill>
                          <a:effectLst/>
                          <a:latin typeface="Calibri" panose="020F0502020204030204" pitchFamily="34" charset="0"/>
                        </a:rPr>
                        <a:t>insee_commune_droite</a:t>
                      </a:r>
                      <a:r>
                        <a:rPr lang="fr-FR" sz="1050" b="0" i="0" u="none" strike="noStrike" dirty="0">
                          <a:solidFill>
                            <a:srgbClr val="000000"/>
                          </a:solidFill>
                          <a:effectLst/>
                          <a:latin typeface="Calibri" panose="020F0502020204030204" pitchFamily="34" charset="0"/>
                        </a:rPr>
                        <a:t>, </a:t>
                      </a:r>
                      <a:r>
                        <a:rPr lang="fr-FR" sz="1050" b="0" i="0" u="none" strike="noStrike" dirty="0" err="1">
                          <a:solidFill>
                            <a:srgbClr val="000000"/>
                          </a:solidFill>
                          <a:effectLst/>
                          <a:latin typeface="Calibri" panose="020F0502020204030204" pitchFamily="34" charset="0"/>
                        </a:rPr>
                        <a:t>insee_commune_gauche</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SHP : INSEECOM_D, INSEECOM_G</a:t>
                      </a:r>
                    </a:p>
                  </a:txBody>
                  <a:tcPr marL="9525" marR="9525" marT="9525">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Texte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BD-Topo</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Les </a:t>
                      </a:r>
                      <a:r>
                        <a:rPr lang="fr-FR" sz="1050" b="0" i="0" u="none" strike="noStrike" dirty="0" err="1">
                          <a:solidFill>
                            <a:srgbClr val="000000"/>
                          </a:solidFill>
                          <a:effectLst/>
                          <a:latin typeface="Calibri" panose="020F0502020204030204" pitchFamily="34" charset="0"/>
                        </a:rPr>
                        <a:t>insee_commune_gauche</a:t>
                      </a:r>
                      <a:r>
                        <a:rPr lang="fr-FR" sz="1050" b="0" i="0" u="none" strike="noStrike" dirty="0">
                          <a:solidFill>
                            <a:srgbClr val="000000"/>
                          </a:solidFill>
                          <a:effectLst/>
                          <a:latin typeface="Calibri" panose="020F0502020204030204" pitchFamily="34" charset="0"/>
                        </a:rPr>
                        <a:t> et droite sont remplis :</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 à partir du processus d'appariement des adresses BAN (-&gt; correction en cours pour les codes </a:t>
                      </a:r>
                      <a:r>
                        <a:rPr lang="fr-FR" sz="1050" b="0" i="0" u="none" strike="noStrike" dirty="0" err="1">
                          <a:solidFill>
                            <a:srgbClr val="000000"/>
                          </a:solidFill>
                          <a:effectLst/>
                          <a:latin typeface="Calibri" panose="020F0502020204030204" pitchFamily="34" charset="0"/>
                        </a:rPr>
                        <a:t>insee</a:t>
                      </a:r>
                      <a:r>
                        <a:rPr lang="fr-FR" sz="1050" b="0" i="0" u="none" strike="noStrike" dirty="0">
                          <a:solidFill>
                            <a:srgbClr val="000000"/>
                          </a:solidFill>
                          <a:effectLst/>
                          <a:latin typeface="Calibri" panose="020F0502020204030204" pitchFamily="34" charset="0"/>
                        </a:rPr>
                        <a:t> les plus </a:t>
                      </a:r>
                      <a:r>
                        <a:rPr lang="fr-FR" sz="1050" b="0" i="0" u="none" strike="noStrike" dirty="0" err="1">
                          <a:solidFill>
                            <a:srgbClr val="000000"/>
                          </a:solidFill>
                          <a:effectLst/>
                          <a:latin typeface="Calibri" panose="020F0502020204030204" pitchFamily="34" charset="0"/>
                        </a:rPr>
                        <a:t>loins</a:t>
                      </a:r>
                      <a:r>
                        <a:rPr lang="fr-FR" sz="1050" b="0" i="0" u="none" strike="noStrike" dirty="0">
                          <a:solidFill>
                            <a:srgbClr val="000000"/>
                          </a:solidFill>
                          <a:effectLst/>
                          <a:latin typeface="Calibri" panose="020F0502020204030204" pitchFamily="34" charset="0"/>
                        </a:rPr>
                        <a:t> des communes correspondantes, &gt; 1km tous corrigés actuellement)</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 à partir de la géométrie de la commune si le tronçon est entièrement inclus.</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 tous les objets restants sont sur au moins 2 communes (remplis 1 par 1 mais la plupart du temps vides).</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taux d'attributs vides (sur plus de 2 communes) : 368000 sur 20,144 M (soit 1,8%)</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Numéro INSEE de la commune à gauche ou à droite du tronçon par rapport au sens de numérisation.</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27098</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Non obligatoire</a:t>
                      </a:r>
                    </a:p>
                  </a:txBody>
                  <a:tcPr marL="9525" marR="9525" marT="9525">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fr-FR" sz="1050" b="0" i="0" u="none" strike="noStrike" dirty="0">
                          <a:solidFill>
                            <a:srgbClr val="000000"/>
                          </a:solidFill>
                          <a:effectLst/>
                          <a:latin typeface="Calibri" panose="020F0502020204030204" pitchFamily="34" charset="0"/>
                        </a:rPr>
                        <a:t>Globalement, la plupart des </a:t>
                      </a:r>
                      <a:r>
                        <a:rPr lang="fr-FR" sz="1050" b="0" i="0" u="none" strike="noStrike" dirty="0" err="1">
                          <a:solidFill>
                            <a:srgbClr val="000000"/>
                          </a:solidFill>
                          <a:effectLst/>
                          <a:latin typeface="Calibri" panose="020F0502020204030204" pitchFamily="34" charset="0"/>
                        </a:rPr>
                        <a:t>troncons</a:t>
                      </a:r>
                      <a:r>
                        <a:rPr lang="fr-FR" sz="1050" b="0" i="0" u="none" strike="noStrike" dirty="0">
                          <a:solidFill>
                            <a:srgbClr val="000000"/>
                          </a:solidFill>
                          <a:effectLst/>
                          <a:latin typeface="Calibri" panose="020F0502020204030204" pitchFamily="34" charset="0"/>
                        </a:rPr>
                        <a:t> ont un code INSEE commune. (98,2%) A voir si ce qui est vraiment intéressant, c'est d'avoir le code commune administrative ou d'avoir le code département administratif. Car il est possible au sein de la BD TOPO de récupérer le code de département (</a:t>
                      </a:r>
                      <a:r>
                        <a:rPr lang="fr-FR" sz="1050" b="0" i="0" u="none" strike="noStrike" dirty="0" err="1">
                          <a:solidFill>
                            <a:srgbClr val="000000"/>
                          </a:solidFill>
                          <a:effectLst/>
                          <a:latin typeface="Calibri" panose="020F0502020204030204" pitchFamily="34" charset="0"/>
                        </a:rPr>
                        <a:t>troncon</a:t>
                      </a:r>
                      <a:r>
                        <a:rPr lang="fr-FR" sz="1050" b="0" i="0" u="none" strike="noStrike" dirty="0">
                          <a:solidFill>
                            <a:srgbClr val="000000"/>
                          </a:solidFill>
                          <a:effectLst/>
                          <a:latin typeface="Calibri" panose="020F0502020204030204" pitchFamily="34" charset="0"/>
                        </a:rPr>
                        <a:t> contenu entièrement dans le département).</a:t>
                      </a:r>
                      <a:br>
                        <a:rPr lang="fr-FR" sz="1050" b="0" i="0" u="none" strike="noStrike" dirty="0">
                          <a:solidFill>
                            <a:srgbClr val="000000"/>
                          </a:solidFill>
                          <a:effectLst/>
                          <a:latin typeface="Calibri" panose="020F0502020204030204" pitchFamily="34" charset="0"/>
                        </a:rPr>
                      </a:br>
                      <a:r>
                        <a:rPr lang="fr-FR" sz="1050" b="0" i="0" u="none" strike="noStrike" dirty="0">
                          <a:solidFill>
                            <a:srgbClr val="000000"/>
                          </a:solidFill>
                          <a:effectLst/>
                          <a:latin typeface="Calibri" panose="020F0502020204030204" pitchFamily="34" charset="0"/>
                        </a:rPr>
                        <a:t>&gt;&gt; le GT doit spécifier plus précisément l'origine de son besoin et l'utilisation potentielle pour cet élément</a:t>
                      </a:r>
                    </a:p>
                  </a:txBody>
                  <a:tcPr marL="9525" marR="9525" marT="9525">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31236017"/>
                  </a:ext>
                </a:extLst>
              </a:tr>
            </a:tbl>
          </a:graphicData>
        </a:graphic>
      </p:graphicFrame>
    </p:spTree>
    <p:extLst>
      <p:ext uri="{BB962C8B-B14F-4D97-AF65-F5344CB8AC3E}">
        <p14:creationId xmlns:p14="http://schemas.microsoft.com/office/powerpoint/2010/main" val="4129162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15</a:t>
            </a:fld>
            <a:endParaRPr lang="fr-FR"/>
          </a:p>
        </p:txBody>
      </p:sp>
      <p:sp>
        <p:nvSpPr>
          <p:cNvPr id="8" name="Espace réservé du texte 7">
            <a:extLst>
              <a:ext uri="{FF2B5EF4-FFF2-40B4-BE49-F238E27FC236}">
                <a16:creationId xmlns:a16="http://schemas.microsoft.com/office/drawing/2014/main" id="{39A34D4C-BF23-47C3-8364-19CD7D44A393}"/>
              </a:ext>
            </a:extLst>
          </p:cNvPr>
          <p:cNvSpPr>
            <a:spLocks noGrp="1"/>
          </p:cNvSpPr>
          <p:nvPr>
            <p:ph type="body" sz="quarter" idx="13"/>
          </p:nvPr>
        </p:nvSpPr>
        <p:spPr>
          <a:xfrm>
            <a:off x="2944607" y="180000"/>
            <a:ext cx="5929201" cy="360000"/>
          </a:xfrm>
        </p:spPr>
        <p:txBody>
          <a:bodyPr/>
          <a:lstStyle/>
          <a:p>
            <a:pPr marL="0" indent="0">
              <a:buNone/>
            </a:pPr>
            <a:r>
              <a:rPr lang="fr-FR" sz="2600" b="0" dirty="0"/>
              <a:t>3. Piste DFCI</a:t>
            </a:r>
          </a:p>
          <a:p>
            <a:pPr marL="107950" indent="-107950"/>
            <a:endParaRPr lang="fr-FR" dirty="0"/>
          </a:p>
        </p:txBody>
      </p:sp>
      <p:sp>
        <p:nvSpPr>
          <p:cNvPr id="7" name="Espace réservé du contenu 8">
            <a:extLst>
              <a:ext uri="{FF2B5EF4-FFF2-40B4-BE49-F238E27FC236}">
                <a16:creationId xmlns:a16="http://schemas.microsoft.com/office/drawing/2014/main" id="{3D3362DA-007F-4FE0-9792-0479DED8CA20}"/>
              </a:ext>
            </a:extLst>
          </p:cNvPr>
          <p:cNvSpPr>
            <a:spLocks noGrp="1"/>
          </p:cNvSpPr>
          <p:nvPr>
            <p:ph sz="quarter" idx="14"/>
          </p:nvPr>
        </p:nvSpPr>
        <p:spPr>
          <a:xfrm>
            <a:off x="360000" y="697292"/>
            <a:ext cx="8424000" cy="3748915"/>
          </a:xfrm>
        </p:spPr>
        <p:txBody>
          <a:bodyPr/>
          <a:lstStyle/>
          <a:p>
            <a:r>
              <a:rPr lang="fr-FR" sz="1400" dirty="0">
                <a:effectLst/>
                <a:latin typeface="Calibri" panose="020F0502020204030204" pitchFamily="34" charset="0"/>
                <a:ea typeface="Calibri" panose="020F0502020204030204" pitchFamily="34" charset="0"/>
              </a:rPr>
              <a:t>Gestionnaire</a:t>
            </a:r>
          </a:p>
          <a:p>
            <a:pPr marL="285750" indent="-285750">
              <a:buFontTx/>
              <a:buChar char="-"/>
            </a:pPr>
            <a:r>
              <a:rPr lang="fr-FR" sz="1400" dirty="0">
                <a:latin typeface="Calibri" panose="020F0502020204030204" pitchFamily="34" charset="0"/>
                <a:ea typeface="Times New Roman" panose="02020603050405020304" pitchFamily="18" charset="0"/>
              </a:rPr>
              <a:t>Récupère la forme présente actuellement dans la BDTOPO</a:t>
            </a:r>
            <a:r>
              <a:rPr lang="fr-FR" sz="1300" dirty="0">
                <a:latin typeface="Calibri" panose="020F0502020204030204" pitchFamily="34" charset="0"/>
                <a:ea typeface="Times New Roman" panose="02020603050405020304" pitchFamily="18" charset="0"/>
              </a:rPr>
              <a:t> </a:t>
            </a:r>
          </a:p>
          <a:p>
            <a:pPr marL="537750" lvl="1" indent="-285750">
              <a:buFontTx/>
              <a:buChar char="-"/>
            </a:pPr>
            <a:r>
              <a:rPr lang="fr-FR" sz="1200" dirty="0" err="1">
                <a:latin typeface="Calibri" panose="020F0502020204030204" pitchFamily="34" charset="0"/>
                <a:ea typeface="Times New Roman" panose="02020603050405020304" pitchFamily="18" charset="0"/>
              </a:rPr>
              <a:t>Agrementer</a:t>
            </a:r>
            <a:r>
              <a:rPr lang="fr-FR" sz="1200" dirty="0">
                <a:latin typeface="Calibri" panose="020F0502020204030204" pitchFamily="34" charset="0"/>
                <a:ea typeface="Times New Roman" panose="02020603050405020304" pitchFamily="18" charset="0"/>
              </a:rPr>
              <a:t> la liste des gestionnaires actuels</a:t>
            </a:r>
          </a:p>
          <a:p>
            <a:pPr marL="537750" lvl="1" indent="-285750">
              <a:buFontTx/>
              <a:buChar char="-"/>
            </a:pPr>
            <a:r>
              <a:rPr lang="fr-FR" sz="1200" dirty="0">
                <a:latin typeface="Calibri" panose="020F0502020204030204" pitchFamily="34" charset="0"/>
                <a:ea typeface="Times New Roman" panose="02020603050405020304" pitchFamily="18" charset="0"/>
              </a:rPr>
              <a:t>Evolution BDTOPO sur las routes </a:t>
            </a:r>
            <a:r>
              <a:rPr lang="fr-FR" sz="1200" dirty="0" err="1">
                <a:latin typeface="Calibri" panose="020F0502020204030204" pitchFamily="34" charset="0"/>
                <a:ea typeface="Times New Roman" panose="02020603050405020304" pitchFamily="18" charset="0"/>
              </a:rPr>
              <a:t>nommees</a:t>
            </a:r>
            <a:r>
              <a:rPr lang="fr-FR" sz="1200" dirty="0">
                <a:latin typeface="Calibri" panose="020F0502020204030204" pitchFamily="34" charset="0"/>
                <a:ea typeface="Times New Roman" panose="02020603050405020304" pitchFamily="18" charset="0"/>
              </a:rPr>
              <a:t> (routes </a:t>
            </a:r>
            <a:r>
              <a:rPr lang="fr-FR" sz="1200" dirty="0" err="1">
                <a:latin typeface="Calibri" panose="020F0502020204030204" pitchFamily="34" charset="0"/>
                <a:ea typeface="Times New Roman" panose="02020603050405020304" pitchFamily="18" charset="0"/>
              </a:rPr>
              <a:t>forestieres</a:t>
            </a:r>
            <a:r>
              <a:rPr lang="fr-FR" sz="1200" dirty="0">
                <a:latin typeface="Calibri" panose="020F0502020204030204" pitchFamily="34" charset="0"/>
                <a:ea typeface="Times New Roman" panose="02020603050405020304" pitchFamily="18" charset="0"/>
              </a:rPr>
              <a:t>)(pas dans le </a:t>
            </a:r>
            <a:r>
              <a:rPr lang="fr-FR" sz="1200" dirty="0" err="1">
                <a:latin typeface="Calibri" panose="020F0502020204030204" pitchFamily="34" charset="0"/>
                <a:ea typeface="Times New Roman" panose="02020603050405020304" pitchFamily="18" charset="0"/>
              </a:rPr>
              <a:t>sta,ndard</a:t>
            </a:r>
            <a:r>
              <a:rPr lang="fr-FR" sz="1200" dirty="0">
                <a:latin typeface="Calibri" panose="020F0502020204030204" pitchFamily="34" charset="0"/>
                <a:ea typeface="Times New Roman" panose="02020603050405020304" pitchFamily="18" charset="0"/>
              </a:rPr>
              <a:t>)</a:t>
            </a:r>
          </a:p>
          <a:p>
            <a:pPr marL="285750" indent="-285750">
              <a:buFontTx/>
              <a:buChar char="-"/>
            </a:pPr>
            <a:r>
              <a:rPr lang="fr-FR" sz="1400" dirty="0">
                <a:latin typeface="Calibri" panose="020F0502020204030204" pitchFamily="34" charset="0"/>
                <a:ea typeface="Times New Roman" panose="02020603050405020304" pitchFamily="18" charset="0"/>
              </a:rPr>
              <a:t>Attribut optionnel dans le standard</a:t>
            </a:r>
          </a:p>
          <a:p>
            <a:pPr marL="285750" indent="-285750">
              <a:buFontTx/>
              <a:buChar char="-"/>
            </a:pPr>
            <a:endParaRPr lang="fr-FR" sz="1400" dirty="0">
              <a:latin typeface="Calibri" panose="020F0502020204030204" pitchFamily="34" charset="0"/>
              <a:ea typeface="Times New Roman" panose="02020603050405020304" pitchFamily="18" charset="0"/>
            </a:endParaRPr>
          </a:p>
          <a:p>
            <a:pPr marL="285750" indent="-285750">
              <a:buFontTx/>
              <a:buChar char="-"/>
            </a:pPr>
            <a:endParaRPr lang="fr-FR" sz="1400" dirty="0">
              <a:latin typeface="Calibri" panose="020F0502020204030204" pitchFamily="34" charset="0"/>
              <a:ea typeface="Times New Roman" panose="02020603050405020304" pitchFamily="18" charset="0"/>
            </a:endParaRPr>
          </a:p>
          <a:p>
            <a:pPr marL="285750" indent="-285750">
              <a:buFontTx/>
              <a:buChar char="-"/>
            </a:pPr>
            <a:endParaRPr lang="fr-FR"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65472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16</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7. Gestionnaire</a:t>
            </a:r>
          </a:p>
          <a:p>
            <a:pPr marL="107950" indent="-107950"/>
            <a:endParaRPr lang="fr-FR" sz="800" dirty="0"/>
          </a:p>
        </p:txBody>
      </p:sp>
      <p:graphicFrame>
        <p:nvGraphicFramePr>
          <p:cNvPr id="9" name="Tableau 8">
            <a:extLst>
              <a:ext uri="{FF2B5EF4-FFF2-40B4-BE49-F238E27FC236}">
                <a16:creationId xmlns:a16="http://schemas.microsoft.com/office/drawing/2014/main" id="{6DE11FEF-5FED-4629-AF18-F7A452DB6538}"/>
              </a:ext>
            </a:extLst>
          </p:cNvPr>
          <p:cNvGraphicFramePr>
            <a:graphicFrameLocks noGrp="1"/>
          </p:cNvGraphicFramePr>
          <p:nvPr>
            <p:extLst>
              <p:ext uri="{D42A27DB-BD31-4B8C-83A1-F6EECF244321}">
                <p14:modId xmlns:p14="http://schemas.microsoft.com/office/powerpoint/2010/main" val="3585330621"/>
              </p:ext>
            </p:extLst>
          </p:nvPr>
        </p:nvGraphicFramePr>
        <p:xfrm>
          <a:off x="0" y="540000"/>
          <a:ext cx="9143998" cy="4972045"/>
        </p:xfrm>
        <a:graphic>
          <a:graphicData uri="http://schemas.openxmlformats.org/drawingml/2006/table">
            <a:tbl>
              <a:tblPr/>
              <a:tblGrid>
                <a:gridCol w="595539">
                  <a:extLst>
                    <a:ext uri="{9D8B030D-6E8A-4147-A177-3AD203B41FA5}">
                      <a16:colId xmlns:a16="http://schemas.microsoft.com/office/drawing/2014/main" val="3306708298"/>
                    </a:ext>
                  </a:extLst>
                </a:gridCol>
                <a:gridCol w="595539">
                  <a:extLst>
                    <a:ext uri="{9D8B030D-6E8A-4147-A177-3AD203B41FA5}">
                      <a16:colId xmlns:a16="http://schemas.microsoft.com/office/drawing/2014/main" val="125585230"/>
                    </a:ext>
                  </a:extLst>
                </a:gridCol>
                <a:gridCol w="406952">
                  <a:extLst>
                    <a:ext uri="{9D8B030D-6E8A-4147-A177-3AD203B41FA5}">
                      <a16:colId xmlns:a16="http://schemas.microsoft.com/office/drawing/2014/main" val="4280009254"/>
                    </a:ext>
                  </a:extLst>
                </a:gridCol>
                <a:gridCol w="595539">
                  <a:extLst>
                    <a:ext uri="{9D8B030D-6E8A-4147-A177-3AD203B41FA5}">
                      <a16:colId xmlns:a16="http://schemas.microsoft.com/office/drawing/2014/main" val="1112275259"/>
                    </a:ext>
                  </a:extLst>
                </a:gridCol>
                <a:gridCol w="595539">
                  <a:extLst>
                    <a:ext uri="{9D8B030D-6E8A-4147-A177-3AD203B41FA5}">
                      <a16:colId xmlns:a16="http://schemas.microsoft.com/office/drawing/2014/main" val="4002216182"/>
                    </a:ext>
                  </a:extLst>
                </a:gridCol>
                <a:gridCol w="595539">
                  <a:extLst>
                    <a:ext uri="{9D8B030D-6E8A-4147-A177-3AD203B41FA5}">
                      <a16:colId xmlns:a16="http://schemas.microsoft.com/office/drawing/2014/main" val="3524850159"/>
                    </a:ext>
                  </a:extLst>
                </a:gridCol>
                <a:gridCol w="595539">
                  <a:extLst>
                    <a:ext uri="{9D8B030D-6E8A-4147-A177-3AD203B41FA5}">
                      <a16:colId xmlns:a16="http://schemas.microsoft.com/office/drawing/2014/main" val="1223299052"/>
                    </a:ext>
                  </a:extLst>
                </a:gridCol>
                <a:gridCol w="595539">
                  <a:extLst>
                    <a:ext uri="{9D8B030D-6E8A-4147-A177-3AD203B41FA5}">
                      <a16:colId xmlns:a16="http://schemas.microsoft.com/office/drawing/2014/main" val="2507689690"/>
                    </a:ext>
                  </a:extLst>
                </a:gridCol>
                <a:gridCol w="439209">
                  <a:extLst>
                    <a:ext uri="{9D8B030D-6E8A-4147-A177-3AD203B41FA5}">
                      <a16:colId xmlns:a16="http://schemas.microsoft.com/office/drawing/2014/main" val="1926998134"/>
                    </a:ext>
                  </a:extLst>
                </a:gridCol>
                <a:gridCol w="595539">
                  <a:extLst>
                    <a:ext uri="{9D8B030D-6E8A-4147-A177-3AD203B41FA5}">
                      <a16:colId xmlns:a16="http://schemas.microsoft.com/office/drawing/2014/main" val="2185633239"/>
                    </a:ext>
                  </a:extLst>
                </a:gridCol>
                <a:gridCol w="595539">
                  <a:extLst>
                    <a:ext uri="{9D8B030D-6E8A-4147-A177-3AD203B41FA5}">
                      <a16:colId xmlns:a16="http://schemas.microsoft.com/office/drawing/2014/main" val="3243734239"/>
                    </a:ext>
                  </a:extLst>
                </a:gridCol>
                <a:gridCol w="595539">
                  <a:extLst>
                    <a:ext uri="{9D8B030D-6E8A-4147-A177-3AD203B41FA5}">
                      <a16:colId xmlns:a16="http://schemas.microsoft.com/office/drawing/2014/main" val="4015198947"/>
                    </a:ext>
                  </a:extLst>
                </a:gridCol>
                <a:gridCol w="595539">
                  <a:extLst>
                    <a:ext uri="{9D8B030D-6E8A-4147-A177-3AD203B41FA5}">
                      <a16:colId xmlns:a16="http://schemas.microsoft.com/office/drawing/2014/main" val="1534915732"/>
                    </a:ext>
                  </a:extLst>
                </a:gridCol>
                <a:gridCol w="1746908">
                  <a:extLst>
                    <a:ext uri="{9D8B030D-6E8A-4147-A177-3AD203B41FA5}">
                      <a16:colId xmlns:a16="http://schemas.microsoft.com/office/drawing/2014/main" val="419728480"/>
                    </a:ext>
                  </a:extLst>
                </a:gridCol>
              </a:tblGrid>
              <a:tr h="527680">
                <a:tc>
                  <a:txBody>
                    <a:bodyPr/>
                    <a:lstStyle/>
                    <a:p>
                      <a:pPr algn="ctr" fontAlgn="ctr"/>
                      <a:r>
                        <a:rPr lang="fr-FR" sz="800" b="0" i="0" u="none" strike="noStrike" dirty="0">
                          <a:solidFill>
                            <a:srgbClr val="000000"/>
                          </a:solidFill>
                          <a:effectLst/>
                          <a:latin typeface="Calibri" panose="020F0502020204030204" pitchFamily="34" charset="0"/>
                        </a:rPr>
                        <a:t>Nom en français</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800" b="0" i="0" u="none" strike="noStrike">
                          <a:solidFill>
                            <a:srgbClr val="000000"/>
                          </a:solidFill>
                          <a:effectLst/>
                          <a:latin typeface="Calibri" panose="020F0502020204030204" pitchFamily="34" charset="0"/>
                        </a:rPr>
                        <a:t>Nom SHP dans le std boi s+ DFCI </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Type de valeur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Description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Origine de la donnée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Exemples de valeurs possibles std bois + DFCI</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Element Obligatoire/Optionnel std bois + DFCI</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800" b="0" i="0" u="none" strike="noStrike">
                          <a:solidFill>
                            <a:srgbClr val="000000"/>
                          </a:solidFill>
                          <a:effectLst/>
                          <a:latin typeface="Calibri" panose="020F0502020204030204" pitchFamily="34" charset="0"/>
                        </a:rPr>
                        <a:t>Nom dans la BDTOPO</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Type de valeur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Source de la donnée dans la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Description présente dans la spec de la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Exemples de valeurs possibles BDTOPO</a:t>
                      </a:r>
                    </a:p>
                  </a:txBody>
                  <a:tcPr marL="910" marR="910" marT="910" marB="436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Element Obligatoire/Optionnel BDTOPO</a:t>
                      </a:r>
                    </a:p>
                  </a:txBody>
                  <a:tcPr marL="910" marR="910" marT="910" marB="4369"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800" b="0" i="0" u="none" strike="noStrike">
                          <a:solidFill>
                            <a:srgbClr val="000000"/>
                          </a:solidFill>
                          <a:effectLst/>
                          <a:latin typeface="Calibri" panose="020F0502020204030204" pitchFamily="34" charset="0"/>
                        </a:rPr>
                        <a:t>Remarque 04/06/2025</a:t>
                      </a:r>
                    </a:p>
                  </a:txBody>
                  <a:tcPr marL="910" marR="910" marT="910" marB="4369"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087821515"/>
                  </a:ext>
                </a:extLst>
              </a:tr>
              <a:tr h="3529346">
                <a:tc>
                  <a:txBody>
                    <a:bodyPr/>
                    <a:lstStyle/>
                    <a:p>
                      <a:pPr algn="ctr" fontAlgn="ctr"/>
                      <a:r>
                        <a:rPr lang="fr-FR" sz="1200" b="0" i="0" u="none" strike="noStrike" dirty="0">
                          <a:solidFill>
                            <a:srgbClr val="000000"/>
                          </a:solidFill>
                          <a:effectLst/>
                          <a:latin typeface="Calibri" panose="020F0502020204030204" pitchFamily="34" charset="0"/>
                        </a:rPr>
                        <a:t>Gestionnaire</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dirty="0">
                          <a:solidFill>
                            <a:srgbClr val="000000"/>
                          </a:solidFill>
                          <a:effectLst/>
                          <a:latin typeface="Calibri" panose="020F0502020204030204" pitchFamily="34" charset="0"/>
                        </a:rPr>
                        <a:t>GESTION</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Liste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dirty="0">
                          <a:solidFill>
                            <a:srgbClr val="000000"/>
                          </a:solidFill>
                          <a:effectLst/>
                          <a:latin typeface="Calibri" panose="020F0502020204030204" pitchFamily="34" charset="0"/>
                        </a:rPr>
                        <a:t>Gestionnaire du tronçon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BD-Topo, Saisie contributeur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Conseil départemental / Etat / Région / Intercommunalité / Commune / ONF / Gestionnaire privé / Autre / Inconnu</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Obligatoire</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SQL/GPKG : cpx_gestionnaire</a:t>
                      </a:r>
                      <a:br>
                        <a:rPr lang="fr-FR" sz="1200" b="0" i="0" u="none" strike="noStrike">
                          <a:solidFill>
                            <a:srgbClr val="000000"/>
                          </a:solidFill>
                          <a:effectLst/>
                          <a:latin typeface="Calibri" panose="020F0502020204030204" pitchFamily="34" charset="0"/>
                        </a:rPr>
                      </a:br>
                      <a:r>
                        <a:rPr lang="fr-FR" sz="1200" b="0" i="0" u="none" strike="noStrike">
                          <a:solidFill>
                            <a:srgbClr val="000000"/>
                          </a:solidFill>
                          <a:effectLst/>
                          <a:latin typeface="Calibri" panose="020F0502020204030204" pitchFamily="34" charset="0"/>
                        </a:rPr>
                        <a:t>SHP : gestion</a:t>
                      </a:r>
                      <a:br>
                        <a:rPr lang="fr-FR" sz="1200" b="0" i="0" u="none" strike="noStrike">
                          <a:solidFill>
                            <a:srgbClr val="000000"/>
                          </a:solidFill>
                          <a:effectLst/>
                          <a:latin typeface="Calibri" panose="020F0502020204030204" pitchFamily="34" charset="0"/>
                        </a:rPr>
                      </a:br>
                      <a:r>
                        <a:rPr lang="fr-FR" sz="1200" b="0" i="0" u="none" strike="noStrike">
                          <a:solidFill>
                            <a:srgbClr val="000000"/>
                          </a:solidFill>
                          <a:effectLst/>
                          <a:latin typeface="Calibri" panose="020F0502020204030204" pitchFamily="34" charset="0"/>
                        </a:rPr>
                        <a:t>Liste de valeurs différente</a:t>
                      </a:r>
                      <a:br>
                        <a:rPr lang="fr-FR" sz="1200" b="0" i="0" u="none" strike="noStrike">
                          <a:solidFill>
                            <a:srgbClr val="000000"/>
                          </a:solidFill>
                          <a:effectLst/>
                          <a:latin typeface="Calibri" panose="020F0502020204030204" pitchFamily="34" charset="0"/>
                        </a:rPr>
                      </a:br>
                      <a:r>
                        <a:rPr lang="fr-FR" sz="1200" b="0" i="0" u="none" strike="noStrike">
                          <a:solidFill>
                            <a:srgbClr val="000000"/>
                          </a:solidFill>
                          <a:effectLst/>
                          <a:latin typeface="Calibri" panose="020F0502020204030204" pitchFamily="34" charset="0"/>
                        </a:rPr>
                        <a:t>ou SQL/GPKG : cpx_classement_administratif</a:t>
                      </a:r>
                      <a:br>
                        <a:rPr lang="fr-FR" sz="1200" b="0" i="0" u="none" strike="noStrike">
                          <a:solidFill>
                            <a:srgbClr val="000000"/>
                          </a:solidFill>
                          <a:effectLst/>
                          <a:latin typeface="Calibri" panose="020F0502020204030204" pitchFamily="34" charset="0"/>
                        </a:rPr>
                      </a:br>
                      <a:r>
                        <a:rPr lang="fr-FR" sz="1200" b="0" i="0" u="none" strike="noStrike">
                          <a:solidFill>
                            <a:srgbClr val="000000"/>
                          </a:solidFill>
                          <a:effectLst/>
                          <a:latin typeface="Calibri" panose="020F0502020204030204" pitchFamily="34" charset="0"/>
                        </a:rPr>
                        <a:t>SHP : CL_ADMIN</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Texte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BD-Topo, Saisie contributeur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Gestionnaire du tronçon issu du champ 'Gestionnaire' de l'objet Route numérotée ou nommée lié au tronçon.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DFCI_05, collectivité européenne d'Alsace, Charente-Maritime, DIR Méditerranée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Non obligatoire</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dirty="0">
                          <a:solidFill>
                            <a:srgbClr val="000000"/>
                          </a:solidFill>
                          <a:effectLst/>
                          <a:latin typeface="Calibri" panose="020F0502020204030204" pitchFamily="34" charset="0"/>
                        </a:rPr>
                        <a:t>Besoin de redéfinir ce que l'on veut dans cet élément : type de gestionnaire, cad celui qui entretien la route?</a:t>
                      </a:r>
                      <a:br>
                        <a:rPr lang="fr-FR" sz="1200" b="0" i="0" u="none" strike="noStrike" dirty="0">
                          <a:solidFill>
                            <a:srgbClr val="000000"/>
                          </a:solidFill>
                          <a:effectLst/>
                          <a:latin typeface="Calibri" panose="020F0502020204030204" pitchFamily="34" charset="0"/>
                        </a:rPr>
                      </a:br>
                      <a:br>
                        <a:rPr lang="fr-FR" sz="1200" b="0" i="0" u="none" strike="noStrike" dirty="0">
                          <a:solidFill>
                            <a:srgbClr val="000000"/>
                          </a:solidFill>
                          <a:effectLst/>
                          <a:latin typeface="Calibri" panose="020F0502020204030204" pitchFamily="34" charset="0"/>
                        </a:rPr>
                      </a:br>
                      <a:r>
                        <a:rPr lang="fr-FR" sz="1200" b="0" i="0" u="none" strike="noStrike" dirty="0">
                          <a:solidFill>
                            <a:srgbClr val="000000"/>
                          </a:solidFill>
                          <a:effectLst/>
                          <a:latin typeface="Calibri" panose="020F0502020204030204" pitchFamily="34" charset="0"/>
                        </a:rPr>
                        <a:t>On aurait 2 champs :</a:t>
                      </a:r>
                      <a:br>
                        <a:rPr lang="fr-FR" sz="1200" b="0" i="0" u="none" strike="noStrike" dirty="0">
                          <a:solidFill>
                            <a:srgbClr val="000000"/>
                          </a:solidFill>
                          <a:effectLst/>
                          <a:latin typeface="Calibri" panose="020F0502020204030204" pitchFamily="34" charset="0"/>
                        </a:rPr>
                      </a:br>
                      <a:r>
                        <a:rPr lang="fr-FR" sz="1200" b="0" i="0" u="none" strike="noStrike" dirty="0">
                          <a:solidFill>
                            <a:srgbClr val="000000"/>
                          </a:solidFill>
                          <a:effectLst/>
                          <a:latin typeface="Calibri" panose="020F0502020204030204" pitchFamily="34" charset="0"/>
                        </a:rPr>
                        <a:t>- Gestionnaire administratif (besoin + bois) : ok pour tel qu'indiqué dans BDTOPO (nom du gestionnaire) mais on le retrouve pas forcément sur les petits niveaux</a:t>
                      </a:r>
                      <a:br>
                        <a:rPr lang="fr-FR" sz="1200" b="0" i="0" u="none" strike="noStrike" dirty="0">
                          <a:solidFill>
                            <a:srgbClr val="000000"/>
                          </a:solidFill>
                          <a:effectLst/>
                          <a:latin typeface="Calibri" panose="020F0502020204030204" pitchFamily="34" charset="0"/>
                        </a:rPr>
                      </a:br>
                      <a:r>
                        <a:rPr lang="fr-FR" sz="1200" b="0" i="0" u="none" strike="noStrike" dirty="0">
                          <a:solidFill>
                            <a:srgbClr val="000000"/>
                          </a:solidFill>
                          <a:effectLst/>
                          <a:latin typeface="Calibri" panose="020F0502020204030204" pitchFamily="34" charset="0"/>
                        </a:rPr>
                        <a:t>- Gestionnaire opérationnel (besoin + DFCI) : besoin d'un champ en + qui indique celui qui fait l'entretien. Le mettre en facultatif? mettre un sans </a:t>
                      </a:r>
                      <a:r>
                        <a:rPr lang="fr-FR" sz="1200" b="0" i="0" u="none" strike="noStrike" dirty="0" err="1">
                          <a:solidFill>
                            <a:srgbClr val="000000"/>
                          </a:solidFill>
                          <a:effectLst/>
                          <a:latin typeface="Calibri" panose="020F0502020204030204" pitchFamily="34" charset="0"/>
                        </a:rPr>
                        <a:t>valeur|Inconnu|Nom</a:t>
                      </a:r>
                      <a:r>
                        <a:rPr lang="fr-FR" sz="1200" b="0" i="0" u="none" strike="noStrike" dirty="0">
                          <a:solidFill>
                            <a:srgbClr val="000000"/>
                          </a:solidFill>
                          <a:effectLst/>
                          <a:latin typeface="Calibri" panose="020F0502020204030204" pitchFamily="34" charset="0"/>
                        </a:rPr>
                        <a:t> et obligatoire?</a:t>
                      </a:r>
                      <a:br>
                        <a:rPr lang="fr-FR" sz="1200" b="0" i="0" u="none" strike="noStrike" dirty="0">
                          <a:solidFill>
                            <a:srgbClr val="000000"/>
                          </a:solidFill>
                          <a:effectLst/>
                          <a:latin typeface="Calibri" panose="020F0502020204030204" pitchFamily="34" charset="0"/>
                        </a:rPr>
                      </a:br>
                      <a:r>
                        <a:rPr lang="fr-FR" sz="1200" b="0" i="0" u="none" strike="noStrike" dirty="0">
                          <a:solidFill>
                            <a:srgbClr val="000000"/>
                          </a:solidFill>
                          <a:effectLst/>
                          <a:latin typeface="Calibri" panose="020F0502020204030204" pitchFamily="34" charset="0"/>
                        </a:rPr>
                        <a:t>-&gt; le GT a besoin de définir un exemple</a:t>
                      </a:r>
                      <a:br>
                        <a:rPr lang="fr-FR" sz="1200" b="0" i="0" u="none" strike="noStrike" dirty="0">
                          <a:solidFill>
                            <a:srgbClr val="000000"/>
                          </a:solidFill>
                          <a:effectLst/>
                          <a:latin typeface="Calibri" panose="020F0502020204030204" pitchFamily="34" charset="0"/>
                        </a:rPr>
                      </a:br>
                      <a:endParaRPr lang="fr-FR" sz="1200" b="0" i="0" u="none" strike="noStrike" dirty="0">
                        <a:solidFill>
                          <a:srgbClr val="000000"/>
                        </a:solidFill>
                        <a:effectLst/>
                        <a:latin typeface="Calibri" panose="020F0502020204030204" pitchFamily="34" charset="0"/>
                      </a:endParaRP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31236017"/>
                  </a:ext>
                </a:extLst>
              </a:tr>
            </a:tbl>
          </a:graphicData>
        </a:graphic>
      </p:graphicFrame>
    </p:spTree>
    <p:extLst>
      <p:ext uri="{BB962C8B-B14F-4D97-AF65-F5344CB8AC3E}">
        <p14:creationId xmlns:p14="http://schemas.microsoft.com/office/powerpoint/2010/main" val="3678435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17</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8. DFCI - 1</a:t>
            </a:r>
          </a:p>
          <a:p>
            <a:pPr marL="107950" indent="-107950"/>
            <a:endParaRPr lang="fr-FR" dirty="0"/>
          </a:p>
        </p:txBody>
      </p:sp>
      <p:graphicFrame>
        <p:nvGraphicFramePr>
          <p:cNvPr id="7" name="Tableau 6">
            <a:extLst>
              <a:ext uri="{FF2B5EF4-FFF2-40B4-BE49-F238E27FC236}">
                <a16:creationId xmlns:a16="http://schemas.microsoft.com/office/drawing/2014/main" id="{C9A1D8C7-97AA-47D8-8D40-67A38FB0D985}"/>
              </a:ext>
            </a:extLst>
          </p:cNvPr>
          <p:cNvGraphicFramePr>
            <a:graphicFrameLocks noGrp="1"/>
          </p:cNvGraphicFramePr>
          <p:nvPr>
            <p:extLst>
              <p:ext uri="{D42A27DB-BD31-4B8C-83A1-F6EECF244321}">
                <p14:modId xmlns:p14="http://schemas.microsoft.com/office/powerpoint/2010/main" val="3082297488"/>
              </p:ext>
            </p:extLst>
          </p:nvPr>
        </p:nvGraphicFramePr>
        <p:xfrm>
          <a:off x="0" y="808038"/>
          <a:ext cx="9144003" cy="4305248"/>
        </p:xfrm>
        <a:graphic>
          <a:graphicData uri="http://schemas.openxmlformats.org/drawingml/2006/table">
            <a:tbl>
              <a:tblPr/>
              <a:tblGrid>
                <a:gridCol w="637028">
                  <a:extLst>
                    <a:ext uri="{9D8B030D-6E8A-4147-A177-3AD203B41FA5}">
                      <a16:colId xmlns:a16="http://schemas.microsoft.com/office/drawing/2014/main" val="3028234666"/>
                    </a:ext>
                  </a:extLst>
                </a:gridCol>
                <a:gridCol w="637028">
                  <a:extLst>
                    <a:ext uri="{9D8B030D-6E8A-4147-A177-3AD203B41FA5}">
                      <a16:colId xmlns:a16="http://schemas.microsoft.com/office/drawing/2014/main" val="1177184948"/>
                    </a:ext>
                  </a:extLst>
                </a:gridCol>
                <a:gridCol w="435301">
                  <a:extLst>
                    <a:ext uri="{9D8B030D-6E8A-4147-A177-3AD203B41FA5}">
                      <a16:colId xmlns:a16="http://schemas.microsoft.com/office/drawing/2014/main" val="2196336004"/>
                    </a:ext>
                  </a:extLst>
                </a:gridCol>
                <a:gridCol w="637028">
                  <a:extLst>
                    <a:ext uri="{9D8B030D-6E8A-4147-A177-3AD203B41FA5}">
                      <a16:colId xmlns:a16="http://schemas.microsoft.com/office/drawing/2014/main" val="1337488593"/>
                    </a:ext>
                  </a:extLst>
                </a:gridCol>
                <a:gridCol w="637028">
                  <a:extLst>
                    <a:ext uri="{9D8B030D-6E8A-4147-A177-3AD203B41FA5}">
                      <a16:colId xmlns:a16="http://schemas.microsoft.com/office/drawing/2014/main" val="4219880139"/>
                    </a:ext>
                  </a:extLst>
                </a:gridCol>
                <a:gridCol w="637028">
                  <a:extLst>
                    <a:ext uri="{9D8B030D-6E8A-4147-A177-3AD203B41FA5}">
                      <a16:colId xmlns:a16="http://schemas.microsoft.com/office/drawing/2014/main" val="4120741428"/>
                    </a:ext>
                  </a:extLst>
                </a:gridCol>
                <a:gridCol w="637028">
                  <a:extLst>
                    <a:ext uri="{9D8B030D-6E8A-4147-A177-3AD203B41FA5}">
                      <a16:colId xmlns:a16="http://schemas.microsoft.com/office/drawing/2014/main" val="3854342203"/>
                    </a:ext>
                  </a:extLst>
                </a:gridCol>
                <a:gridCol w="637028">
                  <a:extLst>
                    <a:ext uri="{9D8B030D-6E8A-4147-A177-3AD203B41FA5}">
                      <a16:colId xmlns:a16="http://schemas.microsoft.com/office/drawing/2014/main" val="3059090907"/>
                    </a:ext>
                  </a:extLst>
                </a:gridCol>
                <a:gridCol w="469807">
                  <a:extLst>
                    <a:ext uri="{9D8B030D-6E8A-4147-A177-3AD203B41FA5}">
                      <a16:colId xmlns:a16="http://schemas.microsoft.com/office/drawing/2014/main" val="523139508"/>
                    </a:ext>
                  </a:extLst>
                </a:gridCol>
                <a:gridCol w="637028">
                  <a:extLst>
                    <a:ext uri="{9D8B030D-6E8A-4147-A177-3AD203B41FA5}">
                      <a16:colId xmlns:a16="http://schemas.microsoft.com/office/drawing/2014/main" val="71441790"/>
                    </a:ext>
                  </a:extLst>
                </a:gridCol>
                <a:gridCol w="637028">
                  <a:extLst>
                    <a:ext uri="{9D8B030D-6E8A-4147-A177-3AD203B41FA5}">
                      <a16:colId xmlns:a16="http://schemas.microsoft.com/office/drawing/2014/main" val="3175459444"/>
                    </a:ext>
                  </a:extLst>
                </a:gridCol>
                <a:gridCol w="637028">
                  <a:extLst>
                    <a:ext uri="{9D8B030D-6E8A-4147-A177-3AD203B41FA5}">
                      <a16:colId xmlns:a16="http://schemas.microsoft.com/office/drawing/2014/main" val="3904575878"/>
                    </a:ext>
                  </a:extLst>
                </a:gridCol>
                <a:gridCol w="1868615">
                  <a:extLst>
                    <a:ext uri="{9D8B030D-6E8A-4147-A177-3AD203B41FA5}">
                      <a16:colId xmlns:a16="http://schemas.microsoft.com/office/drawing/2014/main" val="3805146862"/>
                    </a:ext>
                  </a:extLst>
                </a:gridCol>
              </a:tblGrid>
              <a:tr h="642693">
                <a:tc>
                  <a:txBody>
                    <a:bodyPr/>
                    <a:lstStyle/>
                    <a:p>
                      <a:pPr algn="ctr" fontAlgn="ctr"/>
                      <a:r>
                        <a:rPr lang="fr-FR" sz="900" b="0" i="0" u="none" strike="noStrike" dirty="0">
                          <a:solidFill>
                            <a:srgbClr val="000000"/>
                          </a:solidFill>
                          <a:effectLst/>
                          <a:latin typeface="Calibri" panose="020F0502020204030204" pitchFamily="34" charset="0"/>
                        </a:rPr>
                        <a:t>Nom en français</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900" b="0" i="0" u="none" strike="noStrike">
                          <a:solidFill>
                            <a:srgbClr val="000000"/>
                          </a:solidFill>
                          <a:effectLst/>
                          <a:latin typeface="Calibri" panose="020F0502020204030204" pitchFamily="34" charset="0"/>
                        </a:rPr>
                        <a:t>Nom SHP dans le std boi s+ DFCI </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Description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Origine de la donnée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Element Obligatoire/Optionnel std bois +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Nom dans la BDTOPO</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Source de la donnée dans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Description présente dans la spec de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BDTOPO</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Remarque 04/06/2025</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857696742"/>
                  </a:ext>
                </a:extLst>
              </a:tr>
              <a:tr h="1085663">
                <a:tc>
                  <a:txBody>
                    <a:bodyPr/>
                    <a:lstStyle/>
                    <a:p>
                      <a:pPr algn="ctr" fontAlgn="ctr"/>
                      <a:r>
                        <a:rPr lang="fr-FR" sz="1050" b="0" i="0" u="none" strike="noStrike">
                          <a:solidFill>
                            <a:srgbClr val="000000"/>
                          </a:solidFill>
                          <a:effectLst/>
                          <a:latin typeface="Calibri" panose="020F0502020204030204" pitchFamily="34" charset="0"/>
                        </a:rPr>
                        <a:t>Gabarit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Liste</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Gabarit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Sans valeur | Poids lourd | Super poids lourd | Véhicule léger</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gabarit_dfci</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GAB_DFCI</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Liste</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Tronçon permettant ou non le passage de véhicule de taille différente</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Sans valeur | Poids lourd | Super poids lourd | Véhicule léger</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tjs d'accord?</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129884"/>
                  </a:ext>
                </a:extLst>
              </a:tr>
              <a:tr h="1236649">
                <a:tc>
                  <a:txBody>
                    <a:bodyPr/>
                    <a:lstStyle/>
                    <a:p>
                      <a:pPr algn="ctr" fontAlgn="ctr"/>
                      <a:r>
                        <a:rPr lang="fr-FR" sz="1050" b="0" i="0" u="none" strike="noStrike">
                          <a:solidFill>
                            <a:srgbClr val="000000"/>
                          </a:solidFill>
                          <a:effectLst/>
                          <a:latin typeface="Calibri" panose="020F0502020204030204" pitchFamily="34" charset="0"/>
                        </a:rPr>
                        <a:t>Impasse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Booléen</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Impasse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impasse_dfci</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IMPAS_DFCI</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Booléen</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Tronçon considéré comme une impasse selon les spécifications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tjs d'accord?</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835900"/>
                  </a:ext>
                </a:extLst>
              </a:tr>
              <a:tr h="1085663">
                <a:tc>
                  <a:txBody>
                    <a:bodyPr/>
                    <a:lstStyle/>
                    <a:p>
                      <a:pPr algn="ctr" fontAlgn="ctr"/>
                      <a:r>
                        <a:rPr lang="fr-FR" sz="1050" b="0" i="0" u="none" strike="noStrike">
                          <a:solidFill>
                            <a:srgbClr val="000000"/>
                          </a:solidFill>
                          <a:effectLst/>
                          <a:latin typeface="Calibri" panose="020F0502020204030204" pitchFamily="34" charset="0"/>
                        </a:rPr>
                        <a:t>Pente maximale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Entier</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Pente maximale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pente_maximale_dfci</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PTMAX_DFCI</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Entier</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Pente maximale du tronçon (en pourcentage).</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attribut métier DFCI, pas de question BDTOPO.</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5250638"/>
                  </a:ext>
                </a:extLst>
              </a:tr>
            </a:tbl>
          </a:graphicData>
        </a:graphic>
      </p:graphicFrame>
    </p:spTree>
    <p:extLst>
      <p:ext uri="{BB962C8B-B14F-4D97-AF65-F5344CB8AC3E}">
        <p14:creationId xmlns:p14="http://schemas.microsoft.com/office/powerpoint/2010/main" val="2360392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18</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8. DFCI - 2</a:t>
            </a:r>
          </a:p>
          <a:p>
            <a:pPr marL="107950" indent="-107950"/>
            <a:endParaRPr lang="fr-FR" dirty="0"/>
          </a:p>
        </p:txBody>
      </p:sp>
      <p:graphicFrame>
        <p:nvGraphicFramePr>
          <p:cNvPr id="7" name="Tableau 6">
            <a:extLst>
              <a:ext uri="{FF2B5EF4-FFF2-40B4-BE49-F238E27FC236}">
                <a16:creationId xmlns:a16="http://schemas.microsoft.com/office/drawing/2014/main" id="{C9A1D8C7-97AA-47D8-8D40-67A38FB0D985}"/>
              </a:ext>
            </a:extLst>
          </p:cNvPr>
          <p:cNvGraphicFramePr>
            <a:graphicFrameLocks noGrp="1"/>
          </p:cNvGraphicFramePr>
          <p:nvPr>
            <p:extLst>
              <p:ext uri="{D42A27DB-BD31-4B8C-83A1-F6EECF244321}">
                <p14:modId xmlns:p14="http://schemas.microsoft.com/office/powerpoint/2010/main" val="2207537595"/>
              </p:ext>
            </p:extLst>
          </p:nvPr>
        </p:nvGraphicFramePr>
        <p:xfrm>
          <a:off x="0" y="808038"/>
          <a:ext cx="9144003" cy="3442626"/>
        </p:xfrm>
        <a:graphic>
          <a:graphicData uri="http://schemas.openxmlformats.org/drawingml/2006/table">
            <a:tbl>
              <a:tblPr/>
              <a:tblGrid>
                <a:gridCol w="637028">
                  <a:extLst>
                    <a:ext uri="{9D8B030D-6E8A-4147-A177-3AD203B41FA5}">
                      <a16:colId xmlns:a16="http://schemas.microsoft.com/office/drawing/2014/main" val="3028234666"/>
                    </a:ext>
                  </a:extLst>
                </a:gridCol>
                <a:gridCol w="637028">
                  <a:extLst>
                    <a:ext uri="{9D8B030D-6E8A-4147-A177-3AD203B41FA5}">
                      <a16:colId xmlns:a16="http://schemas.microsoft.com/office/drawing/2014/main" val="1177184948"/>
                    </a:ext>
                  </a:extLst>
                </a:gridCol>
                <a:gridCol w="435301">
                  <a:extLst>
                    <a:ext uri="{9D8B030D-6E8A-4147-A177-3AD203B41FA5}">
                      <a16:colId xmlns:a16="http://schemas.microsoft.com/office/drawing/2014/main" val="2196336004"/>
                    </a:ext>
                  </a:extLst>
                </a:gridCol>
                <a:gridCol w="637028">
                  <a:extLst>
                    <a:ext uri="{9D8B030D-6E8A-4147-A177-3AD203B41FA5}">
                      <a16:colId xmlns:a16="http://schemas.microsoft.com/office/drawing/2014/main" val="1337488593"/>
                    </a:ext>
                  </a:extLst>
                </a:gridCol>
                <a:gridCol w="637028">
                  <a:extLst>
                    <a:ext uri="{9D8B030D-6E8A-4147-A177-3AD203B41FA5}">
                      <a16:colId xmlns:a16="http://schemas.microsoft.com/office/drawing/2014/main" val="4219880139"/>
                    </a:ext>
                  </a:extLst>
                </a:gridCol>
                <a:gridCol w="637028">
                  <a:extLst>
                    <a:ext uri="{9D8B030D-6E8A-4147-A177-3AD203B41FA5}">
                      <a16:colId xmlns:a16="http://schemas.microsoft.com/office/drawing/2014/main" val="4120741428"/>
                    </a:ext>
                  </a:extLst>
                </a:gridCol>
                <a:gridCol w="637028">
                  <a:extLst>
                    <a:ext uri="{9D8B030D-6E8A-4147-A177-3AD203B41FA5}">
                      <a16:colId xmlns:a16="http://schemas.microsoft.com/office/drawing/2014/main" val="3854342203"/>
                    </a:ext>
                  </a:extLst>
                </a:gridCol>
                <a:gridCol w="637028">
                  <a:extLst>
                    <a:ext uri="{9D8B030D-6E8A-4147-A177-3AD203B41FA5}">
                      <a16:colId xmlns:a16="http://schemas.microsoft.com/office/drawing/2014/main" val="3059090907"/>
                    </a:ext>
                  </a:extLst>
                </a:gridCol>
                <a:gridCol w="469807">
                  <a:extLst>
                    <a:ext uri="{9D8B030D-6E8A-4147-A177-3AD203B41FA5}">
                      <a16:colId xmlns:a16="http://schemas.microsoft.com/office/drawing/2014/main" val="523139508"/>
                    </a:ext>
                  </a:extLst>
                </a:gridCol>
                <a:gridCol w="637028">
                  <a:extLst>
                    <a:ext uri="{9D8B030D-6E8A-4147-A177-3AD203B41FA5}">
                      <a16:colId xmlns:a16="http://schemas.microsoft.com/office/drawing/2014/main" val="71441790"/>
                    </a:ext>
                  </a:extLst>
                </a:gridCol>
                <a:gridCol w="637028">
                  <a:extLst>
                    <a:ext uri="{9D8B030D-6E8A-4147-A177-3AD203B41FA5}">
                      <a16:colId xmlns:a16="http://schemas.microsoft.com/office/drawing/2014/main" val="3175459444"/>
                    </a:ext>
                  </a:extLst>
                </a:gridCol>
                <a:gridCol w="637028">
                  <a:extLst>
                    <a:ext uri="{9D8B030D-6E8A-4147-A177-3AD203B41FA5}">
                      <a16:colId xmlns:a16="http://schemas.microsoft.com/office/drawing/2014/main" val="3904575878"/>
                    </a:ext>
                  </a:extLst>
                </a:gridCol>
                <a:gridCol w="1868615">
                  <a:extLst>
                    <a:ext uri="{9D8B030D-6E8A-4147-A177-3AD203B41FA5}">
                      <a16:colId xmlns:a16="http://schemas.microsoft.com/office/drawing/2014/main" val="3805146862"/>
                    </a:ext>
                  </a:extLst>
                </a:gridCol>
              </a:tblGrid>
              <a:tr h="642693">
                <a:tc>
                  <a:txBody>
                    <a:bodyPr/>
                    <a:lstStyle/>
                    <a:p>
                      <a:pPr algn="ctr" fontAlgn="ctr"/>
                      <a:r>
                        <a:rPr lang="fr-FR" sz="900" b="0" i="0" u="none" strike="noStrike" dirty="0">
                          <a:solidFill>
                            <a:srgbClr val="000000"/>
                          </a:solidFill>
                          <a:effectLst/>
                          <a:latin typeface="Calibri" panose="020F0502020204030204" pitchFamily="34" charset="0"/>
                        </a:rPr>
                        <a:t>Nom en français</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900" b="0" i="0" u="none" strike="noStrike">
                          <a:solidFill>
                            <a:srgbClr val="000000"/>
                          </a:solidFill>
                          <a:effectLst/>
                          <a:latin typeface="Calibri" panose="020F0502020204030204" pitchFamily="34" charset="0"/>
                        </a:rPr>
                        <a:t>Nom SHP dans le std boi s+ DFCI </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Description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Origine de la donnée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Element Obligatoire/Optionnel std bois +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Nom dans la BDTOPO</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Source de la donnée dans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Description présente dans la spec de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BDTOPO</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Remarque 04/06/2025</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857696742"/>
                  </a:ext>
                </a:extLst>
              </a:tr>
              <a:tr h="1085663">
                <a:tc>
                  <a:txBody>
                    <a:bodyPr/>
                    <a:lstStyle/>
                    <a:p>
                      <a:pPr algn="ctr" fontAlgn="ctr"/>
                      <a:r>
                        <a:rPr lang="fr-FR" sz="1050" b="0" i="0" u="none" strike="noStrike">
                          <a:solidFill>
                            <a:srgbClr val="000000"/>
                          </a:solidFill>
                          <a:effectLst/>
                          <a:latin typeface="Calibri" panose="020F0502020204030204" pitchFamily="34" charset="0"/>
                        </a:rPr>
                        <a:t>Piste DFCI fossés</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Liste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Piste DFCI fossés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Sans valeur | Aucun | Fossé à droite | Fossé à gauche | Fossés à droite et à gauche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piste_dfci_fosses</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DFCI_FOSSE</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Booléen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Tronçon bordé ou non d'un fossé à sa droite et ou à sa gauche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Sans valeur | Aucun | Fossé à droite | Fossé à gauche | Fossés à droite et à gauche</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attribut métier DFCI, pas de question BDTOPO.</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En BDTOPO on été privilégié des valeurs "en français" plutôt que des codes, pour faciliter l'utilisation des données.</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129884"/>
                  </a:ext>
                </a:extLst>
              </a:tr>
              <a:tr h="1236649">
                <a:tc>
                  <a:txBody>
                    <a:bodyPr/>
                    <a:lstStyle/>
                    <a:p>
                      <a:pPr algn="ctr" fontAlgn="ctr"/>
                      <a:r>
                        <a:rPr lang="fr-FR" sz="1050" b="0" i="0" u="none" strike="noStrike">
                          <a:solidFill>
                            <a:srgbClr val="000000"/>
                          </a:solidFill>
                          <a:effectLst/>
                          <a:latin typeface="Calibri" panose="020F0502020204030204" pitchFamily="34" charset="0"/>
                        </a:rPr>
                        <a:t>Vitesse moyenne DFCI</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Entier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Vitesse moyenne DFCI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vitesse_moyenne_dfci</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VIT_DFCI</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Entier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Vitesse moyenne pour les véhicules DFCI.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dirty="0">
                        <a:solidFill>
                          <a:srgbClr val="000000"/>
                        </a:solidFill>
                        <a:effectLst/>
                        <a:latin typeface="Calibri" panose="020F0502020204030204" pitchFamily="34" charset="0"/>
                      </a:endParaRP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835900"/>
                  </a:ext>
                </a:extLst>
              </a:tr>
            </a:tbl>
          </a:graphicData>
        </a:graphic>
      </p:graphicFrame>
    </p:spTree>
    <p:extLst>
      <p:ext uri="{BB962C8B-B14F-4D97-AF65-F5344CB8AC3E}">
        <p14:creationId xmlns:p14="http://schemas.microsoft.com/office/powerpoint/2010/main" val="4081037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19</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8. DFCI - 3</a:t>
            </a:r>
          </a:p>
          <a:p>
            <a:pPr marL="107950" indent="-107950"/>
            <a:endParaRPr lang="fr-FR" dirty="0"/>
          </a:p>
        </p:txBody>
      </p:sp>
      <p:graphicFrame>
        <p:nvGraphicFramePr>
          <p:cNvPr id="7" name="Tableau 6">
            <a:extLst>
              <a:ext uri="{FF2B5EF4-FFF2-40B4-BE49-F238E27FC236}">
                <a16:creationId xmlns:a16="http://schemas.microsoft.com/office/drawing/2014/main" id="{C9A1D8C7-97AA-47D8-8D40-67A38FB0D985}"/>
              </a:ext>
            </a:extLst>
          </p:cNvPr>
          <p:cNvGraphicFramePr>
            <a:graphicFrameLocks noGrp="1"/>
          </p:cNvGraphicFramePr>
          <p:nvPr>
            <p:extLst>
              <p:ext uri="{D42A27DB-BD31-4B8C-83A1-F6EECF244321}">
                <p14:modId xmlns:p14="http://schemas.microsoft.com/office/powerpoint/2010/main" val="3414992225"/>
              </p:ext>
            </p:extLst>
          </p:nvPr>
        </p:nvGraphicFramePr>
        <p:xfrm>
          <a:off x="0" y="808038"/>
          <a:ext cx="9144003" cy="2686037"/>
        </p:xfrm>
        <a:graphic>
          <a:graphicData uri="http://schemas.openxmlformats.org/drawingml/2006/table">
            <a:tbl>
              <a:tblPr/>
              <a:tblGrid>
                <a:gridCol w="637028">
                  <a:extLst>
                    <a:ext uri="{9D8B030D-6E8A-4147-A177-3AD203B41FA5}">
                      <a16:colId xmlns:a16="http://schemas.microsoft.com/office/drawing/2014/main" val="3028234666"/>
                    </a:ext>
                  </a:extLst>
                </a:gridCol>
                <a:gridCol w="637028">
                  <a:extLst>
                    <a:ext uri="{9D8B030D-6E8A-4147-A177-3AD203B41FA5}">
                      <a16:colId xmlns:a16="http://schemas.microsoft.com/office/drawing/2014/main" val="1177184948"/>
                    </a:ext>
                  </a:extLst>
                </a:gridCol>
                <a:gridCol w="435301">
                  <a:extLst>
                    <a:ext uri="{9D8B030D-6E8A-4147-A177-3AD203B41FA5}">
                      <a16:colId xmlns:a16="http://schemas.microsoft.com/office/drawing/2014/main" val="2196336004"/>
                    </a:ext>
                  </a:extLst>
                </a:gridCol>
                <a:gridCol w="637028">
                  <a:extLst>
                    <a:ext uri="{9D8B030D-6E8A-4147-A177-3AD203B41FA5}">
                      <a16:colId xmlns:a16="http://schemas.microsoft.com/office/drawing/2014/main" val="1337488593"/>
                    </a:ext>
                  </a:extLst>
                </a:gridCol>
                <a:gridCol w="637028">
                  <a:extLst>
                    <a:ext uri="{9D8B030D-6E8A-4147-A177-3AD203B41FA5}">
                      <a16:colId xmlns:a16="http://schemas.microsoft.com/office/drawing/2014/main" val="4219880139"/>
                    </a:ext>
                  </a:extLst>
                </a:gridCol>
                <a:gridCol w="637028">
                  <a:extLst>
                    <a:ext uri="{9D8B030D-6E8A-4147-A177-3AD203B41FA5}">
                      <a16:colId xmlns:a16="http://schemas.microsoft.com/office/drawing/2014/main" val="4120741428"/>
                    </a:ext>
                  </a:extLst>
                </a:gridCol>
                <a:gridCol w="637028">
                  <a:extLst>
                    <a:ext uri="{9D8B030D-6E8A-4147-A177-3AD203B41FA5}">
                      <a16:colId xmlns:a16="http://schemas.microsoft.com/office/drawing/2014/main" val="3854342203"/>
                    </a:ext>
                  </a:extLst>
                </a:gridCol>
                <a:gridCol w="637028">
                  <a:extLst>
                    <a:ext uri="{9D8B030D-6E8A-4147-A177-3AD203B41FA5}">
                      <a16:colId xmlns:a16="http://schemas.microsoft.com/office/drawing/2014/main" val="3059090907"/>
                    </a:ext>
                  </a:extLst>
                </a:gridCol>
                <a:gridCol w="328134">
                  <a:extLst>
                    <a:ext uri="{9D8B030D-6E8A-4147-A177-3AD203B41FA5}">
                      <a16:colId xmlns:a16="http://schemas.microsoft.com/office/drawing/2014/main" val="523139508"/>
                    </a:ext>
                  </a:extLst>
                </a:gridCol>
                <a:gridCol w="413238">
                  <a:extLst>
                    <a:ext uri="{9D8B030D-6E8A-4147-A177-3AD203B41FA5}">
                      <a16:colId xmlns:a16="http://schemas.microsoft.com/office/drawing/2014/main" val="71441790"/>
                    </a:ext>
                  </a:extLst>
                </a:gridCol>
                <a:gridCol w="1595069">
                  <a:extLst>
                    <a:ext uri="{9D8B030D-6E8A-4147-A177-3AD203B41FA5}">
                      <a16:colId xmlns:a16="http://schemas.microsoft.com/office/drawing/2014/main" val="3175459444"/>
                    </a:ext>
                  </a:extLst>
                </a:gridCol>
                <a:gridCol w="1429485">
                  <a:extLst>
                    <a:ext uri="{9D8B030D-6E8A-4147-A177-3AD203B41FA5}">
                      <a16:colId xmlns:a16="http://schemas.microsoft.com/office/drawing/2014/main" val="3904575878"/>
                    </a:ext>
                  </a:extLst>
                </a:gridCol>
                <a:gridCol w="483580">
                  <a:extLst>
                    <a:ext uri="{9D8B030D-6E8A-4147-A177-3AD203B41FA5}">
                      <a16:colId xmlns:a16="http://schemas.microsoft.com/office/drawing/2014/main" val="3805146862"/>
                    </a:ext>
                  </a:extLst>
                </a:gridCol>
              </a:tblGrid>
              <a:tr h="642693">
                <a:tc>
                  <a:txBody>
                    <a:bodyPr/>
                    <a:lstStyle/>
                    <a:p>
                      <a:pPr algn="ctr" fontAlgn="ctr"/>
                      <a:r>
                        <a:rPr lang="fr-FR" sz="900" b="0" i="0" u="none" strike="noStrike" dirty="0">
                          <a:solidFill>
                            <a:srgbClr val="000000"/>
                          </a:solidFill>
                          <a:effectLst/>
                          <a:latin typeface="Calibri" panose="020F0502020204030204" pitchFamily="34" charset="0"/>
                        </a:rPr>
                        <a:t>Nom en français</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900" b="0" i="0" u="none" strike="noStrike" dirty="0">
                          <a:solidFill>
                            <a:srgbClr val="000000"/>
                          </a:solidFill>
                          <a:effectLst/>
                          <a:latin typeface="Calibri" panose="020F0502020204030204" pitchFamily="34" charset="0"/>
                        </a:rPr>
                        <a:t>Nom SHP dans le std </a:t>
                      </a:r>
                      <a:r>
                        <a:rPr lang="fr-FR" sz="900" b="0" i="0" u="none" strike="noStrike" dirty="0" err="1">
                          <a:solidFill>
                            <a:srgbClr val="000000"/>
                          </a:solidFill>
                          <a:effectLst/>
                          <a:latin typeface="Calibri" panose="020F0502020204030204" pitchFamily="34" charset="0"/>
                        </a:rPr>
                        <a:t>boi</a:t>
                      </a:r>
                      <a:r>
                        <a:rPr lang="fr-FR" sz="900" b="0" i="0" u="none" strike="noStrike" dirty="0">
                          <a:solidFill>
                            <a:srgbClr val="000000"/>
                          </a:solidFill>
                          <a:effectLst/>
                          <a:latin typeface="Calibri" panose="020F0502020204030204" pitchFamily="34" charset="0"/>
                        </a:rPr>
                        <a:t> s+ DFCI </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Description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Origine de la donnée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Element Obligatoire/Optionnel std bois +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Nom dans la BDTOPO</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Source de la donnée dans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Description présente dans la spec de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BDTOPO</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Remarque 04/06/2025</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857696742"/>
                  </a:ext>
                </a:extLst>
              </a:tr>
              <a:tr h="1085663">
                <a:tc>
                  <a:txBody>
                    <a:bodyPr/>
                    <a:lstStyle/>
                    <a:p>
                      <a:pPr algn="ctr" fontAlgn="ctr"/>
                      <a:r>
                        <a:rPr lang="fr-FR" sz="1050" b="0" i="0" u="none" strike="noStrike" dirty="0">
                          <a:solidFill>
                            <a:srgbClr val="000000"/>
                          </a:solidFill>
                          <a:effectLst/>
                          <a:latin typeface="Calibri" panose="020F0502020204030204" pitchFamily="34" charset="0"/>
                        </a:rPr>
                        <a:t>Catégorie DFCI</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a:solidFill>
                          <a:srgbClr val="000000"/>
                        </a:solidFill>
                        <a:effectLst/>
                        <a:latin typeface="Calibri" panose="020F0502020204030204" pitchFamily="34" charset="0"/>
                      </a:endParaRP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Liste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Catégorie DFCI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dirty="0">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Sans valeur | 1ère catégorie | 2ème catégorie | 3ème catégorie | Hors catégorie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dirty="0">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SQL/GPKG : categorie_dfci</a:t>
                      </a:r>
                      <a:br>
                        <a:rPr lang="fr-FR" sz="1050" b="0" i="0" u="none" strike="noStrike">
                          <a:solidFill>
                            <a:srgbClr val="000000"/>
                          </a:solidFill>
                          <a:effectLst/>
                          <a:latin typeface="Calibri" panose="020F0502020204030204" pitchFamily="34" charset="0"/>
                        </a:rPr>
                      </a:br>
                      <a:r>
                        <a:rPr lang="fr-FR" sz="1050" b="0" i="0" u="none" strike="noStrike">
                          <a:solidFill>
                            <a:srgbClr val="000000"/>
                          </a:solidFill>
                          <a:effectLst/>
                          <a:latin typeface="Calibri" panose="020F0502020204030204" pitchFamily="34" charset="0"/>
                        </a:rPr>
                        <a:t>SHP : CAT_DFCI</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a:solidFill>
                            <a:srgbClr val="000000"/>
                          </a:solidFill>
                          <a:effectLst/>
                          <a:latin typeface="Calibri" panose="020F0502020204030204" pitchFamily="34" charset="0"/>
                        </a:rPr>
                        <a:t>Liste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dirty="0">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Classification des possibilités de circulation des groupes d’intervention feux de forêt sur le réseau de voirie utilisable pour la DFCI (</a:t>
                      </a:r>
                      <a:r>
                        <a:rPr lang="fr-FR" sz="1050" b="0" i="0" u="none" strike="noStrike" dirty="0" err="1">
                          <a:solidFill>
                            <a:srgbClr val="000000"/>
                          </a:solidFill>
                          <a:effectLst/>
                          <a:latin typeface="Calibri" panose="020F0502020204030204" pitchFamily="34" charset="0"/>
                        </a:rPr>
                        <a:t>Défence</a:t>
                      </a:r>
                      <a:r>
                        <a:rPr lang="fr-FR" sz="1050" b="0" i="0" u="none" strike="noStrike" dirty="0">
                          <a:solidFill>
                            <a:srgbClr val="000000"/>
                          </a:solidFill>
                          <a:effectLst/>
                          <a:latin typeface="Calibri" panose="020F0502020204030204" pitchFamily="34" charset="0"/>
                        </a:rPr>
                        <a:t> des forêts contre les incendies). La catégorie est attribuée par tronçon en fonction de la fréquence des zones de croisement, des aires de retournement et de la présence d’impasses.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50" b="0" i="0" u="none" strike="noStrike" dirty="0">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50" b="0" i="0" u="none" strike="noStrike" dirty="0">
                          <a:solidFill>
                            <a:srgbClr val="000000"/>
                          </a:solidFill>
                          <a:effectLst/>
                          <a:latin typeface="Calibri" panose="020F0502020204030204" pitchFamily="34" charset="0"/>
                        </a:rPr>
                        <a:t>-</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129884"/>
                  </a:ext>
                </a:extLst>
              </a:tr>
            </a:tbl>
          </a:graphicData>
        </a:graphic>
      </p:graphicFrame>
    </p:spTree>
    <p:extLst>
      <p:ext uri="{BB962C8B-B14F-4D97-AF65-F5344CB8AC3E}">
        <p14:creationId xmlns:p14="http://schemas.microsoft.com/office/powerpoint/2010/main" val="3635026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20</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9. Autre</a:t>
            </a:r>
          </a:p>
          <a:p>
            <a:pPr marL="107950" indent="-107950"/>
            <a:endParaRPr lang="fr-FR" dirty="0"/>
          </a:p>
        </p:txBody>
      </p:sp>
      <p:graphicFrame>
        <p:nvGraphicFramePr>
          <p:cNvPr id="7" name="Tableau 6">
            <a:extLst>
              <a:ext uri="{FF2B5EF4-FFF2-40B4-BE49-F238E27FC236}">
                <a16:creationId xmlns:a16="http://schemas.microsoft.com/office/drawing/2014/main" id="{C9A1D8C7-97AA-47D8-8D40-67A38FB0D985}"/>
              </a:ext>
            </a:extLst>
          </p:cNvPr>
          <p:cNvGraphicFramePr>
            <a:graphicFrameLocks noGrp="1"/>
          </p:cNvGraphicFramePr>
          <p:nvPr>
            <p:extLst>
              <p:ext uri="{D42A27DB-BD31-4B8C-83A1-F6EECF244321}">
                <p14:modId xmlns:p14="http://schemas.microsoft.com/office/powerpoint/2010/main" val="528767417"/>
              </p:ext>
            </p:extLst>
          </p:nvPr>
        </p:nvGraphicFramePr>
        <p:xfrm>
          <a:off x="0" y="808038"/>
          <a:ext cx="9144003" cy="2594597"/>
        </p:xfrm>
        <a:graphic>
          <a:graphicData uri="http://schemas.openxmlformats.org/drawingml/2006/table">
            <a:tbl>
              <a:tblPr/>
              <a:tblGrid>
                <a:gridCol w="637028">
                  <a:extLst>
                    <a:ext uri="{9D8B030D-6E8A-4147-A177-3AD203B41FA5}">
                      <a16:colId xmlns:a16="http://schemas.microsoft.com/office/drawing/2014/main" val="3028234666"/>
                    </a:ext>
                  </a:extLst>
                </a:gridCol>
                <a:gridCol w="637028">
                  <a:extLst>
                    <a:ext uri="{9D8B030D-6E8A-4147-A177-3AD203B41FA5}">
                      <a16:colId xmlns:a16="http://schemas.microsoft.com/office/drawing/2014/main" val="1177184948"/>
                    </a:ext>
                  </a:extLst>
                </a:gridCol>
                <a:gridCol w="435301">
                  <a:extLst>
                    <a:ext uri="{9D8B030D-6E8A-4147-A177-3AD203B41FA5}">
                      <a16:colId xmlns:a16="http://schemas.microsoft.com/office/drawing/2014/main" val="2196336004"/>
                    </a:ext>
                  </a:extLst>
                </a:gridCol>
                <a:gridCol w="637028">
                  <a:extLst>
                    <a:ext uri="{9D8B030D-6E8A-4147-A177-3AD203B41FA5}">
                      <a16:colId xmlns:a16="http://schemas.microsoft.com/office/drawing/2014/main" val="1337488593"/>
                    </a:ext>
                  </a:extLst>
                </a:gridCol>
                <a:gridCol w="637028">
                  <a:extLst>
                    <a:ext uri="{9D8B030D-6E8A-4147-A177-3AD203B41FA5}">
                      <a16:colId xmlns:a16="http://schemas.microsoft.com/office/drawing/2014/main" val="4219880139"/>
                    </a:ext>
                  </a:extLst>
                </a:gridCol>
                <a:gridCol w="637028">
                  <a:extLst>
                    <a:ext uri="{9D8B030D-6E8A-4147-A177-3AD203B41FA5}">
                      <a16:colId xmlns:a16="http://schemas.microsoft.com/office/drawing/2014/main" val="4120741428"/>
                    </a:ext>
                  </a:extLst>
                </a:gridCol>
                <a:gridCol w="637028">
                  <a:extLst>
                    <a:ext uri="{9D8B030D-6E8A-4147-A177-3AD203B41FA5}">
                      <a16:colId xmlns:a16="http://schemas.microsoft.com/office/drawing/2014/main" val="3854342203"/>
                    </a:ext>
                  </a:extLst>
                </a:gridCol>
                <a:gridCol w="637028">
                  <a:extLst>
                    <a:ext uri="{9D8B030D-6E8A-4147-A177-3AD203B41FA5}">
                      <a16:colId xmlns:a16="http://schemas.microsoft.com/office/drawing/2014/main" val="3059090907"/>
                    </a:ext>
                  </a:extLst>
                </a:gridCol>
                <a:gridCol w="469807">
                  <a:extLst>
                    <a:ext uri="{9D8B030D-6E8A-4147-A177-3AD203B41FA5}">
                      <a16:colId xmlns:a16="http://schemas.microsoft.com/office/drawing/2014/main" val="523139508"/>
                    </a:ext>
                  </a:extLst>
                </a:gridCol>
                <a:gridCol w="637028">
                  <a:extLst>
                    <a:ext uri="{9D8B030D-6E8A-4147-A177-3AD203B41FA5}">
                      <a16:colId xmlns:a16="http://schemas.microsoft.com/office/drawing/2014/main" val="71441790"/>
                    </a:ext>
                  </a:extLst>
                </a:gridCol>
                <a:gridCol w="637028">
                  <a:extLst>
                    <a:ext uri="{9D8B030D-6E8A-4147-A177-3AD203B41FA5}">
                      <a16:colId xmlns:a16="http://schemas.microsoft.com/office/drawing/2014/main" val="3175459444"/>
                    </a:ext>
                  </a:extLst>
                </a:gridCol>
                <a:gridCol w="637028">
                  <a:extLst>
                    <a:ext uri="{9D8B030D-6E8A-4147-A177-3AD203B41FA5}">
                      <a16:colId xmlns:a16="http://schemas.microsoft.com/office/drawing/2014/main" val="3904575878"/>
                    </a:ext>
                  </a:extLst>
                </a:gridCol>
                <a:gridCol w="1868615">
                  <a:extLst>
                    <a:ext uri="{9D8B030D-6E8A-4147-A177-3AD203B41FA5}">
                      <a16:colId xmlns:a16="http://schemas.microsoft.com/office/drawing/2014/main" val="3805146862"/>
                    </a:ext>
                  </a:extLst>
                </a:gridCol>
              </a:tblGrid>
              <a:tr h="642693">
                <a:tc>
                  <a:txBody>
                    <a:bodyPr/>
                    <a:lstStyle/>
                    <a:p>
                      <a:pPr algn="ctr" fontAlgn="ctr"/>
                      <a:r>
                        <a:rPr lang="fr-FR" sz="900" b="0" i="0" u="none" strike="noStrike" dirty="0">
                          <a:solidFill>
                            <a:srgbClr val="000000"/>
                          </a:solidFill>
                          <a:effectLst/>
                          <a:latin typeface="Calibri" panose="020F0502020204030204" pitchFamily="34" charset="0"/>
                        </a:rPr>
                        <a:t>Nom en français</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900" b="0" i="0" u="none" strike="noStrike">
                          <a:solidFill>
                            <a:srgbClr val="000000"/>
                          </a:solidFill>
                          <a:effectLst/>
                          <a:latin typeface="Calibri" panose="020F0502020204030204" pitchFamily="34" charset="0"/>
                        </a:rPr>
                        <a:t>Nom SHP dans le std boi s+ DFCI </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Description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Origine de la donnée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std bois + DFCI</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Element Obligatoire/Optionnel std bois + DFCI</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900" b="0" i="0" u="none" strike="noStrike">
                          <a:solidFill>
                            <a:srgbClr val="000000"/>
                          </a:solidFill>
                          <a:effectLst/>
                          <a:latin typeface="Calibri" panose="020F0502020204030204" pitchFamily="34" charset="0"/>
                        </a:rPr>
                        <a:t>Nom dans la BDTOPO</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Type de valeur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a:solidFill>
                            <a:srgbClr val="000000"/>
                          </a:solidFill>
                          <a:effectLst/>
                          <a:latin typeface="Calibri" panose="020F0502020204030204" pitchFamily="34" charset="0"/>
                        </a:rPr>
                        <a:t>Source de la donnée dans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Description présente dans la spec de la BDTOPO</a:t>
                      </a:r>
                    </a:p>
                  </a:txBody>
                  <a:tcPr marL="4268" marR="4268" marT="4268" marB="2048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Exemples de valeurs possibles BDTOPO</a:t>
                      </a:r>
                    </a:p>
                  </a:txBody>
                  <a:tcPr marL="4268" marR="4268" marT="4268" marB="2048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900" b="0" i="0" u="none" strike="noStrike" dirty="0">
                          <a:solidFill>
                            <a:srgbClr val="000000"/>
                          </a:solidFill>
                          <a:effectLst/>
                          <a:latin typeface="Calibri" panose="020F0502020204030204" pitchFamily="34" charset="0"/>
                        </a:rPr>
                        <a:t>Remarque 04/06/2025</a:t>
                      </a:r>
                    </a:p>
                  </a:txBody>
                  <a:tcPr marL="4268" marR="4268" marT="4268" marB="2048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857696742"/>
                  </a:ext>
                </a:extLst>
              </a:tr>
              <a:tr h="1085663">
                <a:tc>
                  <a:txBody>
                    <a:bodyPr/>
                    <a:lstStyle/>
                    <a:p>
                      <a:pPr algn="ctr" fontAlgn="ctr"/>
                      <a:r>
                        <a:rPr lang="fr-FR" sz="1200" b="0" i="0" u="none" strike="noStrike">
                          <a:solidFill>
                            <a:srgbClr val="000000"/>
                          </a:solidFill>
                          <a:effectLst/>
                          <a:latin typeface="Calibri" panose="020F0502020204030204" pitchFamily="34" charset="0"/>
                        </a:rPr>
                        <a:t>Sens de circulation DFCI</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200" b="0" i="0" u="none" strike="noStrike">
                        <a:solidFill>
                          <a:srgbClr val="000000"/>
                        </a:solidFill>
                        <a:effectLst/>
                        <a:latin typeface="Calibri" panose="020F0502020204030204" pitchFamily="34" charset="0"/>
                      </a:endParaRP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20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Sens de circulation DFCI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20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Sans valeur | Double sens | Sens direct | Sens inverse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20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SQL/GPKG : sens_de_circulation_dfci</a:t>
                      </a:r>
                      <a:br>
                        <a:rPr lang="fr-FR" sz="1200" b="0" i="0" u="none" strike="noStrike">
                          <a:solidFill>
                            <a:srgbClr val="000000"/>
                          </a:solidFill>
                          <a:effectLst/>
                          <a:latin typeface="Calibri" panose="020F0502020204030204" pitchFamily="34" charset="0"/>
                        </a:rPr>
                      </a:br>
                      <a:r>
                        <a:rPr lang="fr-FR" sz="1200" b="0" i="0" u="none" strike="noStrike">
                          <a:solidFill>
                            <a:srgbClr val="000000"/>
                          </a:solidFill>
                          <a:effectLst/>
                          <a:latin typeface="Calibri" panose="020F0502020204030204" pitchFamily="34" charset="0"/>
                        </a:rPr>
                        <a:t>SHP : SENS_DFCI</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Liste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200" b="0" i="0" u="none" strike="noStrike">
                        <a:solidFill>
                          <a:srgbClr val="000000"/>
                        </a:solidFill>
                        <a:effectLst/>
                        <a:latin typeface="Calibri" panose="020F0502020204030204" pitchFamily="34" charset="0"/>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Sens de circulation pour les véhicules DFCI, dans le sens de numérisation de l'objet.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a:solidFill>
                            <a:srgbClr val="000000"/>
                          </a:solidFill>
                          <a:effectLst/>
                          <a:latin typeface="Calibri" panose="020F0502020204030204" pitchFamily="34" charset="0"/>
                        </a:rPr>
                        <a:t>Sans valeur | Double sens | Sens direct | Sens inverse</a:t>
                      </a:r>
                    </a:p>
                  </a:txBody>
                  <a:tcPr marL="9525" marR="9525" marT="9525"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200" b="0" i="0" u="none" strike="noStrike" dirty="0">
                          <a:solidFill>
                            <a:srgbClr val="000000"/>
                          </a:solidFill>
                          <a:effectLst/>
                          <a:latin typeface="Calibri" panose="020F0502020204030204" pitchFamily="34" charset="0"/>
                        </a:rPr>
                        <a:t>nécessaire ? L'attribut Sens de circulation de la BDTOPO n'est pas suffisant ou différent ? https://bdtopoexplorer.ign.fr/?id_theme=72&amp;id_classe=77#attribute_561</a:t>
                      </a:r>
                    </a:p>
                  </a:txBody>
                  <a:tcPr marL="9525" marR="9525" marT="9525"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129884"/>
                  </a:ext>
                </a:extLst>
              </a:tr>
            </a:tbl>
          </a:graphicData>
        </a:graphic>
      </p:graphicFrame>
    </p:spTree>
    <p:extLst>
      <p:ext uri="{BB962C8B-B14F-4D97-AF65-F5344CB8AC3E}">
        <p14:creationId xmlns:p14="http://schemas.microsoft.com/office/powerpoint/2010/main" val="1889148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327856-9D19-42FC-B302-147DEBEE4FBD}"/>
              </a:ext>
            </a:extLst>
          </p:cNvPr>
          <p:cNvSpPr>
            <a:spLocks noGrp="1"/>
          </p:cNvSpPr>
          <p:nvPr>
            <p:ph type="dt" sz="half" idx="10"/>
          </p:nvPr>
        </p:nvSpPr>
        <p:spPr/>
        <p:txBody>
          <a:bodyPr/>
          <a:lstStyle/>
          <a:p>
            <a:pPr algn="r"/>
            <a:r>
              <a:rPr lang="fr-FR" cap="all"/>
              <a:t>04/06/2025</a:t>
            </a:r>
          </a:p>
        </p:txBody>
      </p:sp>
      <p:sp>
        <p:nvSpPr>
          <p:cNvPr id="5" name="Espace réservé du pied de page 4">
            <a:extLst>
              <a:ext uri="{FF2B5EF4-FFF2-40B4-BE49-F238E27FC236}">
                <a16:creationId xmlns:a16="http://schemas.microsoft.com/office/drawing/2014/main" id="{12868900-EE89-4C19-A528-550BE7659973}"/>
              </a:ext>
            </a:extLst>
          </p:cNvPr>
          <p:cNvSpPr>
            <a:spLocks noGrp="1"/>
          </p:cNvSpPr>
          <p:nvPr>
            <p:ph type="ftr" sz="quarter" idx="11"/>
          </p:nvPr>
        </p:nvSpPr>
        <p:spPr/>
        <p:txBody>
          <a:bodyPr/>
          <a:lstStyle/>
          <a:p>
            <a:r>
              <a:rPr lang="fr-FR"/>
              <a:t>Institut national de l’information  géographique et forestière</a:t>
            </a:r>
          </a:p>
        </p:txBody>
      </p:sp>
      <p:sp>
        <p:nvSpPr>
          <p:cNvPr id="6" name="Espace réservé du numéro de diapositive 5">
            <a:extLst>
              <a:ext uri="{FF2B5EF4-FFF2-40B4-BE49-F238E27FC236}">
                <a16:creationId xmlns:a16="http://schemas.microsoft.com/office/drawing/2014/main" id="{FC936020-CB3B-4053-B084-023C9F76184D}"/>
              </a:ext>
            </a:extLst>
          </p:cNvPr>
          <p:cNvSpPr>
            <a:spLocks noGrp="1"/>
          </p:cNvSpPr>
          <p:nvPr>
            <p:ph type="sldNum" sz="quarter" idx="12"/>
          </p:nvPr>
        </p:nvSpPr>
        <p:spPr/>
        <p:txBody>
          <a:bodyPr/>
          <a:lstStyle/>
          <a:p>
            <a:fld id="{733122C9-A0B9-462F-8757-0847AD287B63}" type="slidenum">
              <a:rPr lang="fr-FR" smtClean="0"/>
              <a:pPr/>
              <a:t>21</a:t>
            </a:fld>
            <a:endParaRPr lang="fr-FR"/>
          </a:p>
        </p:txBody>
      </p:sp>
      <p:sp>
        <p:nvSpPr>
          <p:cNvPr id="12" name="Espace réservé du texte 7">
            <a:extLst>
              <a:ext uri="{FF2B5EF4-FFF2-40B4-BE49-F238E27FC236}">
                <a16:creationId xmlns:a16="http://schemas.microsoft.com/office/drawing/2014/main" id="{4E215E73-BCB0-4CBB-93A5-7C7AF26B59D4}"/>
              </a:ext>
            </a:extLst>
          </p:cNvPr>
          <p:cNvSpPr>
            <a:spLocks noGrp="1"/>
          </p:cNvSpPr>
          <p:nvPr>
            <p:ph type="body" sz="quarter" idx="13"/>
          </p:nvPr>
        </p:nvSpPr>
        <p:spPr>
          <a:xfrm>
            <a:off x="2944607" y="180000"/>
            <a:ext cx="5929201" cy="360000"/>
          </a:xfrm>
        </p:spPr>
        <p:txBody>
          <a:bodyPr/>
          <a:lstStyle/>
          <a:p>
            <a:pPr marL="0" indent="0">
              <a:buNone/>
            </a:pPr>
            <a:r>
              <a:rPr lang="fr-FR" sz="2600" b="0" dirty="0"/>
              <a:t>9. Equipement</a:t>
            </a:r>
          </a:p>
          <a:p>
            <a:pPr marL="107950" indent="-107950"/>
            <a:endParaRPr lang="fr-FR" dirty="0"/>
          </a:p>
        </p:txBody>
      </p:sp>
      <p:graphicFrame>
        <p:nvGraphicFramePr>
          <p:cNvPr id="8" name="Tableau 7">
            <a:extLst>
              <a:ext uri="{FF2B5EF4-FFF2-40B4-BE49-F238E27FC236}">
                <a16:creationId xmlns:a16="http://schemas.microsoft.com/office/drawing/2014/main" id="{8A4BF66F-44B6-476D-87C6-6567BFCA969A}"/>
              </a:ext>
            </a:extLst>
          </p:cNvPr>
          <p:cNvGraphicFramePr>
            <a:graphicFrameLocks noGrp="1"/>
          </p:cNvGraphicFramePr>
          <p:nvPr>
            <p:extLst>
              <p:ext uri="{D42A27DB-BD31-4B8C-83A1-F6EECF244321}">
                <p14:modId xmlns:p14="http://schemas.microsoft.com/office/powerpoint/2010/main" val="4112923584"/>
              </p:ext>
            </p:extLst>
          </p:nvPr>
        </p:nvGraphicFramePr>
        <p:xfrm>
          <a:off x="-9455" y="799246"/>
          <a:ext cx="9153453" cy="4840751"/>
        </p:xfrm>
        <a:graphic>
          <a:graphicData uri="http://schemas.openxmlformats.org/drawingml/2006/table">
            <a:tbl>
              <a:tblPr/>
              <a:tblGrid>
                <a:gridCol w="596154">
                  <a:extLst>
                    <a:ext uri="{9D8B030D-6E8A-4147-A177-3AD203B41FA5}">
                      <a16:colId xmlns:a16="http://schemas.microsoft.com/office/drawing/2014/main" val="2343644089"/>
                    </a:ext>
                  </a:extLst>
                </a:gridCol>
                <a:gridCol w="596154">
                  <a:extLst>
                    <a:ext uri="{9D8B030D-6E8A-4147-A177-3AD203B41FA5}">
                      <a16:colId xmlns:a16="http://schemas.microsoft.com/office/drawing/2014/main" val="2656945519"/>
                    </a:ext>
                  </a:extLst>
                </a:gridCol>
                <a:gridCol w="407373">
                  <a:extLst>
                    <a:ext uri="{9D8B030D-6E8A-4147-A177-3AD203B41FA5}">
                      <a16:colId xmlns:a16="http://schemas.microsoft.com/office/drawing/2014/main" val="43941366"/>
                    </a:ext>
                  </a:extLst>
                </a:gridCol>
                <a:gridCol w="596154">
                  <a:extLst>
                    <a:ext uri="{9D8B030D-6E8A-4147-A177-3AD203B41FA5}">
                      <a16:colId xmlns:a16="http://schemas.microsoft.com/office/drawing/2014/main" val="2351477818"/>
                    </a:ext>
                  </a:extLst>
                </a:gridCol>
                <a:gridCol w="596154">
                  <a:extLst>
                    <a:ext uri="{9D8B030D-6E8A-4147-A177-3AD203B41FA5}">
                      <a16:colId xmlns:a16="http://schemas.microsoft.com/office/drawing/2014/main" val="2424221607"/>
                    </a:ext>
                  </a:extLst>
                </a:gridCol>
                <a:gridCol w="596154">
                  <a:extLst>
                    <a:ext uri="{9D8B030D-6E8A-4147-A177-3AD203B41FA5}">
                      <a16:colId xmlns:a16="http://schemas.microsoft.com/office/drawing/2014/main" val="2710218640"/>
                    </a:ext>
                  </a:extLst>
                </a:gridCol>
                <a:gridCol w="596154">
                  <a:extLst>
                    <a:ext uri="{9D8B030D-6E8A-4147-A177-3AD203B41FA5}">
                      <a16:colId xmlns:a16="http://schemas.microsoft.com/office/drawing/2014/main" val="1689018680"/>
                    </a:ext>
                  </a:extLst>
                </a:gridCol>
                <a:gridCol w="596154">
                  <a:extLst>
                    <a:ext uri="{9D8B030D-6E8A-4147-A177-3AD203B41FA5}">
                      <a16:colId xmlns:a16="http://schemas.microsoft.com/office/drawing/2014/main" val="851722486"/>
                    </a:ext>
                  </a:extLst>
                </a:gridCol>
                <a:gridCol w="439664">
                  <a:extLst>
                    <a:ext uri="{9D8B030D-6E8A-4147-A177-3AD203B41FA5}">
                      <a16:colId xmlns:a16="http://schemas.microsoft.com/office/drawing/2014/main" val="3127080627"/>
                    </a:ext>
                  </a:extLst>
                </a:gridCol>
                <a:gridCol w="596154">
                  <a:extLst>
                    <a:ext uri="{9D8B030D-6E8A-4147-A177-3AD203B41FA5}">
                      <a16:colId xmlns:a16="http://schemas.microsoft.com/office/drawing/2014/main" val="455512602"/>
                    </a:ext>
                  </a:extLst>
                </a:gridCol>
                <a:gridCol w="596154">
                  <a:extLst>
                    <a:ext uri="{9D8B030D-6E8A-4147-A177-3AD203B41FA5}">
                      <a16:colId xmlns:a16="http://schemas.microsoft.com/office/drawing/2014/main" val="2534739683"/>
                    </a:ext>
                  </a:extLst>
                </a:gridCol>
                <a:gridCol w="596154">
                  <a:extLst>
                    <a:ext uri="{9D8B030D-6E8A-4147-A177-3AD203B41FA5}">
                      <a16:colId xmlns:a16="http://schemas.microsoft.com/office/drawing/2014/main" val="3418023778"/>
                    </a:ext>
                  </a:extLst>
                </a:gridCol>
                <a:gridCol w="596154">
                  <a:extLst>
                    <a:ext uri="{9D8B030D-6E8A-4147-A177-3AD203B41FA5}">
                      <a16:colId xmlns:a16="http://schemas.microsoft.com/office/drawing/2014/main" val="2256370524"/>
                    </a:ext>
                  </a:extLst>
                </a:gridCol>
                <a:gridCol w="1748722">
                  <a:extLst>
                    <a:ext uri="{9D8B030D-6E8A-4147-A177-3AD203B41FA5}">
                      <a16:colId xmlns:a16="http://schemas.microsoft.com/office/drawing/2014/main" val="160799025"/>
                    </a:ext>
                  </a:extLst>
                </a:gridCol>
              </a:tblGrid>
              <a:tr h="813365">
                <a:tc>
                  <a:txBody>
                    <a:bodyPr/>
                    <a:lstStyle/>
                    <a:p>
                      <a:pPr algn="ctr" fontAlgn="ctr"/>
                      <a:r>
                        <a:rPr lang="fr-FR" sz="1000" b="0" i="0" u="none" strike="noStrike">
                          <a:solidFill>
                            <a:srgbClr val="000000"/>
                          </a:solidFill>
                          <a:effectLst/>
                          <a:latin typeface="Calibri" panose="020F0502020204030204" pitchFamily="34" charset="0"/>
                        </a:rPr>
                        <a:t>Nom en français</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fr-FR" sz="1000" b="0" i="0" u="none" strike="noStrike">
                          <a:solidFill>
                            <a:srgbClr val="000000"/>
                          </a:solidFill>
                          <a:effectLst/>
                          <a:latin typeface="Calibri" panose="020F0502020204030204" pitchFamily="34" charset="0"/>
                        </a:rPr>
                        <a:t>Nom SHP dans le std boi s+ DFCI </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Type de valeur std bois +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Description std bois  +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Origine de la donnée std bois +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Exemples de valeurs possibles std bois +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Element Obligatoire/Optionnel std bois + DFCI</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fr-FR" sz="1000" b="0" i="0" u="none" strike="noStrike">
                          <a:solidFill>
                            <a:srgbClr val="000000"/>
                          </a:solidFill>
                          <a:effectLst/>
                          <a:latin typeface="Calibri" panose="020F0502020204030204" pitchFamily="34" charset="0"/>
                        </a:rPr>
                        <a:t>Nom dans la BDTOPO</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Type de valeur BDTOPO</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Source de la donnée dans la BDTOPO</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Description présente dans la spec de la BDTOPO</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Exemples de valeurs possibles BDTOPO</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Element Obligatoire/Optionnel BDTOPO</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FR" sz="1000" b="0" i="0" u="none" strike="noStrike">
                          <a:solidFill>
                            <a:srgbClr val="000000"/>
                          </a:solidFill>
                          <a:effectLst/>
                          <a:latin typeface="Calibri" panose="020F0502020204030204" pitchFamily="34" charset="0"/>
                        </a:rPr>
                        <a:t>Remarque 04/06/2025</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3424925917"/>
                  </a:ext>
                </a:extLst>
              </a:tr>
              <a:tr h="1084487">
                <a:tc>
                  <a:txBody>
                    <a:bodyPr/>
                    <a:lstStyle/>
                    <a:p>
                      <a:pPr algn="ctr" fontAlgn="ctr"/>
                      <a:r>
                        <a:rPr lang="fr-FR" sz="1000" b="0" i="0" u="none" strike="noStrike">
                          <a:solidFill>
                            <a:srgbClr val="000000"/>
                          </a:solidFill>
                          <a:effectLst/>
                          <a:latin typeface="Calibri" panose="020F0502020204030204" pitchFamily="34" charset="0"/>
                        </a:rPr>
                        <a:t>Aire de retournement DFCI</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Aire de retournement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Sans valeur | Aucune | Au moins une aire | Plusieurs aires</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SQL/GPKG : aire_de_retournement_dfci</a:t>
                      </a:r>
                      <a:br>
                        <a:rPr lang="fr-FR" sz="1000" b="0" i="0" u="none" strike="noStrike">
                          <a:solidFill>
                            <a:srgbClr val="000000"/>
                          </a:solidFill>
                          <a:effectLst/>
                          <a:latin typeface="Calibri" panose="020F0502020204030204" pitchFamily="34" charset="0"/>
                        </a:rPr>
                      </a:br>
                      <a:r>
                        <a:rPr lang="fr-FR" sz="1000" b="0" i="0" u="none" strike="noStrike">
                          <a:solidFill>
                            <a:srgbClr val="000000"/>
                          </a:solidFill>
                          <a:effectLst/>
                          <a:latin typeface="Calibri" panose="020F0502020204030204" pitchFamily="34" charset="0"/>
                        </a:rPr>
                        <a:t>SHP : RETOURDFCI</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Présence ou absence d'un moins une aire de retournement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Sans valeur | Au moins une aire | Aucune | Plusieurs aires</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Non obligatoire</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élément à mettre plutôt dans la table équipement?</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77137397"/>
                  </a:ext>
                </a:extLst>
              </a:tr>
              <a:tr h="1084487">
                <a:tc>
                  <a:txBody>
                    <a:bodyPr/>
                    <a:lstStyle/>
                    <a:p>
                      <a:pPr algn="ctr" fontAlgn="ctr"/>
                      <a:r>
                        <a:rPr lang="fr-FR" sz="1000" b="0" i="0" u="none" strike="noStrike">
                          <a:solidFill>
                            <a:srgbClr val="000000"/>
                          </a:solidFill>
                          <a:effectLst/>
                          <a:latin typeface="Calibri" panose="020F0502020204030204" pitchFamily="34" charset="0"/>
                        </a:rPr>
                        <a:t>Ouvrage d'art limitant DFCI</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Ouvrage d'art limitant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SQL/GPKG : ouvrage_d_art_limitant_dfci</a:t>
                      </a:r>
                      <a:br>
                        <a:rPr lang="fr-FR" sz="1000" b="0" i="0" u="none" strike="noStrike">
                          <a:solidFill>
                            <a:srgbClr val="000000"/>
                          </a:solidFill>
                          <a:effectLst/>
                          <a:latin typeface="Calibri" panose="020F0502020204030204" pitchFamily="34" charset="0"/>
                        </a:rPr>
                      </a:br>
                      <a:r>
                        <a:rPr lang="fr-FR" sz="1000" b="0" i="0" u="none" strike="noStrike">
                          <a:solidFill>
                            <a:srgbClr val="000000"/>
                          </a:solidFill>
                          <a:effectLst/>
                          <a:latin typeface="Calibri" panose="020F0502020204030204" pitchFamily="34" charset="0"/>
                        </a:rPr>
                        <a:t>SHP : OALIM_DFCI</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Booléen</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Tronçon contenant un ouvrage limitant selon les spécifications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Non obligatoire</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élément à mettre plutôt dans la table équipement?</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14434023"/>
                  </a:ext>
                </a:extLst>
              </a:tr>
              <a:tr h="1361915">
                <a:tc>
                  <a:txBody>
                    <a:bodyPr/>
                    <a:lstStyle/>
                    <a:p>
                      <a:pPr algn="ctr" fontAlgn="ctr"/>
                      <a:r>
                        <a:rPr lang="fr-FR" sz="1000" b="0" i="0" u="none" strike="noStrike">
                          <a:solidFill>
                            <a:srgbClr val="000000"/>
                          </a:solidFill>
                          <a:effectLst/>
                          <a:latin typeface="Calibri" panose="020F0502020204030204" pitchFamily="34" charset="0"/>
                        </a:rPr>
                        <a:t>Zone de croisement DFCI</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Zone de croisement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Sans valeur | Aucune | Au moins une zone | Plusieurs zones</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SQL/GPKG : </a:t>
                      </a:r>
                      <a:br>
                        <a:rPr lang="fr-FR" sz="1000" b="0" i="0" u="none" strike="noStrike">
                          <a:solidFill>
                            <a:srgbClr val="000000"/>
                          </a:solidFill>
                          <a:effectLst/>
                          <a:latin typeface="Calibri" panose="020F0502020204030204" pitchFamily="34" charset="0"/>
                        </a:rPr>
                      </a:br>
                      <a:r>
                        <a:rPr lang="fr-FR" sz="1000" b="0" i="0" u="none" strike="noStrike">
                          <a:solidFill>
                            <a:srgbClr val="000000"/>
                          </a:solidFill>
                          <a:effectLst/>
                          <a:latin typeface="Calibri" panose="020F0502020204030204" pitchFamily="34" charset="0"/>
                        </a:rPr>
                        <a:t>SHP : CROIS_DFCI</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Liste</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fr-FR" sz="1000" b="0" i="0" u="none" strike="noStrike">
                        <a:solidFill>
                          <a:srgbClr val="000000"/>
                        </a:solidFill>
                        <a:effectLst/>
                        <a:latin typeface="Calibri" panose="020F0502020204030204" pitchFamily="34" charset="0"/>
                      </a:endParaRP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tronçon contenant ou pas une ou plusieurs zones de croisement selon les spécifications DFCI.</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Sans valeur | Au moins une zone | Aucune | Plusieurs zones</a:t>
                      </a:r>
                    </a:p>
                  </a:txBody>
                  <a:tcPr marL="3735" marR="3735" marT="3735" marB="1792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a:solidFill>
                            <a:srgbClr val="000000"/>
                          </a:solidFill>
                          <a:effectLst/>
                          <a:latin typeface="Calibri" panose="020F0502020204030204" pitchFamily="34" charset="0"/>
                        </a:rPr>
                        <a:t>Non obligatoire</a:t>
                      </a:r>
                    </a:p>
                  </a:txBody>
                  <a:tcPr marL="3735" marR="3735" marT="3735" marB="17927"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000" b="0" i="0" u="none" strike="noStrike" dirty="0">
                          <a:solidFill>
                            <a:srgbClr val="000000"/>
                          </a:solidFill>
                          <a:effectLst/>
                          <a:latin typeface="Calibri" panose="020F0502020204030204" pitchFamily="34" charset="0"/>
                        </a:rPr>
                        <a:t>- élément à mettre plutôt dans la table équipement?</a:t>
                      </a:r>
                      <a:br>
                        <a:rPr lang="fr-FR" sz="1000" b="0" i="0" u="none" strike="noStrike" dirty="0">
                          <a:solidFill>
                            <a:srgbClr val="000000"/>
                          </a:solidFill>
                          <a:effectLst/>
                          <a:latin typeface="Calibri" panose="020F0502020204030204" pitchFamily="34" charset="0"/>
                        </a:rPr>
                      </a:br>
                      <a:br>
                        <a:rPr lang="fr-FR" sz="1000" b="0" i="0" u="none" strike="noStrike" dirty="0">
                          <a:solidFill>
                            <a:srgbClr val="000000"/>
                          </a:solidFill>
                          <a:effectLst/>
                          <a:latin typeface="Calibri" panose="020F0502020204030204" pitchFamily="34" charset="0"/>
                        </a:rPr>
                      </a:br>
                      <a:r>
                        <a:rPr lang="fr-FR" sz="1000" b="0" i="0" u="none" strike="noStrike" dirty="0">
                          <a:solidFill>
                            <a:srgbClr val="000000"/>
                          </a:solidFill>
                          <a:effectLst/>
                          <a:latin typeface="Calibri" panose="020F0502020204030204" pitchFamily="34" charset="0"/>
                        </a:rPr>
                        <a:t>- ponctuel aire de croisements dans standard bois</a:t>
                      </a:r>
                    </a:p>
                  </a:txBody>
                  <a:tcPr marL="3735" marR="3735" marT="3735" marB="17927"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20037618"/>
                  </a:ext>
                </a:extLst>
              </a:tr>
            </a:tbl>
          </a:graphicData>
        </a:graphic>
      </p:graphicFrame>
    </p:spTree>
    <p:extLst>
      <p:ext uri="{BB962C8B-B14F-4D97-AF65-F5344CB8AC3E}">
        <p14:creationId xmlns:p14="http://schemas.microsoft.com/office/powerpoint/2010/main" val="2887134427"/>
      </p:ext>
    </p:extLst>
  </p:cSld>
  <p:clrMapOvr>
    <a:masterClrMapping/>
  </p:clrMapOvr>
</p:sld>
</file>

<file path=ppt/theme/theme1.xml><?xml version="1.0" encoding="utf-8"?>
<a:theme xmlns:a="http://schemas.openxmlformats.org/drawingml/2006/main" name="ppt_operateurs_marianne">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AA600EF525E845A794782CB692D6B7" ma:contentTypeVersion="10" ma:contentTypeDescription="Crée un document." ma:contentTypeScope="" ma:versionID="f3108455c181cfe97f8bcaca529baa4b">
  <xsd:schema xmlns:xsd="http://www.w3.org/2001/XMLSchema" xmlns:xs="http://www.w3.org/2001/XMLSchema" xmlns:p="http://schemas.microsoft.com/office/2006/metadata/properties" xmlns:ns2="4d568f87-b25f-475a-a26b-5a1bcde8677b" xmlns:ns3="a486f84b-88b9-4459-bbe1-3ce207c7425f" targetNamespace="http://schemas.microsoft.com/office/2006/metadata/properties" ma:root="true" ma:fieldsID="b0d91f42a17a717c0951ffb4a6166412" ns2:_="" ns3:_="">
    <xsd:import namespace="4d568f87-b25f-475a-a26b-5a1bcde8677b"/>
    <xsd:import namespace="a486f84b-88b9-4459-bbe1-3ce207c7425f"/>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SearchPropertie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68f87-b25f-475a-a26b-5a1bcde867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763f9de7-cc90-4eb3-be2e-7de001983ea7"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486f84b-88b9-4459-bbe1-3ce207c7425f"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bee0ccfe-4488-482a-93ce-8802051c9c2f}" ma:internalName="TaxCatchAll" ma:showField="CatchAllData" ma:web="a486f84b-88b9-4459-bbe1-3ce207c742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d568f87-b25f-475a-a26b-5a1bcde8677b">
      <Terms xmlns="http://schemas.microsoft.com/office/infopath/2007/PartnerControls"/>
    </lcf76f155ced4ddcb4097134ff3c332f>
    <TaxCatchAll xmlns="a486f84b-88b9-4459-bbe1-3ce207c7425f" xsi:nil="true"/>
  </documentManagement>
</p:properties>
</file>

<file path=customXml/itemProps1.xml><?xml version="1.0" encoding="utf-8"?>
<ds:datastoreItem xmlns:ds="http://schemas.openxmlformats.org/officeDocument/2006/customXml" ds:itemID="{CA477A47-1286-4B71-9FAA-ADCCF488E6EA}">
  <ds:schemaRefs>
    <ds:schemaRef ds:uri="http://schemas.microsoft.com/sharepoint/v3/contenttype/forms"/>
  </ds:schemaRefs>
</ds:datastoreItem>
</file>

<file path=customXml/itemProps2.xml><?xml version="1.0" encoding="utf-8"?>
<ds:datastoreItem xmlns:ds="http://schemas.openxmlformats.org/officeDocument/2006/customXml" ds:itemID="{02968B76-4CED-4E81-8CA3-EB48D127D8E4}">
  <ds:schemaRefs>
    <ds:schemaRef ds:uri="4d568f87-b25f-475a-a26b-5a1bcde8677b"/>
    <ds:schemaRef ds:uri="a486f84b-88b9-4459-bbe1-3ce207c742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BDB2173-9F22-45AA-85BF-1E19B2861E2B}">
  <ds:schemaRefs>
    <ds:schemaRef ds:uri="http://schemas.microsoft.com/office/2006/metadata/properties"/>
    <ds:schemaRef ds:uri="http://purl.org/dc/dcmitype/"/>
    <ds:schemaRef ds:uri="a486f84b-88b9-4459-bbe1-3ce207c7425f"/>
    <ds:schemaRef ds:uri="http://schemas.microsoft.com/office/infopath/2007/PartnerControls"/>
    <ds:schemaRef ds:uri="http://schemas.microsoft.com/office/2006/documentManagement/types"/>
    <ds:schemaRef ds:uri="http://schemas.openxmlformats.org/package/2006/metadata/core-properties"/>
    <ds:schemaRef ds:uri="http://purl.org/dc/elements/1.1/"/>
    <ds:schemaRef ds:uri="4d568f87-b25f-475a-a26b-5a1bcde8677b"/>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ppt_operateurs_marianne</Template>
  <TotalTime>2345</TotalTime>
  <Words>3932</Words>
  <Application>Microsoft Office PowerPoint</Application>
  <PresentationFormat>Affichage à l'écran (16:9)</PresentationFormat>
  <Paragraphs>566</Paragraphs>
  <Slides>21</Slides>
  <Notes>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Marianne</vt:lpstr>
      <vt:lpstr>ppt_operateurs_marianne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Client</Manager>
  <Company>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Client</dc:subject>
  <dc:creator>Karine Courtes</dc:creator>
  <cp:lastModifiedBy>Marion Lacroix</cp:lastModifiedBy>
  <cp:revision>438</cp:revision>
  <cp:lastPrinted>2023-10-12T08:02:14Z</cp:lastPrinted>
  <dcterms:created xsi:type="dcterms:W3CDTF">2020-10-20T13:20:24Z</dcterms:created>
  <dcterms:modified xsi:type="dcterms:W3CDTF">2025-06-04T15:31:41Z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0x01010054AA600EF525E845A794782CB692D6B7</vt:lpwstr>
  </property>
  <property fmtid="{D5CDD505-2E9C-101B-9397-08002B2CF9AE}" pid="3" name="MediaServiceImageTags">
    <vt:lpwstr/>
  </property>
</Properties>
</file>