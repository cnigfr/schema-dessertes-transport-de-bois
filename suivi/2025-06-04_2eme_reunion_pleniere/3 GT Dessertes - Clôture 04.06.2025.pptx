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9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21"/>
  </p:notesMasterIdLst>
  <p:handoutMasterIdLst>
    <p:handoutMasterId r:id="rId22"/>
  </p:handoutMasterIdLst>
  <p:sldIdLst>
    <p:sldId id="732" r:id="rId14"/>
    <p:sldId id="761" r:id="rId15"/>
    <p:sldId id="762" r:id="rId16"/>
    <p:sldId id="739" r:id="rId17"/>
    <p:sldId id="749" r:id="rId18"/>
    <p:sldId id="755" r:id="rId19"/>
    <p:sldId id="757" r:id="rId20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FD"/>
    <a:srgbClr val="C3C3FC"/>
    <a:srgbClr val="79E9B3"/>
    <a:srgbClr val="8FACFF"/>
    <a:srgbClr val="D4F2F6"/>
    <a:srgbClr val="FD8087"/>
    <a:srgbClr val="996633"/>
    <a:srgbClr val="C00000"/>
    <a:srgbClr val="820000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33"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e l'en-tête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</p:spTree>
    <p:extLst>
      <p:ext uri="{BB962C8B-B14F-4D97-AF65-F5344CB8AC3E}">
        <p14:creationId xmlns:p14="http://schemas.microsoft.com/office/powerpoint/2010/main" val="1712142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353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33"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e l'en-tête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</p:spTree>
    <p:extLst>
      <p:ext uri="{BB962C8B-B14F-4D97-AF65-F5344CB8AC3E}">
        <p14:creationId xmlns:p14="http://schemas.microsoft.com/office/powerpoint/2010/main" val="2552361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220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19/05/2021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19/05/2021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19/05/2021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19/05/2021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19/05/2021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4D51C-3F0E-42D0-8106-15D3A2B37E1D}" type="datetime1"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pPr>
                <a:defRPr/>
              </a:pPr>
              <a:t>03/06/2025</a:t>
            </a:fld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3BB7-0317-42D1-A653-F25EDCBFBA3C}" type="datetime1"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pPr>
                <a:defRPr/>
              </a:pPr>
              <a:t>03/06/2025</a:t>
            </a:fld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23/05/2019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 ft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19/05/2021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1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nig.gouv.fr/gt-dessertes-pour-les-transports-de-bois-a18535.html#H_Reunions" TargetMode="External"/><Relationship Id="rId5" Type="http://schemas.openxmlformats.org/officeDocument/2006/relationships/hyperlink" Target="https://github.com/cnigfr/schema-dessertes-transport-de-bois" TargetMode="External"/><Relationship Id="rId4" Type="http://schemas.openxmlformats.org/officeDocument/2006/relationships/image" Target="../media/image2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2" y="322055"/>
            <a:ext cx="2175029" cy="1669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569647" y="3083858"/>
            <a:ext cx="9880639" cy="274208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solidFill>
                  <a:srgbClr val="55453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GT </a:t>
            </a:r>
            <a:r>
              <a:rPr lang="fr-FR" sz="3200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CNIG</a:t>
            </a:r>
            <a:endParaRPr kumimoji="0" lang="fr-FR" sz="32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32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r" defTabSz="914400">
              <a:spcBef>
                <a:spcPts val="1000"/>
              </a:spcBef>
              <a:defRPr/>
            </a:pPr>
            <a:r>
              <a:rPr lang="fr-FR" sz="3200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Conclusion de la journée et poursuite</a:t>
            </a:r>
            <a:endParaRPr lang="fr-FR" dirty="0"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300" b="0" i="0" u="none" strike="noStrike" kern="1200" cap="all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300" b="0" i="0" u="none" strike="noStrike" kern="1200" cap="all" spc="0" normalizeH="0" baseline="0" noProof="0" dirty="0">
                <a:ln>
                  <a:noFill/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04/06/2025</a:t>
            </a:r>
            <a:endParaRPr lang="fr-FR" sz="2000" b="0" dirty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8BCD97-9F6D-4AAF-B243-ACDF4EC3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1" y="431424"/>
            <a:ext cx="2520652" cy="1344119"/>
          </a:xfrm>
          <a:prstGeom prst="rect">
            <a:avLst/>
          </a:prstGeom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000" y="306480"/>
            <a:ext cx="1333354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1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0618237" y="3079880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30E16-0A21-4825-A5BC-1B8BCAF83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491" y="380833"/>
            <a:ext cx="2336582" cy="130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00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08054"/>
            <a:ext cx="8402113" cy="7694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1219170"/>
            <a:r>
              <a:rPr lang="fr-FR" sz="4400" b="1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Conclusion et poursuite</a:t>
            </a:r>
            <a:endParaRPr lang="fr-FR" sz="4400" b="1" dirty="0">
              <a:solidFill>
                <a:srgbClr val="554538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2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4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714A1A8-B7C5-499F-852C-B84D047A4AC2}"/>
              </a:ext>
            </a:extLst>
          </p:cNvPr>
          <p:cNvSpPr txBox="1">
            <a:spLocks/>
          </p:cNvSpPr>
          <p:nvPr/>
        </p:nvSpPr>
        <p:spPr>
          <a:xfrm>
            <a:off x="359784" y="228894"/>
            <a:ext cx="10800001" cy="42559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55453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800" dirty="0"/>
              <a:t>Nouveau nom du standard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69FAED-8303-451D-94F5-545F75C236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9784" y="1496291"/>
            <a:ext cx="11662887" cy="4657104"/>
          </a:xfrm>
        </p:spPr>
        <p:txBody>
          <a:bodyPr/>
          <a:lstStyle/>
          <a:p>
            <a:pPr lvl="1" algn="just"/>
            <a:r>
              <a:rPr lang="fr-FR" sz="1600" dirty="0"/>
              <a:t>Propositions :</a:t>
            </a:r>
          </a:p>
          <a:p>
            <a:pPr lvl="1" algn="just"/>
            <a:endParaRPr lang="fr-FR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4A1C7EF-F3E4-4414-BD0D-76CAC5361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191" y="2612571"/>
            <a:ext cx="1831157" cy="1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9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864" y="348630"/>
            <a:ext cx="11662887" cy="151121"/>
          </a:xfrm>
        </p:spPr>
        <p:txBody>
          <a:bodyPr lIns="91440" tIns="45720" rIns="91440" bIns="45720" anchor="ctr"/>
          <a:lstStyle/>
          <a:p>
            <a:r>
              <a:rPr lang="fr-FR" dirty="0">
                <a:latin typeface="Calibri"/>
                <a:ea typeface="Calibri"/>
                <a:cs typeface="Calibri"/>
              </a:rPr>
              <a:t>Rappel – Programme de la journée</a:t>
            </a:r>
            <a:endParaRPr lang="fr-FR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690F5F7-3DCE-4B5B-812C-0636CF2AC060}"/>
              </a:ext>
            </a:extLst>
          </p:cNvPr>
          <p:cNvSpPr>
            <a:spLocks noGrp="1"/>
          </p:cNvSpPr>
          <p:nvPr/>
        </p:nvSpPr>
        <p:spPr>
          <a:xfrm>
            <a:off x="237047" y="1044299"/>
            <a:ext cx="11289293" cy="52117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2000" b="0" dirty="0">
                <a:solidFill>
                  <a:schemeClr val="tx1"/>
                </a:solidFill>
                <a:latin typeface="Marianne" panose="02000000000000000000" pitchFamily="50" charset="0"/>
                <a:ea typeface="Calibri"/>
                <a:cs typeface="Arial"/>
              </a:rPr>
              <a:t>Linéaires - Tronçons</a:t>
            </a:r>
            <a:endParaRPr lang="en-US" sz="2000" b="0" dirty="0">
              <a:solidFill>
                <a:schemeClr val="tx1"/>
              </a:solidFill>
              <a:latin typeface="Marianne" panose="02000000000000000000" pitchFamily="50" charset="0"/>
              <a:ea typeface="Calibri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fr-FR" sz="1800" b="0" dirty="0">
              <a:solidFill>
                <a:schemeClr val="tx1"/>
              </a:solidFill>
              <a:latin typeface="Marianne" panose="02000000000000000000" pitchFamily="50" charset="0"/>
              <a:ea typeface="Calibri" panose="020F0502020204030204"/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1800" b="0" dirty="0">
                <a:solidFill>
                  <a:schemeClr val="tx1"/>
                </a:solidFill>
                <a:latin typeface="Marianne" panose="02000000000000000000" pitchFamily="50" charset="0"/>
                <a:ea typeface="Calibri" panose="020F0502020204030204"/>
                <a:cs typeface="Arial"/>
              </a:rPr>
              <a:t>Ponctuels</a:t>
            </a:r>
            <a:endParaRPr lang="en-US" sz="1800" b="0" dirty="0">
              <a:solidFill>
                <a:schemeClr val="tx1"/>
              </a:solidFill>
              <a:latin typeface="Marianne" panose="02000000000000000000" pitchFamily="50" charset="0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Marianne" panose="02000000000000000000" pitchFamily="50" charset="0"/>
                <a:ea typeface="Calibri" panose="020F0502020204030204"/>
                <a:cs typeface="Arial"/>
              </a:rPr>
              <a:t>Equipement – 13 attributs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Marianne" panose="02000000000000000000" pitchFamily="50" charset="0"/>
                <a:ea typeface="Calibri" panose="020F0502020204030204"/>
                <a:cs typeface="Arial"/>
              </a:rPr>
              <a:t>Contrainte - 21 attributs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r>
              <a:rPr lang="fr-FR" sz="1800" b="0" dirty="0">
                <a:solidFill>
                  <a:schemeClr val="tx1"/>
                </a:solidFill>
                <a:latin typeface="Marianne" panose="02000000000000000000" pitchFamily="50" charset="0"/>
                <a:ea typeface="Calibri" panose="020F0502020204030204"/>
                <a:cs typeface="Arial"/>
              </a:rPr>
              <a:t>Points d’eau</a:t>
            </a:r>
          </a:p>
          <a:p>
            <a:pPr>
              <a:spcBef>
                <a:spcPts val="0"/>
              </a:spcBef>
              <a:spcAft>
                <a:spcPts val="500"/>
              </a:spcAft>
              <a:buFontTx/>
              <a:buChar char="-"/>
            </a:pPr>
            <a:endParaRPr lang="fr-FR" sz="18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>
              <a:buFont typeface="Webdings" panose="05030102010509060703" pitchFamily="18" charset="2"/>
              <a:buAutoNum type="arabicPeriod"/>
            </a:pPr>
            <a:endParaRPr lang="fr-FR" sz="20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985520" lvl="2" indent="-175895"/>
            <a:endParaRPr lang="fr-FR" sz="16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>
              <a:buFont typeface="Webdings" panose="05030102010509060703" pitchFamily="18" charset="2"/>
              <a:buAutoNum type="arabicPeriod"/>
            </a:pPr>
            <a:endParaRPr lang="fr-FR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 marL="985520" lvl="2" indent="-175895"/>
            <a:endParaRPr lang="fr-FR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>
              <a:buAutoNum type="arabicPeriod"/>
            </a:pPr>
            <a:endParaRPr lang="fr-FR" sz="2000" b="0" dirty="0">
              <a:solidFill>
                <a:srgbClr val="000000"/>
              </a:solidFill>
              <a:latin typeface="Calibri" panose="020F0502020204030204"/>
              <a:ea typeface="Calibri"/>
              <a:cs typeface="Arial"/>
            </a:endParaRPr>
          </a:p>
          <a:p>
            <a:pPr marL="0" indent="0">
              <a:buNone/>
            </a:pPr>
            <a:endParaRPr lang="en-US" sz="1600" b="0" i="1" dirty="0">
              <a:effectLst/>
              <a:ea typeface="Calibri" panose="020F0502020204030204"/>
              <a:cs typeface="Calibri"/>
            </a:endParaRPr>
          </a:p>
          <a:p>
            <a:pPr lvl="1"/>
            <a:endParaRPr lang="fr-FR" sz="1800" b="0" dirty="0">
              <a:solidFill>
                <a:srgbClr val="000000"/>
              </a:solidFill>
              <a:effectLst/>
              <a:latin typeface="Calibri" panose="020F0502020204030204"/>
              <a:ea typeface="Calibri" panose="020F0502020204030204" pitchFamily="34" charset="0"/>
            </a:endParaRPr>
          </a:p>
          <a:p>
            <a:pPr lvl="1"/>
            <a:endParaRPr lang="fr-FR" sz="1800" b="0" dirty="0">
              <a:latin typeface="Calibri" panose="020F0502020204030204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AutoNum type="arabicPeriod"/>
            </a:pPr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buAutoNum type="arabicPeriod"/>
            </a:pPr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9A435F5-6259-4FEB-9994-7EFF28489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162" y="3980981"/>
            <a:ext cx="2297630" cy="2297630"/>
          </a:xfrm>
          <a:prstGeom prst="rect">
            <a:avLst/>
          </a:prstGeom>
          <a:ln>
            <a:noFill/>
          </a:ln>
        </p:spPr>
      </p:pic>
      <p:pic>
        <p:nvPicPr>
          <p:cNvPr id="6" name="Image 5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31CF7D10-A6AE-4F16-9E34-919D8C65F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334" y="1867799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16" name="Image 15" descr="Une image contenant cercle, Graphiqu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15EE6B9-BCA9-1724-9701-5B9AA94DB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2573356" y="3362166"/>
            <a:ext cx="292644" cy="288000"/>
          </a:xfrm>
          <a:prstGeom prst="rect">
            <a:avLst/>
          </a:prstGeom>
          <a:ln>
            <a:noFill/>
          </a:ln>
        </p:spPr>
      </p:pic>
      <p:pic>
        <p:nvPicPr>
          <p:cNvPr id="17" name="Image 16" descr="Une image contenant Panneau de signalisation, signe&#10;&#10;Le contenu généré par l’IA peut être incorrect.">
            <a:extLst>
              <a:ext uri="{FF2B5EF4-FFF2-40B4-BE49-F238E27FC236}">
                <a16:creationId xmlns:a16="http://schemas.microsoft.com/office/drawing/2014/main" id="{34D82877-5871-F7C0-2B13-00209AD8D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968" y="5455988"/>
            <a:ext cx="423504" cy="368504"/>
          </a:xfrm>
          <a:prstGeom prst="rect">
            <a:avLst/>
          </a:prstGeom>
          <a:ln>
            <a:noFill/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2D92A0D-3544-452B-9130-D745C0855377}"/>
              </a:ext>
            </a:extLst>
          </p:cNvPr>
          <p:cNvSpPr txBox="1"/>
          <p:nvPr/>
        </p:nvSpPr>
        <p:spPr>
          <a:xfrm>
            <a:off x="5115868" y="178922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750" lvl="1" indent="-285750">
              <a:buFontTx/>
              <a:buChar char="-"/>
            </a:pPr>
            <a:r>
              <a:rPr lang="fr-FR" dirty="0"/>
              <a:t>INSEE/Département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Gestionnaire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DFCI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Autre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Equipement</a:t>
            </a:r>
            <a:r>
              <a:rPr lang="fr-FR" sz="1800" dirty="0"/>
              <a:t>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F322D8C-02D3-45C9-9F82-87E332016763}"/>
              </a:ext>
            </a:extLst>
          </p:cNvPr>
          <p:cNvSpPr txBox="1"/>
          <p:nvPr/>
        </p:nvSpPr>
        <p:spPr>
          <a:xfrm>
            <a:off x="312680" y="1789223"/>
            <a:ext cx="29647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750" lvl="1" indent="-285750">
              <a:buFontTx/>
              <a:buChar char="-"/>
            </a:pPr>
            <a:r>
              <a:rPr lang="fr-FR" sz="1800" dirty="0"/>
              <a:t>Transport exceptionnel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Route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Piste DFCI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État de la route</a:t>
            </a:r>
          </a:p>
          <a:p>
            <a:pPr marL="537750" lvl="1" indent="-285750">
              <a:buFontTx/>
              <a:buChar char="-"/>
            </a:pPr>
            <a:r>
              <a:rPr lang="fr-FR" sz="1800" dirty="0"/>
              <a:t>Restriction routière</a:t>
            </a:r>
          </a:p>
        </p:txBody>
      </p:sp>
      <p:pic>
        <p:nvPicPr>
          <p:cNvPr id="18" name="Image 17" descr="Une image contenant Panneau de signalisation, signe&#10;&#10;Le contenu généré par l’IA peut être incorrect.">
            <a:extLst>
              <a:ext uri="{FF2B5EF4-FFF2-40B4-BE49-F238E27FC236}">
                <a16:creationId xmlns:a16="http://schemas.microsoft.com/office/drawing/2014/main" id="{C9E9A033-5586-45C7-81EC-5D560DD63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721" y="5156619"/>
            <a:ext cx="423504" cy="368504"/>
          </a:xfrm>
          <a:prstGeom prst="rect">
            <a:avLst/>
          </a:prstGeom>
          <a:ln>
            <a:noFill/>
          </a:ln>
        </p:spPr>
      </p:pic>
      <p:pic>
        <p:nvPicPr>
          <p:cNvPr id="20" name="Image 19" descr="Une image contenant Panneau de signalisation, signe&#10;&#10;Le contenu généré par l’IA peut être incorrect.">
            <a:extLst>
              <a:ext uri="{FF2B5EF4-FFF2-40B4-BE49-F238E27FC236}">
                <a16:creationId xmlns:a16="http://schemas.microsoft.com/office/drawing/2014/main" id="{F7E4CF41-70FA-4E0F-9DA0-16C38353C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269" y="4761292"/>
            <a:ext cx="423504" cy="368504"/>
          </a:xfrm>
          <a:prstGeom prst="rect">
            <a:avLst/>
          </a:prstGeom>
          <a:ln>
            <a:noFill/>
          </a:ln>
        </p:spPr>
      </p:pic>
      <p:pic>
        <p:nvPicPr>
          <p:cNvPr id="21" name="Image 20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F210C9F5-1FE8-4B1A-8374-2CB637437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650" y="2121186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2" name="Image 21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78718CBB-54D6-45F5-ACCE-DCDED484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274" y="2374573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3" name="Image 22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DE77D0DC-85B2-4988-A407-AE7782C63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883" y="2691156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4" name="Image 23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692E6668-679B-4AC0-BB47-341127F24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897" y="2955842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5" name="Image 24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5D118AE7-7807-4145-B4C5-9F5998837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469" y="1867799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6" name="Image 25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E7D7C514-6524-42DB-B619-36C9CE833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004" y="2133654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7" name="Image 26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78D98CDD-9FE6-4AAC-9C7E-D22D77496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5" y="2371517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8" name="Image 27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F5A99018-EDC9-4446-AB44-4B6ABDAB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248" y="2688100"/>
            <a:ext cx="253387" cy="253387"/>
          </a:xfrm>
          <a:prstGeom prst="rect">
            <a:avLst/>
          </a:prstGeom>
          <a:ln>
            <a:noFill/>
          </a:ln>
        </p:spPr>
      </p:pic>
      <p:pic>
        <p:nvPicPr>
          <p:cNvPr id="29" name="Image 28" descr="Une image contenant Graphique, cercle, Caractère coloré, symbole&#10;&#10;Le contenu généré par l’IA peut être incorrect.">
            <a:extLst>
              <a:ext uri="{FF2B5EF4-FFF2-40B4-BE49-F238E27FC236}">
                <a16:creationId xmlns:a16="http://schemas.microsoft.com/office/drawing/2014/main" id="{F8B9EE77-CDB9-4C98-8585-E9679AA4E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523" y="2942072"/>
            <a:ext cx="253387" cy="2533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609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714A1A8-B7C5-499F-852C-B84D047A4AC2}"/>
              </a:ext>
            </a:extLst>
          </p:cNvPr>
          <p:cNvSpPr txBox="1">
            <a:spLocks/>
          </p:cNvSpPr>
          <p:nvPr/>
        </p:nvSpPr>
        <p:spPr>
          <a:xfrm>
            <a:off x="359784" y="228894"/>
            <a:ext cx="10800001" cy="42559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55453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800" dirty="0"/>
              <a:t>Planning prévisionnel du </a:t>
            </a:r>
            <a:r>
              <a:rPr lang="fr-FR" dirty="0"/>
              <a:t>standard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69FAED-8303-451D-94F5-545F75C236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9784" y="1496291"/>
            <a:ext cx="11662887" cy="4657104"/>
          </a:xfrm>
        </p:spPr>
        <p:txBody>
          <a:bodyPr/>
          <a:lstStyle/>
          <a:p>
            <a:pPr lvl="1" algn="just"/>
            <a:r>
              <a:rPr lang="fr-FR" sz="1600" dirty="0"/>
              <a:t>Modélisation </a:t>
            </a:r>
            <a:r>
              <a:rPr lang="fr-FR" sz="1600" b="1" dirty="0">
                <a:solidFill>
                  <a:srgbClr val="008000"/>
                </a:solidFill>
                <a:sym typeface="Wingdings" panose="05000000000000000000" pitchFamily="2" charset="2"/>
              </a:rPr>
              <a:t> jusqu’à fin octobre 2025</a:t>
            </a:r>
            <a:endParaRPr lang="fr-FR" sz="1600" dirty="0"/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fr-FR" sz="1400" b="1" dirty="0">
                <a:sym typeface="Wingdings" panose="05000000000000000000" pitchFamily="2" charset="2"/>
              </a:rPr>
              <a:t>Linéaires – Tronçons </a:t>
            </a:r>
          </a:p>
          <a:p>
            <a:pPr lvl="3" algn="just"/>
            <a:r>
              <a:rPr lang="fr-FR" sz="1400" b="1" dirty="0">
                <a:sym typeface="Wingdings" panose="05000000000000000000" pitchFamily="2" charset="2"/>
              </a:rPr>
              <a:t>50% du travail de modélisation</a:t>
            </a:r>
          </a:p>
          <a:p>
            <a:pPr lvl="3" algn="just"/>
            <a:r>
              <a:rPr lang="fr-FR" sz="1400" b="1" dirty="0">
                <a:sym typeface="Wingdings" panose="05000000000000000000" pitchFamily="2" charset="2"/>
              </a:rPr>
              <a:t>Finalisation à l’été 2025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fr-FR" sz="1400" b="1" dirty="0">
                <a:sym typeface="Wingdings" panose="05000000000000000000" pitchFamily="2" charset="2"/>
              </a:rPr>
              <a:t>Ponctuels</a:t>
            </a:r>
          </a:p>
          <a:p>
            <a:pPr lvl="3" algn="just"/>
            <a:r>
              <a:rPr lang="fr-FR" sz="1400" b="1" dirty="0">
                <a:sym typeface="Wingdings" panose="05000000000000000000" pitchFamily="2" charset="2"/>
              </a:rPr>
              <a:t>Démarrage en juin</a:t>
            </a:r>
          </a:p>
          <a:p>
            <a:pPr lvl="3" algn="just"/>
            <a:r>
              <a:rPr lang="fr-FR" sz="1400" b="1" dirty="0">
                <a:sym typeface="Wingdings" panose="05000000000000000000" pitchFamily="2" charset="2"/>
              </a:rPr>
              <a:t>Temps forts durant les réunions</a:t>
            </a:r>
          </a:p>
          <a:p>
            <a:pPr lvl="3" algn="just"/>
            <a:endParaRPr lang="fr-FR" sz="1400" b="1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lvl="1" algn="just"/>
            <a:r>
              <a:rPr lang="fr-FR" sz="1600" dirty="0"/>
              <a:t>Ecriture du standard </a:t>
            </a:r>
            <a:r>
              <a:rPr lang="fr-FR" sz="1600" b="1" dirty="0">
                <a:solidFill>
                  <a:srgbClr val="008000"/>
                </a:solidFill>
                <a:sym typeface="Wingdings" panose="05000000000000000000" pitchFamily="2" charset="2"/>
              </a:rPr>
              <a:t> juillet à mi-novembre 2025</a:t>
            </a:r>
          </a:p>
          <a:p>
            <a:pPr lvl="1" algn="just"/>
            <a:endParaRPr lang="fr-FR" sz="1600" dirty="0"/>
          </a:p>
          <a:p>
            <a:pPr lvl="1" algn="just"/>
            <a:r>
              <a:rPr lang="fr-FR" sz="1600" dirty="0"/>
              <a:t>Relecture et validation </a:t>
            </a:r>
            <a:r>
              <a:rPr lang="fr-FR" sz="1600" b="1" dirty="0">
                <a:solidFill>
                  <a:srgbClr val="008000"/>
                </a:solidFill>
                <a:sym typeface="Wingdings" panose="05000000000000000000" pitchFamily="2" charset="2"/>
              </a:rPr>
              <a:t> mi-novembre à mi-décembre 2025</a:t>
            </a:r>
          </a:p>
          <a:p>
            <a:pPr lvl="1" algn="just"/>
            <a:endParaRPr lang="fr-FR" sz="1600" dirty="0"/>
          </a:p>
          <a:p>
            <a:pPr lvl="1" algn="just"/>
            <a:r>
              <a:rPr lang="fr-FR" sz="1600" dirty="0"/>
              <a:t>Appel à commentaires </a:t>
            </a:r>
            <a:r>
              <a:rPr lang="fr-FR" sz="1600" b="1" dirty="0">
                <a:solidFill>
                  <a:srgbClr val="008000"/>
                </a:solidFill>
                <a:sym typeface="Wingdings" panose="05000000000000000000" pitchFamily="2" charset="2"/>
              </a:rPr>
              <a:t> mi-décembre 2025 à fin janvier 2026</a:t>
            </a:r>
          </a:p>
          <a:p>
            <a:pPr lvl="1" algn="just"/>
            <a:endParaRPr lang="fr-FR" sz="1600" dirty="0"/>
          </a:p>
          <a:p>
            <a:pPr lvl="1" algn="just"/>
            <a:r>
              <a:rPr lang="fr-FR" sz="1600" dirty="0"/>
              <a:t>Résolution des commentaires et publication </a:t>
            </a:r>
            <a:r>
              <a:rPr lang="fr-FR" sz="1600" b="1" dirty="0">
                <a:solidFill>
                  <a:srgbClr val="008000"/>
                </a:solidFill>
                <a:sym typeface="Wingdings" panose="05000000000000000000" pitchFamily="2" charset="2"/>
              </a:rPr>
              <a:t> février 2026</a:t>
            </a:r>
            <a:endParaRPr lang="fr-FR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6D5C7C-3FB8-4AE7-B0E9-A9509DA03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537" y="2561253"/>
            <a:ext cx="1735494" cy="17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8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 dirty="0">
                <a:latin typeface="+mn-lt"/>
                <a:cs typeface="Arial"/>
              </a:rPr>
              <a:t>Poursuite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98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4F4E282-E21A-4B6D-8BB3-75E01B4B4470}"/>
              </a:ext>
            </a:extLst>
          </p:cNvPr>
          <p:cNvSpPr>
            <a:spLocks noGrp="1"/>
          </p:cNvSpPr>
          <p:nvPr/>
        </p:nvSpPr>
        <p:spPr>
          <a:xfrm>
            <a:off x="117159" y="1322260"/>
            <a:ext cx="9453226" cy="31253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fr-FR" sz="20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fr-FR" sz="20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 + </a:t>
            </a:r>
            <a:r>
              <a:rPr lang="fr-FR" sz="20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ppt</a:t>
            </a:r>
            <a:r>
              <a:rPr lang="fr-FR" sz="20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la journée</a:t>
            </a:r>
            <a:endParaRPr lang="fr-FR" dirty="0">
              <a:solidFill>
                <a:schemeClr val="tx1"/>
              </a:solidFill>
            </a:endParaRPr>
          </a:p>
          <a:p>
            <a:pPr lvl="1" indent="-342900" algn="just">
              <a:buClr>
                <a:srgbClr val="554538"/>
              </a:buClr>
              <a:buFont typeface="Calibri" panose="05030102010509060703" pitchFamily="18" charset="2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Envoyé à la liste de diffusion par mail</a:t>
            </a:r>
          </a:p>
          <a:p>
            <a:pPr lvl="1" indent="-342900" algn="just">
              <a:buClr>
                <a:srgbClr val="554538"/>
              </a:buClr>
              <a:buFont typeface="Calibri" panose="05030102010509060703" pitchFamily="18" charset="2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Disponible dans l'espace Suivi du </a:t>
            </a:r>
            <a:r>
              <a:rPr lang="fr-FR" b="0" dirty="0">
                <a:solidFill>
                  <a:schemeClr val="accent5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/</a:t>
            </a:r>
            <a:r>
              <a:rPr lang="fr-FR" b="0" dirty="0">
                <a:solidFill>
                  <a:schemeClr val="accent5"/>
                </a:solidFill>
                <a:latin typeface="Calibri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du GT</a:t>
            </a:r>
          </a:p>
          <a:p>
            <a:pPr lvl="1" indent="-342900" algn="just">
              <a:buClr>
                <a:srgbClr val="554538"/>
              </a:buClr>
              <a:buFont typeface="Calibri" panose="05030102010509060703" pitchFamily="18" charset="2"/>
              <a:buChar char="-"/>
              <a:defRPr/>
            </a:pPr>
            <a:endParaRPr lang="fr-FR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r>
              <a:rPr lang="fr-FR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Session 3</a:t>
            </a: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plénière septembre/octobre 2025</a:t>
            </a:r>
            <a:endParaRPr lang="fr-FR" sz="20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Présentiel à l'IGN</a:t>
            </a: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Sondage à venir</a:t>
            </a:r>
            <a:endParaRPr lang="fr-FR" sz="20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lvl="1" indent="0" algn="just">
              <a:buNone/>
              <a:defRPr/>
            </a:pPr>
            <a:endParaRPr lang="fr-FR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lvl="1" indent="0" algn="just">
              <a:buNone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Démarrage du </a:t>
            </a:r>
            <a:r>
              <a:rPr lang="fr-FR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sous-groupe</a:t>
            </a: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Ponctuels Points d’eau</a:t>
            </a: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r>
              <a:rPr lang="fr-FR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distanciel</a:t>
            </a:r>
          </a:p>
          <a:p>
            <a:pPr lvl="1" indent="-342900" algn="just">
              <a:buFont typeface="Calibri" panose="020B0604020202020204" pitchFamily="34" charset="0"/>
              <a:buChar char="-"/>
              <a:defRPr/>
            </a:pPr>
            <a:endParaRPr lang="fr-FR"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lang="fr-FR"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85520"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lang="fr-FR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85520"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lang="fr-FR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9" name="Image 8" descr="Une image contenant Graphique, capture d’écran, graphis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4442B6ED-510E-97E4-FF81-A82DE2D82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460" y="4652441"/>
            <a:ext cx="1079091" cy="1066800"/>
          </a:xfrm>
          <a:prstGeom prst="rect">
            <a:avLst/>
          </a:prstGeom>
          <a:ln>
            <a:noFill/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D5BDF63-39F7-F07E-D0E7-E2EBEE60058B}"/>
              </a:ext>
            </a:extLst>
          </p:cNvPr>
          <p:cNvSpPr txBox="1"/>
          <p:nvPr/>
        </p:nvSpPr>
        <p:spPr>
          <a:xfrm>
            <a:off x="7602876" y="4189464"/>
            <a:ext cx="4428260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ctr" defTabSz="1219170"/>
            <a:r>
              <a:rPr lang="fr-FR" sz="2000" b="1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Les échanges se poursuivent par mail!</a:t>
            </a:r>
            <a:endParaRPr lang="fr-FR" sz="2000" b="1" dirty="0">
              <a:solidFill>
                <a:srgbClr val="554538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DC1645-833A-4460-AA81-ED4FF8381C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118"/>
          <a:stretch/>
        </p:blipFill>
        <p:spPr>
          <a:xfrm>
            <a:off x="7417490" y="1277430"/>
            <a:ext cx="430579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7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66138" y="1567834"/>
            <a:ext cx="9144000" cy="1126068"/>
          </a:xfrm>
        </p:spPr>
        <p:txBody>
          <a:bodyPr lIns="91440" tIns="45720" rIns="91440" bIns="45720" anchor="ctr"/>
          <a:lstStyle/>
          <a:p>
            <a:r>
              <a:rPr lang="fr-FR" dirty="0">
                <a:latin typeface="Calibri"/>
                <a:ea typeface="Calibri"/>
                <a:cs typeface="Calibri"/>
              </a:rPr>
              <a:t>Merci de votre participation !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defPPr>
              <a:defRPr lang="fr-FR"/>
            </a:defPPr>
            <a:lvl1pPr marL="0" algn="r" defTabSz="914400" rtl="0" eaLnBrk="1" latinLnBrk="0" hangingPunct="1">
              <a:defRPr sz="1100" kern="1200">
                <a:solidFill>
                  <a:srgbClr val="7D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88F01B-8BA8-4E52-9ECA-78FE89B5F248}" type="slidenum">
              <a:rPr lang="fr-FR" smtClean="0"/>
              <a:pPr/>
              <a:t>7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DA300A6-1214-4CE5-B62F-7960BD8F275F}"/>
              </a:ext>
            </a:extLst>
          </p:cNvPr>
          <p:cNvGrpSpPr/>
          <p:nvPr/>
        </p:nvGrpSpPr>
        <p:grpSpPr>
          <a:xfrm>
            <a:off x="4413437" y="2992946"/>
            <a:ext cx="3365125" cy="3005044"/>
            <a:chOff x="7896924" y="2442440"/>
            <a:chExt cx="3365125" cy="3005044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9E818032-8A8C-4471-9AF6-2C8BAF2E2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4320359-7032-410E-8C3E-DC03D9B43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7357206-B173-4249-AA16-63D9466E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451B231-91F8-440B-A448-022BC1D6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2DC852A-1338-4787-BDF3-14F0AC698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96888268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f3108455c181cfe97f8bcaca529baa4b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b0d91f42a17a717c0951ffb4a6166412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379DE5-2520-4BE3-96F5-3F60B3DA37E3}">
  <ds:schemaRefs>
    <ds:schemaRef ds:uri="4d568f87-b25f-475a-a26b-5a1bcde8677b"/>
    <ds:schemaRef ds:uri="a486f84b-88b9-4459-bbe1-3ce207c742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DD4696-884E-4199-AB2F-0FA1DFAA521D}">
  <ds:schemaRefs>
    <ds:schemaRef ds:uri="a486f84b-88b9-4459-bbe1-3ce207c7425f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4d568f87-b25f-475a-a26b-5a1bcde8677b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1399</TotalTime>
  <Words>226</Words>
  <Application>Microsoft Office PowerPoint</Application>
  <PresentationFormat>Grand écran</PresentationFormat>
  <Paragraphs>104</Paragraphs>
  <Slides>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7</vt:i4>
      </vt:variant>
    </vt:vector>
  </HeadingPairs>
  <TitlesOfParts>
    <vt:vector size="23" baseType="lpstr">
      <vt:lpstr>Arial</vt:lpstr>
      <vt:lpstr>Calibri</vt:lpstr>
      <vt:lpstr>Courier New</vt:lpstr>
      <vt:lpstr>Marianne</vt:lpstr>
      <vt:lpstr>Times New Roman</vt:lpstr>
      <vt:lpstr>Webdings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Présentation PowerPoint</vt:lpstr>
      <vt:lpstr>Rappel – Programme de la journée</vt:lpstr>
      <vt:lpstr>Présentation PowerPoint</vt:lpstr>
      <vt:lpstr>Poursuite</vt:lpstr>
      <vt:lpstr>Merci de votre participation !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387</cp:revision>
  <cp:lastPrinted>2023-06-26T09:08:24Z</cp:lastPrinted>
  <dcterms:created xsi:type="dcterms:W3CDTF">2017-08-17T05:12:22Z</dcterms:created>
  <dcterms:modified xsi:type="dcterms:W3CDTF">2025-06-03T15:39:33Z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